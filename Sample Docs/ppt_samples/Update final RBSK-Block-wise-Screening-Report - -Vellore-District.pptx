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A679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#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A679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#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A679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#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A679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#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A679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#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699" y="718050"/>
            <a:ext cx="5908675" cy="897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299" y="2387803"/>
            <a:ext cx="16535400" cy="5408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450692" y="9829444"/>
            <a:ext cx="337819" cy="18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A679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#</a:t>
            </a:fld>
            <a:r>
              <a:rPr dirty="0"/>
              <a:t> 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9075" cy="10287000"/>
          </a:xfrm>
          <a:custGeom>
            <a:avLst/>
            <a:gdLst/>
            <a:ahLst/>
            <a:cxnLst/>
            <a:rect l="l" t="t" r="r" b="b"/>
            <a:pathLst>
              <a:path w="219075" h="10287000">
                <a:moveTo>
                  <a:pt x="21907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219074" y="0"/>
                </a:lnTo>
                <a:lnTo>
                  <a:pt x="219074" y="10286999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3424" y="1238249"/>
            <a:ext cx="16821150" cy="19050"/>
          </a:xfrm>
          <a:custGeom>
            <a:avLst/>
            <a:gdLst/>
            <a:ahLst/>
            <a:cxnLst/>
            <a:rect l="l" t="t" r="r" b="b"/>
            <a:pathLst>
              <a:path w="16821150" h="19050">
                <a:moveTo>
                  <a:pt x="16821148" y="19049"/>
                </a:moveTo>
                <a:lnTo>
                  <a:pt x="0" y="19049"/>
                </a:lnTo>
                <a:lnTo>
                  <a:pt x="0" y="0"/>
                </a:lnTo>
                <a:lnTo>
                  <a:pt x="16821148" y="0"/>
                </a:lnTo>
                <a:lnTo>
                  <a:pt x="16821148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3424" y="9029699"/>
            <a:ext cx="16821150" cy="19050"/>
          </a:xfrm>
          <a:custGeom>
            <a:avLst/>
            <a:gdLst/>
            <a:ahLst/>
            <a:cxnLst/>
            <a:rect l="l" t="t" r="r" b="b"/>
            <a:pathLst>
              <a:path w="16821150" h="19050">
                <a:moveTo>
                  <a:pt x="16821148" y="19049"/>
                </a:moveTo>
                <a:lnTo>
                  <a:pt x="0" y="19049"/>
                </a:lnTo>
                <a:lnTo>
                  <a:pt x="0" y="0"/>
                </a:lnTo>
                <a:lnTo>
                  <a:pt x="16821148" y="0"/>
                </a:lnTo>
                <a:lnTo>
                  <a:pt x="16821148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67370" y="1766554"/>
            <a:ext cx="13457555" cy="4394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602230" algn="l"/>
                <a:tab pos="5419090" algn="l"/>
                <a:tab pos="6097270" algn="l"/>
                <a:tab pos="9403080" algn="l"/>
                <a:tab pos="10667365" algn="l"/>
              </a:tabLst>
            </a:pPr>
            <a:r>
              <a:rPr dirty="0" sz="2700" spc="145">
                <a:solidFill>
                  <a:srgbClr val="F5A623"/>
                </a:solidFill>
              </a:rPr>
              <a:t>V</a:t>
            </a:r>
            <a:r>
              <a:rPr dirty="0" sz="2700" spc="60">
                <a:solidFill>
                  <a:srgbClr val="F5A623"/>
                </a:solidFill>
              </a:rPr>
              <a:t> </a:t>
            </a:r>
            <a:r>
              <a:rPr dirty="0" sz="2700" spc="-270">
                <a:solidFill>
                  <a:srgbClr val="F5A623"/>
                </a:solidFill>
              </a:rPr>
              <a:t>E</a:t>
            </a:r>
            <a:r>
              <a:rPr dirty="0" sz="2700" spc="25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L</a:t>
            </a:r>
            <a:r>
              <a:rPr dirty="0" sz="2700" spc="21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L</a:t>
            </a:r>
            <a:r>
              <a:rPr dirty="0" sz="2700" spc="16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O</a:t>
            </a:r>
            <a:r>
              <a:rPr dirty="0" sz="2700" spc="19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R</a:t>
            </a:r>
            <a:r>
              <a:rPr dirty="0" sz="2700" spc="55">
                <a:solidFill>
                  <a:srgbClr val="F5A623"/>
                </a:solidFill>
              </a:rPr>
              <a:t> </a:t>
            </a:r>
            <a:r>
              <a:rPr dirty="0" sz="2700" spc="-320">
                <a:solidFill>
                  <a:srgbClr val="F5A623"/>
                </a:solidFill>
              </a:rPr>
              <a:t>E</a:t>
            </a:r>
            <a:r>
              <a:rPr dirty="0" sz="2700">
                <a:solidFill>
                  <a:srgbClr val="F5A623"/>
                </a:solidFill>
              </a:rPr>
              <a:t>	D</a:t>
            </a:r>
            <a:r>
              <a:rPr dirty="0" sz="2700" spc="95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I</a:t>
            </a:r>
            <a:r>
              <a:rPr dirty="0" sz="2700" spc="114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S</a:t>
            </a:r>
            <a:r>
              <a:rPr dirty="0" sz="2700" spc="85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T</a:t>
            </a:r>
            <a:r>
              <a:rPr dirty="0" sz="2700" spc="5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R</a:t>
            </a:r>
            <a:r>
              <a:rPr dirty="0" sz="2700" spc="-45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I</a:t>
            </a:r>
            <a:r>
              <a:rPr dirty="0" sz="2700" spc="11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C</a:t>
            </a:r>
            <a:r>
              <a:rPr dirty="0" sz="2700" spc="60">
                <a:solidFill>
                  <a:srgbClr val="F5A623"/>
                </a:solidFill>
              </a:rPr>
              <a:t> </a:t>
            </a:r>
            <a:r>
              <a:rPr dirty="0" sz="2700" spc="-50">
                <a:solidFill>
                  <a:srgbClr val="F5A623"/>
                </a:solidFill>
              </a:rPr>
              <a:t>T</a:t>
            </a:r>
            <a:r>
              <a:rPr dirty="0" sz="2700">
                <a:solidFill>
                  <a:srgbClr val="F5A623"/>
                </a:solidFill>
              </a:rPr>
              <a:t>	</a:t>
            </a:r>
            <a:r>
              <a:rPr dirty="0" sz="2500" spc="455">
                <a:solidFill>
                  <a:srgbClr val="F5A623"/>
                </a:solidFill>
              </a:rPr>
              <a:t>—</a:t>
            </a:r>
            <a:r>
              <a:rPr dirty="0" sz="2500">
                <a:solidFill>
                  <a:srgbClr val="F5A623"/>
                </a:solidFill>
              </a:rPr>
              <a:t>	</a:t>
            </a:r>
            <a:r>
              <a:rPr dirty="0" sz="2700">
                <a:solidFill>
                  <a:srgbClr val="F5A623"/>
                </a:solidFill>
              </a:rPr>
              <a:t>R</a:t>
            </a:r>
            <a:r>
              <a:rPr dirty="0" sz="2700" spc="-15">
                <a:solidFill>
                  <a:srgbClr val="F5A623"/>
                </a:solidFill>
              </a:rPr>
              <a:t> </a:t>
            </a:r>
            <a:r>
              <a:rPr dirty="0" sz="2700" spc="220">
                <a:solidFill>
                  <a:srgbClr val="F5A623"/>
                </a:solidFill>
              </a:rPr>
              <a:t>A</a:t>
            </a:r>
            <a:r>
              <a:rPr dirty="0" sz="2700" spc="-1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S</a:t>
            </a:r>
            <a:r>
              <a:rPr dirty="0" sz="2700" spc="125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H</a:t>
            </a:r>
            <a:r>
              <a:rPr dirty="0" sz="2700" spc="20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T</a:t>
            </a:r>
            <a:r>
              <a:rPr dirty="0" sz="2700" spc="9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R</a:t>
            </a:r>
            <a:r>
              <a:rPr dirty="0" sz="2700" spc="-1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I</a:t>
            </a:r>
            <a:r>
              <a:rPr dirty="0" sz="2700" spc="155">
                <a:solidFill>
                  <a:srgbClr val="F5A623"/>
                </a:solidFill>
              </a:rPr>
              <a:t> </a:t>
            </a:r>
            <a:r>
              <a:rPr dirty="0" sz="2700" spc="70">
                <a:solidFill>
                  <a:srgbClr val="F5A623"/>
                </a:solidFill>
              </a:rPr>
              <a:t>Y</a:t>
            </a:r>
            <a:r>
              <a:rPr dirty="0" sz="2700" spc="-140">
                <a:solidFill>
                  <a:srgbClr val="F5A623"/>
                </a:solidFill>
              </a:rPr>
              <a:t> </a:t>
            </a:r>
            <a:r>
              <a:rPr dirty="0" sz="2700" spc="170">
                <a:solidFill>
                  <a:srgbClr val="F5A623"/>
                </a:solidFill>
              </a:rPr>
              <a:t>A</a:t>
            </a:r>
            <a:r>
              <a:rPr dirty="0" sz="2700">
                <a:solidFill>
                  <a:srgbClr val="F5A623"/>
                </a:solidFill>
              </a:rPr>
              <a:t>	B</a:t>
            </a:r>
            <a:r>
              <a:rPr dirty="0" sz="2700" spc="170">
                <a:solidFill>
                  <a:srgbClr val="F5A623"/>
                </a:solidFill>
              </a:rPr>
              <a:t> </a:t>
            </a:r>
            <a:r>
              <a:rPr dirty="0" sz="2700" spc="220">
                <a:solidFill>
                  <a:srgbClr val="F5A623"/>
                </a:solidFill>
              </a:rPr>
              <a:t>A</a:t>
            </a:r>
            <a:r>
              <a:rPr dirty="0" sz="2700" spc="10">
                <a:solidFill>
                  <a:srgbClr val="F5A623"/>
                </a:solidFill>
              </a:rPr>
              <a:t> </a:t>
            </a:r>
            <a:r>
              <a:rPr dirty="0" sz="2700" spc="-50">
                <a:solidFill>
                  <a:srgbClr val="F5A623"/>
                </a:solidFill>
              </a:rPr>
              <a:t>L</a:t>
            </a:r>
            <a:r>
              <a:rPr dirty="0" sz="2700">
                <a:solidFill>
                  <a:srgbClr val="F5A623"/>
                </a:solidFill>
              </a:rPr>
              <a:t>	S</a:t>
            </a:r>
            <a:r>
              <a:rPr dirty="0" sz="2700" spc="110">
                <a:solidFill>
                  <a:srgbClr val="F5A623"/>
                </a:solidFill>
              </a:rPr>
              <a:t> W</a:t>
            </a:r>
            <a:r>
              <a:rPr dirty="0" sz="2700" spc="-145">
                <a:solidFill>
                  <a:srgbClr val="F5A623"/>
                </a:solidFill>
              </a:rPr>
              <a:t> </a:t>
            </a:r>
            <a:r>
              <a:rPr dirty="0" sz="2700" spc="220">
                <a:solidFill>
                  <a:srgbClr val="F5A623"/>
                </a:solidFill>
              </a:rPr>
              <a:t>A</a:t>
            </a:r>
            <a:r>
              <a:rPr dirty="0" sz="2700" spc="-20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S</a:t>
            </a:r>
            <a:r>
              <a:rPr dirty="0" sz="2700" spc="114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T</a:t>
            </a:r>
            <a:r>
              <a:rPr dirty="0" sz="2700" spc="85">
                <a:solidFill>
                  <a:srgbClr val="F5A623"/>
                </a:solidFill>
              </a:rPr>
              <a:t> </a:t>
            </a:r>
            <a:r>
              <a:rPr dirty="0" sz="2700">
                <a:solidFill>
                  <a:srgbClr val="F5A623"/>
                </a:solidFill>
              </a:rPr>
              <a:t>H</a:t>
            </a:r>
            <a:r>
              <a:rPr dirty="0" sz="2700" spc="190">
                <a:solidFill>
                  <a:srgbClr val="F5A623"/>
                </a:solidFill>
              </a:rPr>
              <a:t> </a:t>
            </a:r>
            <a:r>
              <a:rPr dirty="0" sz="2700" spc="70">
                <a:solidFill>
                  <a:srgbClr val="F5A623"/>
                </a:solidFill>
              </a:rPr>
              <a:t>Y</a:t>
            </a:r>
            <a:r>
              <a:rPr dirty="0" sz="2700" spc="-145">
                <a:solidFill>
                  <a:srgbClr val="F5A623"/>
                </a:solidFill>
              </a:rPr>
              <a:t> </a:t>
            </a:r>
            <a:r>
              <a:rPr dirty="0" sz="2700" spc="170">
                <a:solidFill>
                  <a:srgbClr val="F5A623"/>
                </a:solidFill>
              </a:rPr>
              <a:t>A</a:t>
            </a:r>
            <a:endParaRPr sz="2700"/>
          </a:p>
        </p:txBody>
      </p:sp>
      <p:sp>
        <p:nvSpPr>
          <p:cNvPr id="12" name="object 12"/>
          <p:cNvSpPr txBox="1"/>
          <p:nvPr/>
        </p:nvSpPr>
        <p:spPr>
          <a:xfrm>
            <a:off x="17476092" y="9813533"/>
            <a:ext cx="230504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155">
                <a:solidFill>
                  <a:srgbClr val="4A6791"/>
                </a:solidFill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370" y="2252329"/>
            <a:ext cx="3211830" cy="439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700" spc="55" b="1">
                <a:solidFill>
                  <a:srgbClr val="F5A623"/>
                </a:solidFill>
                <a:latin typeface="Tahoma"/>
                <a:cs typeface="Tahoma"/>
              </a:rPr>
              <a:t>K</a:t>
            </a:r>
            <a:r>
              <a:rPr dirty="0" sz="2700" spc="7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spc="2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270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270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spc="70" b="1">
                <a:solidFill>
                  <a:srgbClr val="F5A623"/>
                </a:solidFill>
                <a:latin typeface="Tahoma"/>
                <a:cs typeface="Tahoma"/>
              </a:rPr>
              <a:t>Y</a:t>
            </a:r>
            <a:r>
              <a:rPr dirty="0" sz="2700" spc="-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spc="2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270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spc="55" b="1">
                <a:solidFill>
                  <a:srgbClr val="F5A623"/>
                </a:solidFill>
                <a:latin typeface="Tahoma"/>
                <a:cs typeface="Tahoma"/>
              </a:rPr>
              <a:t>K</a:t>
            </a:r>
            <a:r>
              <a:rPr dirty="0" sz="2700" spc="7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2700" spc="5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spc="2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270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700" spc="4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7370" y="2611314"/>
            <a:ext cx="11923395" cy="51923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3994"/>
              </a:lnSpc>
              <a:spcBef>
                <a:spcPts val="110"/>
              </a:spcBef>
            </a:pPr>
            <a:r>
              <a:rPr dirty="0" sz="12700" spc="-221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2700" spc="-1430" b="1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dirty="0" sz="12700" spc="-160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2700" spc="-685" b="1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12700">
              <a:latin typeface="Tahoma"/>
              <a:cs typeface="Tahoma"/>
            </a:endParaRPr>
          </a:p>
          <a:p>
            <a:pPr marL="12700">
              <a:lnSpc>
                <a:spcPts val="12710"/>
              </a:lnSpc>
            </a:pPr>
            <a:r>
              <a:rPr dirty="0" sz="12700" spc="-1245" b="1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dirty="0" sz="12700" spc="-550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12700" spc="-126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12700" spc="-137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12700" spc="-1670" b="1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dirty="0" sz="12700" spc="-1465" b="1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2700" spc="-1825" b="1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dirty="0" sz="12700" spc="-509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2700" spc="-105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2700" spc="-36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2700">
              <a:latin typeface="Tahoma"/>
              <a:cs typeface="Tahoma"/>
            </a:endParaRPr>
          </a:p>
          <a:p>
            <a:pPr marL="12700">
              <a:lnSpc>
                <a:spcPts val="13960"/>
              </a:lnSpc>
            </a:pPr>
            <a:r>
              <a:rPr dirty="0" sz="12700" spc="-137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2700" spc="-133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12700" spc="-156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2700" spc="-1200" b="1">
                <a:solidFill>
                  <a:srgbClr val="FFFFFF"/>
                </a:solidFill>
                <a:latin typeface="Tahoma"/>
                <a:cs typeface="Tahoma"/>
              </a:rPr>
              <a:t>ee</a:t>
            </a:r>
            <a:r>
              <a:rPr dirty="0" sz="12700" spc="-96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2700" spc="-605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2700" spc="-96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2700" spc="-459" b="1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dirty="0" sz="12700" spc="-17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700" spc="-1764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2700" spc="-97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2700" spc="-98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12700" spc="-994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12700" spc="-111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2700" spc="-23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12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370" y="9027752"/>
            <a:ext cx="1423035" cy="7219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650" spc="-10" b="1">
                <a:solidFill>
                  <a:srgbClr val="7D9ABF"/>
                </a:solidFill>
                <a:latin typeface="Tahoma"/>
                <a:cs typeface="Tahoma"/>
              </a:rPr>
              <a:t>PERIOD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350" spc="-345" b="1">
                <a:solidFill>
                  <a:srgbClr val="FFFFFF"/>
                </a:solidFill>
                <a:latin typeface="Tahoma"/>
                <a:cs typeface="Tahoma"/>
              </a:rPr>
              <a:t>2021</a:t>
            </a:r>
            <a:r>
              <a:rPr dirty="0" sz="2350" spc="-40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50" spc="-24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350" spc="-290" b="1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6967" y="9027752"/>
            <a:ext cx="3060065" cy="7219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650" spc="-10" b="1">
                <a:solidFill>
                  <a:srgbClr val="7D9ABF"/>
                </a:solidFill>
                <a:latin typeface="Tahoma"/>
                <a:cs typeface="Tahoma"/>
              </a:rPr>
              <a:t>COVERAGE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350" spc="-240" b="1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dirty="0" sz="2350" spc="-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20" b="1">
                <a:solidFill>
                  <a:srgbClr val="FFFFFF"/>
                </a:solidFill>
                <a:latin typeface="Tahoma"/>
                <a:cs typeface="Tahoma"/>
              </a:rPr>
              <a:t>Blocks</a:t>
            </a:r>
            <a:r>
              <a:rPr dirty="0" sz="235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325" b="1">
                <a:solidFill>
                  <a:srgbClr val="FFFFFF"/>
                </a:solidFill>
                <a:latin typeface="Tahoma"/>
                <a:cs typeface="Tahoma"/>
              </a:rPr>
              <a:t>·</a:t>
            </a:r>
            <a:r>
              <a:rPr dirty="0" sz="235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245" b="1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dirty="0" sz="2350" spc="-1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90" b="1">
                <a:solidFill>
                  <a:srgbClr val="FFFFFF"/>
                </a:solidFill>
                <a:latin typeface="Tahoma"/>
                <a:cs typeface="Tahoma"/>
              </a:rPr>
              <a:t>Conditions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87542" y="9027752"/>
            <a:ext cx="3931285" cy="7219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650" spc="-10" b="1">
                <a:solidFill>
                  <a:srgbClr val="7D9ABF"/>
                </a:solidFill>
                <a:latin typeface="Tahoma"/>
                <a:cs typeface="Tahoma"/>
              </a:rPr>
              <a:t>SOURCE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350" spc="-160" b="1">
                <a:solidFill>
                  <a:srgbClr val="FFFFFF"/>
                </a:solidFill>
                <a:latin typeface="Tahoma"/>
                <a:cs typeface="Tahoma"/>
              </a:rPr>
              <a:t>Block-</a:t>
            </a:r>
            <a:r>
              <a:rPr dirty="0" sz="2350" spc="-145" b="1">
                <a:solidFill>
                  <a:srgbClr val="FFFFFF"/>
                </a:solidFill>
                <a:latin typeface="Tahoma"/>
                <a:cs typeface="Tahoma"/>
              </a:rPr>
              <a:t>wise</a:t>
            </a:r>
            <a:r>
              <a:rPr dirty="0" sz="235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220" b="1">
                <a:solidFill>
                  <a:srgbClr val="FFFFFF"/>
                </a:solidFill>
                <a:latin typeface="Tahoma"/>
                <a:cs typeface="Tahoma"/>
              </a:rPr>
              <a:t>RBSK</a:t>
            </a:r>
            <a:r>
              <a:rPr dirty="0" sz="235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80" b="1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2350" spc="-2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250" b="1">
                <a:solidFill>
                  <a:srgbClr val="FFFFFF"/>
                </a:solidFill>
                <a:latin typeface="Tahoma"/>
                <a:cs typeface="Tahoma"/>
              </a:rPr>
              <a:t>AWC</a:t>
            </a:r>
            <a:r>
              <a:rPr dirty="0" sz="235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70" b="1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endParaRPr sz="2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71699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584972"/>
            <a:ext cx="9871710" cy="143764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2223135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P</a:t>
            </a:r>
            <a:r>
              <a:rPr dirty="0" sz="1650" spc="1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10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G</a:t>
            </a:r>
            <a:r>
              <a:rPr dirty="0" sz="1650" spc="14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1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1650" spc="2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5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r>
              <a:rPr dirty="0" sz="1650" spc="1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5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r>
              <a:rPr dirty="0" sz="1650" spc="1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O</a:t>
            </a:r>
            <a:r>
              <a:rPr dirty="0" sz="1650" spc="4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V</a:t>
            </a:r>
            <a:r>
              <a:rPr dirty="0" sz="1650" spc="-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9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-2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V</a:t>
            </a:r>
            <a:r>
              <a:rPr dirty="0" sz="1650" spc="-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9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W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6350" spc="-69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6350" spc="-67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6350" spc="-78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350" spc="-605" b="1">
                <a:solidFill>
                  <a:srgbClr val="FFFFFF"/>
                </a:solidFill>
                <a:latin typeface="Tahoma"/>
                <a:cs typeface="Tahoma"/>
              </a:rPr>
              <a:t>ee</a:t>
            </a:r>
            <a:r>
              <a:rPr dirty="0" sz="6350" spc="-49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6350" spc="-3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6350" spc="-49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6350" spc="-235" b="1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dirty="0" sz="6350" spc="-8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350" spc="-78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6350" spc="-54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6350" spc="-6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350" spc="-48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6350" spc="-44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6350" spc="-10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6350" spc="-9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350" spc="-325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6350" spc="-9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350" spc="-425" b="1">
                <a:solidFill>
                  <a:srgbClr val="FFFFFF"/>
                </a:solidFill>
                <a:latin typeface="Tahoma"/>
                <a:cs typeface="Tahoma"/>
              </a:rPr>
              <a:t>District</a:t>
            </a:r>
            <a:endParaRPr sz="6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699" y="2816306"/>
            <a:ext cx="7316470" cy="3054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35"/>
              </a:spcBef>
            </a:pPr>
            <a:r>
              <a:rPr dirty="0" sz="3750" spc="-114">
                <a:solidFill>
                  <a:srgbClr val="FFFFFF"/>
                </a:solidFill>
                <a:latin typeface="Tahoma"/>
                <a:cs typeface="Tahoma"/>
              </a:rPr>
              <a:t>Block-</a:t>
            </a:r>
            <a:r>
              <a:rPr dirty="0" sz="3750" spc="-130">
                <a:solidFill>
                  <a:srgbClr val="FFFFFF"/>
                </a:solidFill>
                <a:latin typeface="Tahoma"/>
                <a:cs typeface="Tahoma"/>
              </a:rPr>
              <a:t>wise</a:t>
            </a:r>
            <a:r>
              <a:rPr dirty="0" sz="3750" spc="-2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70">
                <a:solidFill>
                  <a:srgbClr val="FFFFFF"/>
                </a:solidFill>
                <a:latin typeface="Tahoma"/>
                <a:cs typeface="Tahoma"/>
              </a:rPr>
              <a:t>screening</a:t>
            </a:r>
            <a:r>
              <a:rPr dirty="0" sz="375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12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37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3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3750" spc="-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37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3750" spc="-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3750" spc="190">
                <a:solidFill>
                  <a:srgbClr val="FFFFFF"/>
                </a:solidFill>
                <a:latin typeface="Tahoma"/>
                <a:cs typeface="Tahoma"/>
              </a:rPr>
              <a:t>ll</a:t>
            </a:r>
            <a:r>
              <a:rPr dirty="0" sz="3750" spc="-6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3750" spc="-21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3750" spc="-9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37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114">
                <a:solidFill>
                  <a:srgbClr val="FFFFFF"/>
                </a:solidFill>
                <a:latin typeface="Tahoma"/>
                <a:cs typeface="Tahoma"/>
              </a:rPr>
              <a:t>District,</a:t>
            </a:r>
            <a:r>
              <a:rPr dirty="0" sz="37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95">
                <a:solidFill>
                  <a:srgbClr val="FFFFFF"/>
                </a:solidFill>
                <a:latin typeface="Tahoma"/>
                <a:cs typeface="Tahoma"/>
              </a:rPr>
              <a:t>covering</a:t>
            </a:r>
            <a:r>
              <a:rPr dirty="0" sz="37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13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dirty="0" sz="3750" spc="-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85">
                <a:solidFill>
                  <a:srgbClr val="FFFFFF"/>
                </a:solidFill>
                <a:latin typeface="Tahoma"/>
                <a:cs typeface="Tahoma"/>
              </a:rPr>
              <a:t>blocks</a:t>
            </a:r>
            <a:r>
              <a:rPr dirty="0" sz="3750" spc="-2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10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37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50">
                <a:solidFill>
                  <a:srgbClr val="FFFFFF"/>
                </a:solidFill>
                <a:latin typeface="Tahoma"/>
                <a:cs typeface="Tahoma"/>
              </a:rPr>
              <a:t>7 </a:t>
            </a:r>
            <a:r>
              <a:rPr dirty="0" sz="3750" spc="-55">
                <a:solidFill>
                  <a:srgbClr val="FFFFFF"/>
                </a:solidFill>
                <a:latin typeface="Tahoma"/>
                <a:cs typeface="Tahoma"/>
              </a:rPr>
              <a:t>conditions</a:t>
            </a:r>
            <a:r>
              <a:rPr dirty="0" sz="3750" spc="-2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75">
                <a:solidFill>
                  <a:srgbClr val="FFFFFF"/>
                </a:solidFill>
                <a:latin typeface="Tahoma"/>
                <a:cs typeface="Tahoma"/>
              </a:rPr>
              <a:t>across</a:t>
            </a:r>
            <a:r>
              <a:rPr dirty="0" sz="3750" spc="-2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280">
                <a:solidFill>
                  <a:srgbClr val="FFFFFF"/>
                </a:solidFill>
                <a:latin typeface="Tahoma"/>
                <a:cs typeface="Tahoma"/>
              </a:rPr>
              <a:t>2021</a:t>
            </a:r>
            <a:r>
              <a:rPr dirty="0" sz="3750" spc="-4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-9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3750" spc="-180">
                <a:solidFill>
                  <a:srgbClr val="FFFFFF"/>
                </a:solidFill>
                <a:latin typeface="Tahoma"/>
                <a:cs typeface="Tahoma"/>
              </a:rPr>
              <a:t>2026,</a:t>
            </a:r>
            <a:r>
              <a:rPr dirty="0" sz="37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20">
                <a:solidFill>
                  <a:srgbClr val="FFFFFF"/>
                </a:solidFill>
                <a:latin typeface="Tahoma"/>
                <a:cs typeface="Tahoma"/>
              </a:rPr>
              <a:t>with </a:t>
            </a:r>
            <a:r>
              <a:rPr dirty="0" sz="3750" spc="-225">
                <a:solidFill>
                  <a:srgbClr val="FFFFFF"/>
                </a:solidFill>
                <a:latin typeface="Tahoma"/>
                <a:cs typeface="Tahoma"/>
              </a:rPr>
              <a:t>AWC</a:t>
            </a:r>
            <a:r>
              <a:rPr dirty="0" sz="3750" spc="-3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70">
                <a:solidFill>
                  <a:srgbClr val="FFFFFF"/>
                </a:solidFill>
                <a:latin typeface="Tahoma"/>
                <a:cs typeface="Tahoma"/>
              </a:rPr>
              <a:t>screening</a:t>
            </a:r>
            <a:r>
              <a:rPr dirty="0" sz="37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3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3750" spc="-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60">
                <a:solidFill>
                  <a:srgbClr val="FFFFFF"/>
                </a:solidFill>
                <a:latin typeface="Tahoma"/>
                <a:cs typeface="Tahoma"/>
              </a:rPr>
              <a:t>blindness</a:t>
            </a:r>
            <a:r>
              <a:rPr dirty="0" sz="3750" spc="-2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25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dirty="0" sz="3750" spc="-70">
                <a:solidFill>
                  <a:srgbClr val="FFFFFF"/>
                </a:solidFill>
                <a:latin typeface="Tahoma"/>
                <a:cs typeface="Tahoma"/>
              </a:rPr>
              <a:t>hearing</a:t>
            </a:r>
            <a:r>
              <a:rPr dirty="0" sz="37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10">
                <a:solidFill>
                  <a:srgbClr val="FFFFFF"/>
                </a:solidFill>
                <a:latin typeface="Tahoma"/>
                <a:cs typeface="Tahoma"/>
              </a:rPr>
              <a:t>impairment.</a:t>
            </a:r>
            <a:endParaRPr sz="37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699" y="6144640"/>
            <a:ext cx="2623820" cy="1463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8995"/>
              </a:lnSpc>
              <a:spcBef>
                <a:spcPts val="90"/>
              </a:spcBef>
            </a:pPr>
            <a:r>
              <a:rPr dirty="0" sz="7550" spc="-535" b="1">
                <a:solidFill>
                  <a:srgbClr val="F5A623"/>
                </a:solidFill>
                <a:latin typeface="Tahoma"/>
                <a:cs typeface="Tahoma"/>
              </a:rPr>
              <a:t>8</a:t>
            </a:r>
            <a:endParaRPr sz="7550">
              <a:latin typeface="Tahoma"/>
              <a:cs typeface="Tahoma"/>
            </a:endParaRPr>
          </a:p>
          <a:p>
            <a:pPr marL="12700">
              <a:lnSpc>
                <a:spcPts val="2330"/>
              </a:lnSpc>
            </a:pPr>
            <a:r>
              <a:rPr dirty="0" sz="2000" spc="-70" b="1">
                <a:solidFill>
                  <a:srgbClr val="9DB4D4"/>
                </a:solidFill>
                <a:latin typeface="Tahoma"/>
                <a:cs typeface="Tahoma"/>
              </a:rPr>
              <a:t>Administrative</a:t>
            </a:r>
            <a:r>
              <a:rPr dirty="0" sz="2000" spc="-10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9DB4D4"/>
                </a:solidFill>
                <a:latin typeface="Tahoma"/>
                <a:cs typeface="Tahoma"/>
              </a:rPr>
              <a:t>Blocks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0389" y="6093342"/>
            <a:ext cx="2288540" cy="1515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430"/>
              </a:lnSpc>
              <a:spcBef>
                <a:spcPts val="95"/>
              </a:spcBef>
            </a:pPr>
            <a:r>
              <a:rPr dirty="0" sz="7950" spc="-810" b="1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7950">
              <a:latin typeface="Tahoma"/>
              <a:cs typeface="Tahoma"/>
            </a:endParaRPr>
          </a:p>
          <a:p>
            <a:pPr marL="12700">
              <a:lnSpc>
                <a:spcPts val="2295"/>
              </a:lnSpc>
            </a:pPr>
            <a:r>
              <a:rPr dirty="0" sz="2000" spc="-75" b="1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2000" spc="-70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9DB4D4"/>
                </a:solidFill>
                <a:latin typeface="Tahoma"/>
                <a:cs typeface="Tahoma"/>
              </a:rPr>
              <a:t>Tracked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8399" y="4190999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058399" y="4895849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058399" y="5591174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058399" y="6296024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058399" y="7000874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058399" y="7696199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7315199" y="9524"/>
                </a:moveTo>
                <a:lnTo>
                  <a:pt x="0" y="9524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24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045700" y="2875435"/>
            <a:ext cx="3827779" cy="3892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50" b="1">
                <a:solidFill>
                  <a:srgbClr val="FFFFFF"/>
                </a:solidFill>
                <a:latin typeface="Tahoma"/>
                <a:cs typeface="Tahoma"/>
              </a:rPr>
              <a:t>CONDITIONS</a:t>
            </a:r>
            <a:r>
              <a:rPr dirty="0" sz="2350" spc="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SCREENED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476092" y="9813533"/>
            <a:ext cx="271780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45700" y="3602542"/>
            <a:ext cx="4239260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-310" b="1">
                <a:solidFill>
                  <a:srgbClr val="F5A623"/>
                </a:solidFill>
                <a:latin typeface="Tahoma"/>
                <a:cs typeface="Tahoma"/>
              </a:rPr>
              <a:t>01</a:t>
            </a:r>
            <a:r>
              <a:rPr dirty="0" sz="2550" spc="105" b="1">
                <a:solidFill>
                  <a:srgbClr val="F5A623"/>
                </a:solidFill>
                <a:latin typeface="Tahoma"/>
                <a:cs typeface="Tahoma"/>
              </a:rPr>
              <a:t>  </a:t>
            </a:r>
            <a:r>
              <a:rPr dirty="0" sz="2650" spc="-114" b="1">
                <a:solidFill>
                  <a:srgbClr val="FFFFFF"/>
                </a:solidFill>
                <a:latin typeface="Tahoma"/>
                <a:cs typeface="Tahoma"/>
              </a:rPr>
              <a:t>Coronary</a:t>
            </a:r>
            <a:r>
              <a:rPr dirty="0" sz="2650" spc="-2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00" b="1">
                <a:solidFill>
                  <a:srgbClr val="FFFFFF"/>
                </a:solidFill>
                <a:latin typeface="Tahoma"/>
                <a:cs typeface="Tahoma"/>
              </a:rPr>
              <a:t>Heart</a:t>
            </a:r>
            <a:r>
              <a:rPr dirty="0" sz="265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10" b="1">
                <a:solidFill>
                  <a:srgbClr val="FFFFFF"/>
                </a:solidFill>
                <a:latin typeface="Tahoma"/>
                <a:cs typeface="Tahoma"/>
              </a:rPr>
              <a:t>Disease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5700" y="4307391"/>
            <a:ext cx="4491355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b="1">
                <a:solidFill>
                  <a:srgbClr val="F5A623"/>
                </a:solidFill>
                <a:latin typeface="Tahoma"/>
                <a:cs typeface="Tahoma"/>
              </a:rPr>
              <a:t>02</a:t>
            </a:r>
            <a:r>
              <a:rPr dirty="0" sz="2550" spc="37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650" spc="-130" b="1">
                <a:solidFill>
                  <a:srgbClr val="FFFFFF"/>
                </a:solidFill>
                <a:latin typeface="Tahoma"/>
                <a:cs typeface="Tahoma"/>
              </a:rPr>
              <a:t>Rheumatic</a:t>
            </a:r>
            <a:r>
              <a:rPr dirty="0" sz="2650" spc="-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00" b="1">
                <a:solidFill>
                  <a:srgbClr val="FFFFFF"/>
                </a:solidFill>
                <a:latin typeface="Tahoma"/>
                <a:cs typeface="Tahoma"/>
              </a:rPr>
              <a:t>Heart</a:t>
            </a:r>
            <a:r>
              <a:rPr dirty="0" sz="2650" spc="-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10" b="1">
                <a:solidFill>
                  <a:srgbClr val="FFFFFF"/>
                </a:solidFill>
                <a:latin typeface="Tahoma"/>
                <a:cs typeface="Tahoma"/>
              </a:rPr>
              <a:t>Disease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45700" y="5002716"/>
            <a:ext cx="2040889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b="1">
                <a:solidFill>
                  <a:srgbClr val="F5A623"/>
                </a:solidFill>
                <a:latin typeface="Tahoma"/>
                <a:cs typeface="Tahoma"/>
              </a:rPr>
              <a:t>03</a:t>
            </a:r>
            <a:r>
              <a:rPr dirty="0" sz="2550" spc="3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650" spc="-130" b="1">
                <a:solidFill>
                  <a:srgbClr val="FFFFFF"/>
                </a:solidFill>
                <a:latin typeface="Tahoma"/>
                <a:cs typeface="Tahoma"/>
              </a:rPr>
              <a:t>Club</a:t>
            </a:r>
            <a:r>
              <a:rPr dirty="0" sz="2650" spc="-1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00" b="1">
                <a:solidFill>
                  <a:srgbClr val="FFFFFF"/>
                </a:solidFill>
                <a:latin typeface="Tahoma"/>
                <a:cs typeface="Tahoma"/>
              </a:rPr>
              <a:t>Foot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45700" y="5707566"/>
            <a:ext cx="3129915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b="1">
                <a:solidFill>
                  <a:srgbClr val="F5A623"/>
                </a:solidFill>
                <a:latin typeface="Tahoma"/>
                <a:cs typeface="Tahoma"/>
              </a:rPr>
              <a:t>04</a:t>
            </a:r>
            <a:r>
              <a:rPr dirty="0" sz="2550" spc="3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650" spc="-105" b="1">
                <a:solidFill>
                  <a:srgbClr val="FFFFFF"/>
                </a:solidFill>
                <a:latin typeface="Tahoma"/>
                <a:cs typeface="Tahoma"/>
              </a:rPr>
              <a:t>Cleft</a:t>
            </a:r>
            <a:r>
              <a:rPr dirty="0" sz="2650" spc="-1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10" b="1">
                <a:solidFill>
                  <a:srgbClr val="FFFFFF"/>
                </a:solidFill>
                <a:latin typeface="Tahoma"/>
                <a:cs typeface="Tahoma"/>
              </a:rPr>
              <a:t>Lip</a:t>
            </a:r>
            <a:r>
              <a:rPr dirty="0" sz="2650" spc="-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445" b="1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265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85" b="1">
                <a:solidFill>
                  <a:srgbClr val="FFFFFF"/>
                </a:solidFill>
                <a:latin typeface="Tahoma"/>
                <a:cs typeface="Tahoma"/>
              </a:rPr>
              <a:t>Palate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45700" y="6412416"/>
            <a:ext cx="3673475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b="1">
                <a:solidFill>
                  <a:srgbClr val="F5A623"/>
                </a:solidFill>
                <a:latin typeface="Tahoma"/>
                <a:cs typeface="Tahoma"/>
              </a:rPr>
              <a:t>05</a:t>
            </a:r>
            <a:r>
              <a:rPr dirty="0" sz="2550" spc="34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650" spc="-120" b="1">
                <a:solidFill>
                  <a:srgbClr val="FFFFFF"/>
                </a:solidFill>
                <a:latin typeface="Tahoma"/>
                <a:cs typeface="Tahoma"/>
              </a:rPr>
              <a:t>Congenital</a:t>
            </a:r>
            <a:r>
              <a:rPr dirty="0" sz="265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95" b="1">
                <a:solidFill>
                  <a:srgbClr val="FFFFFF"/>
                </a:solidFill>
                <a:latin typeface="Tahoma"/>
                <a:cs typeface="Tahoma"/>
              </a:rPr>
              <a:t>Cataract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5700" y="7117266"/>
            <a:ext cx="3765550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b="1">
                <a:solidFill>
                  <a:srgbClr val="F5A623"/>
                </a:solidFill>
                <a:latin typeface="Tahoma"/>
                <a:cs typeface="Tahoma"/>
              </a:rPr>
              <a:t>06</a:t>
            </a:r>
            <a:r>
              <a:rPr dirty="0" sz="2550" spc="34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650" spc="-120" b="1">
                <a:solidFill>
                  <a:srgbClr val="FFFFFF"/>
                </a:solidFill>
                <a:latin typeface="Tahoma"/>
                <a:cs typeface="Tahoma"/>
              </a:rPr>
              <a:t>Congenital</a:t>
            </a:r>
            <a:r>
              <a:rPr dirty="0" sz="26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20" b="1">
                <a:solidFill>
                  <a:srgbClr val="FFFFFF"/>
                </a:solidFill>
                <a:latin typeface="Tahoma"/>
                <a:cs typeface="Tahoma"/>
              </a:rPr>
              <a:t>Deafness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45700" y="7812591"/>
            <a:ext cx="3556635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b="1">
                <a:solidFill>
                  <a:srgbClr val="F5A623"/>
                </a:solidFill>
                <a:latin typeface="Tahoma"/>
                <a:cs typeface="Tahoma"/>
              </a:rPr>
              <a:t>07</a:t>
            </a:r>
            <a:r>
              <a:rPr dirty="0" sz="2550" spc="3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2650" spc="-105" b="1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dirty="0" sz="2650" spc="-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70" b="1">
                <a:solidFill>
                  <a:srgbClr val="FFFFFF"/>
                </a:solidFill>
                <a:latin typeface="Tahoma"/>
                <a:cs typeface="Tahoma"/>
              </a:rPr>
              <a:t>Tube</a:t>
            </a:r>
            <a:r>
              <a:rPr dirty="0" sz="2650" spc="-1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-100" b="1">
                <a:solidFill>
                  <a:srgbClr val="FFFFFF"/>
                </a:solidFill>
                <a:latin typeface="Tahoma"/>
                <a:cs typeface="Tahoma"/>
              </a:rPr>
              <a:t>Defect</a:t>
            </a:r>
            <a:endParaRPr sz="2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343149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414751"/>
            <a:ext cx="1697989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4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V</a:t>
            </a:r>
            <a:r>
              <a:rPr dirty="0" sz="1650" spc="-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9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-2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V</a:t>
            </a:r>
            <a:r>
              <a:rPr dirty="0" sz="1650" spc="-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9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W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699" y="337238"/>
            <a:ext cx="7555865" cy="1828164"/>
          </a:xfrm>
          <a:prstGeom prst="rect">
            <a:avLst/>
          </a:prstGeom>
        </p:spPr>
        <p:txBody>
          <a:bodyPr wrap="square" lIns="0" tIns="501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44"/>
              </a:spcBef>
            </a:pPr>
            <a:r>
              <a:rPr dirty="0" sz="5700" spc="-370" b="1">
                <a:solidFill>
                  <a:srgbClr val="FFFFFF"/>
                </a:solidFill>
                <a:latin typeface="Tahoma"/>
                <a:cs typeface="Tahoma"/>
              </a:rPr>
              <a:t>District</a:t>
            </a:r>
            <a:r>
              <a:rPr dirty="0" sz="5700" spc="-8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700" spc="-103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5700" spc="-53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5700" spc="-49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5700" spc="-409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5700" spc="-215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5700" spc="-19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5700" spc="-84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700" spc="-994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5700" spc="-1005" b="1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5700" spc="-994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5700" spc="-42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5000" spc="-955" b="1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5700" spc="-805" b="1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5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850" spc="-45">
                <a:solidFill>
                  <a:srgbClr val="9DB4D4"/>
                </a:solidFill>
                <a:latin typeface="Tahoma"/>
                <a:cs typeface="Tahoma"/>
              </a:rPr>
              <a:t>Vellore</a:t>
            </a:r>
            <a:r>
              <a:rPr dirty="0" sz="1850" spc="-10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9DB4D4"/>
                </a:solidFill>
                <a:latin typeface="Tahoma"/>
                <a:cs typeface="Tahoma"/>
              </a:rPr>
              <a:t>District</a:t>
            </a:r>
            <a:r>
              <a:rPr dirty="0" sz="1850" spc="-13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55">
                <a:solidFill>
                  <a:srgbClr val="9DB4D4"/>
                </a:solidFill>
                <a:latin typeface="Tahoma"/>
                <a:cs typeface="Tahoma"/>
              </a:rPr>
              <a:t>8</a:t>
            </a:r>
            <a:r>
              <a:rPr dirty="0" sz="1850" spc="-10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9DB4D4"/>
                </a:solidFill>
                <a:latin typeface="Tahoma"/>
                <a:cs typeface="Tahoma"/>
              </a:rPr>
              <a:t>blocks</a:t>
            </a:r>
            <a:r>
              <a:rPr dirty="0" sz="1850" spc="-11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50">
                <a:solidFill>
                  <a:srgbClr val="9DB4D4"/>
                </a:solidFill>
                <a:latin typeface="Tahoma"/>
                <a:cs typeface="Tahoma"/>
              </a:rPr>
              <a:t>7</a:t>
            </a:r>
            <a:r>
              <a:rPr dirty="0" sz="1850" spc="-11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1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1850" spc="-20">
                <a:solidFill>
                  <a:srgbClr val="9DB4D4"/>
                </a:solidFill>
                <a:latin typeface="Tahoma"/>
                <a:cs typeface="Tahoma"/>
              </a:rPr>
              <a:t>gures</a:t>
            </a:r>
            <a:r>
              <a:rPr dirty="0" sz="1850" spc="-10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5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399" y="2771774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699" y="2763454"/>
            <a:ext cx="2507615" cy="1682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750" spc="-151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8750" spc="-1035" b="1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dirty="0" sz="8750" spc="-63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8750" spc="-1560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dirty="0" sz="8750" spc="-90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8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EXPECTED</a:t>
            </a:r>
            <a:r>
              <a:rPr dirty="0" sz="2000" spc="300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81774" y="2771774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70860" y="2712204"/>
            <a:ext cx="3152775" cy="1734185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dirty="0" sz="8300" spc="-40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8300" spc="-800" b="1">
                <a:solidFill>
                  <a:srgbClr val="F5A623"/>
                </a:solidFill>
                <a:latin typeface="Tahoma"/>
                <a:cs typeface="Tahoma"/>
              </a:rPr>
              <a:t>,</a:t>
            </a:r>
            <a:r>
              <a:rPr dirty="0" sz="8300" spc="-1245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8300" spc="-126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8300" spc="-670" b="1">
                <a:solidFill>
                  <a:srgbClr val="F5A623"/>
                </a:solidFill>
                <a:latin typeface="Tahoma"/>
                <a:cs typeface="Tahoma"/>
              </a:rPr>
              <a:t>8</a:t>
            </a:r>
            <a:endParaRPr sz="8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CHILDREN</a:t>
            </a:r>
            <a:r>
              <a:rPr dirty="0" sz="2000" spc="375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9DB4D4"/>
                </a:solidFill>
                <a:latin typeface="Tahoma"/>
                <a:cs typeface="Tahoma"/>
              </a:rPr>
              <a:t>CONFIRMED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249149" y="2771774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240170" y="2763454"/>
            <a:ext cx="3040380" cy="1682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750" spc="-1435" b="1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dirty="0" sz="8750" spc="-1405" b="1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8750" spc="-780" b="1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8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MEDICALLY</a:t>
            </a:r>
            <a:r>
              <a:rPr dirty="0" sz="2000" spc="484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45" b="1">
                <a:solidFill>
                  <a:srgbClr val="9DB4D4"/>
                </a:solidFill>
                <a:latin typeface="Tahoma"/>
                <a:cs typeface="Tahoma"/>
              </a:rPr>
              <a:t>MANAGED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399" y="5086348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01699" y="5078029"/>
            <a:ext cx="2433320" cy="1682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750" spc="-1515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8750" spc="-1330" b="1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8750" spc="-705" b="1">
                <a:solidFill>
                  <a:srgbClr val="FFFFFF"/>
                </a:solidFill>
                <a:latin typeface="Tahoma"/>
                <a:cs typeface="Tahoma"/>
              </a:rPr>
              <a:t>8</a:t>
            </a:r>
            <a:endParaRPr sz="8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NEEDED</a:t>
            </a:r>
            <a:r>
              <a:rPr dirty="0" sz="2000" spc="330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9DB4D4"/>
                </a:solidFill>
                <a:latin typeface="Tahoma"/>
                <a:cs typeface="Tahoma"/>
              </a:rPr>
              <a:t>SURGERY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81774" y="5086348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570860" y="5026779"/>
            <a:ext cx="2113915" cy="1734185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dirty="0" sz="8300" spc="-1260" b="1">
                <a:solidFill>
                  <a:srgbClr val="F5A623"/>
                </a:solidFill>
                <a:latin typeface="Tahoma"/>
                <a:cs typeface="Tahoma"/>
              </a:rPr>
              <a:t>4</a:t>
            </a:r>
            <a:r>
              <a:rPr dirty="0" sz="8300" spc="-1075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8300" spc="-484" b="1">
                <a:solidFill>
                  <a:srgbClr val="F5A623"/>
                </a:solidFill>
                <a:latin typeface="Tahoma"/>
                <a:cs typeface="Tahoma"/>
              </a:rPr>
              <a:t>3</a:t>
            </a:r>
            <a:endParaRPr sz="8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SURGERY</a:t>
            </a:r>
            <a:r>
              <a:rPr dirty="0" sz="2000" spc="135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9DB4D4"/>
                </a:solidFill>
                <a:latin typeface="Tahoma"/>
                <a:cs typeface="Tahoma"/>
              </a:rPr>
              <a:t>DONE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249149" y="5086348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240170" y="5078029"/>
            <a:ext cx="2540000" cy="1682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750" spc="-100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8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DUE</a:t>
            </a:r>
            <a:r>
              <a:rPr dirty="0" sz="2000" spc="290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9DB4D4"/>
                </a:solidFill>
                <a:latin typeface="Tahoma"/>
                <a:cs typeface="Tahoma"/>
              </a:rPr>
              <a:t>FOR</a:t>
            </a:r>
            <a:r>
              <a:rPr dirty="0" sz="2000" spc="160" b="1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9DB4D4"/>
                </a:solidFill>
                <a:latin typeface="Tahoma"/>
                <a:cs typeface="Tahoma"/>
              </a:rPr>
              <a:t>SURGERY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476092" y="9813533"/>
            <a:ext cx="271780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03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82561" y="-2503068"/>
            <a:ext cx="4615180" cy="12135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9450" spc="-14725" b="1">
                <a:solidFill>
                  <a:srgbClr val="EDEFF1"/>
                </a:solidFill>
                <a:latin typeface="Tahoma"/>
                <a:cs typeface="Tahoma"/>
              </a:rPr>
              <a:t>1</a:t>
            </a:r>
            <a:endParaRPr sz="794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280" y="2773860"/>
            <a:ext cx="7940675" cy="4392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785"/>
              </a:lnSpc>
              <a:spcBef>
                <a:spcPts val="130"/>
              </a:spcBef>
              <a:tabLst>
                <a:tab pos="2178685" algn="l"/>
              </a:tabLst>
            </a:pP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S</a:t>
            </a:r>
            <a:r>
              <a:rPr dirty="0" sz="2350" spc="-30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spc="-280" b="1">
                <a:solidFill>
                  <a:srgbClr val="526578"/>
                </a:solidFill>
                <a:latin typeface="Tahoma"/>
                <a:cs typeface="Tahoma"/>
              </a:rPr>
              <a:t>E</a:t>
            </a:r>
            <a:r>
              <a:rPr dirty="0" sz="2350" spc="114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C</a:t>
            </a:r>
            <a:r>
              <a:rPr dirty="0" sz="2350" spc="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T</a:t>
            </a:r>
            <a:r>
              <a:rPr dirty="0" sz="2350" spc="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I</a:t>
            </a:r>
            <a:r>
              <a:rPr dirty="0" sz="2350" spc="50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O</a:t>
            </a:r>
            <a:r>
              <a:rPr dirty="0" sz="2350" spc="2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spc="-50" b="1">
                <a:solidFill>
                  <a:srgbClr val="526578"/>
                </a:solidFill>
                <a:latin typeface="Tahoma"/>
                <a:cs typeface="Tahoma"/>
              </a:rPr>
              <a:t>N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	0</a:t>
            </a:r>
            <a:r>
              <a:rPr dirty="0" sz="2350" spc="-7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spc="-470" b="1">
                <a:solidFill>
                  <a:srgbClr val="526578"/>
                </a:solidFill>
                <a:latin typeface="Tahoma"/>
                <a:cs typeface="Tahoma"/>
              </a:rPr>
              <a:t>1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ts val="16995"/>
              </a:lnSpc>
            </a:pPr>
            <a:r>
              <a:rPr dirty="0" sz="14300" spc="-2500" b="1">
                <a:solidFill>
                  <a:srgbClr val="092540"/>
                </a:solidFill>
                <a:latin typeface="Tahoma"/>
                <a:cs typeface="Tahoma"/>
              </a:rPr>
              <a:t>2</a:t>
            </a:r>
            <a:r>
              <a:rPr dirty="0" sz="14300" spc="-2530" b="1">
                <a:solidFill>
                  <a:srgbClr val="092540"/>
                </a:solidFill>
                <a:latin typeface="Tahoma"/>
                <a:cs typeface="Tahoma"/>
              </a:rPr>
              <a:t>0</a:t>
            </a:r>
            <a:r>
              <a:rPr dirty="0" sz="14300" spc="-2500" b="1">
                <a:solidFill>
                  <a:srgbClr val="092540"/>
                </a:solidFill>
                <a:latin typeface="Tahoma"/>
                <a:cs typeface="Tahoma"/>
              </a:rPr>
              <a:t>2</a:t>
            </a:r>
            <a:r>
              <a:rPr dirty="0" sz="14300" spc="-1070" b="1">
                <a:solidFill>
                  <a:srgbClr val="092540"/>
                </a:solidFill>
                <a:latin typeface="Tahoma"/>
                <a:cs typeface="Tahoma"/>
              </a:rPr>
              <a:t>1</a:t>
            </a:r>
            <a:r>
              <a:rPr dirty="0" sz="12500" spc="-2415" b="1">
                <a:solidFill>
                  <a:srgbClr val="092540"/>
                </a:solidFill>
                <a:latin typeface="Tahoma"/>
                <a:cs typeface="Tahoma"/>
              </a:rPr>
              <a:t>–</a:t>
            </a:r>
            <a:r>
              <a:rPr dirty="0" sz="14300" spc="-2240" b="1">
                <a:solidFill>
                  <a:srgbClr val="092540"/>
                </a:solidFill>
                <a:latin typeface="Tahoma"/>
                <a:cs typeface="Tahoma"/>
              </a:rPr>
              <a:t>2</a:t>
            </a:r>
            <a:r>
              <a:rPr dirty="0" sz="14300" spc="-2270" b="1">
                <a:solidFill>
                  <a:srgbClr val="092540"/>
                </a:solidFill>
                <a:latin typeface="Tahoma"/>
                <a:cs typeface="Tahoma"/>
              </a:rPr>
              <a:t>0</a:t>
            </a:r>
            <a:r>
              <a:rPr dirty="0" sz="14300" spc="-2240" b="1">
                <a:solidFill>
                  <a:srgbClr val="092540"/>
                </a:solidFill>
                <a:latin typeface="Tahoma"/>
                <a:cs typeface="Tahoma"/>
              </a:rPr>
              <a:t>2</a:t>
            </a:r>
            <a:r>
              <a:rPr dirty="0" sz="14300" spc="-1250" b="1">
                <a:solidFill>
                  <a:srgbClr val="092540"/>
                </a:solidFill>
                <a:latin typeface="Tahoma"/>
                <a:cs typeface="Tahoma"/>
              </a:rPr>
              <a:t>6</a:t>
            </a:r>
            <a:endParaRPr sz="14300">
              <a:latin typeface="Tahoma"/>
              <a:cs typeface="Tahoma"/>
            </a:endParaRPr>
          </a:p>
          <a:p>
            <a:pPr marL="12700">
              <a:lnSpc>
                <a:spcPts val="7220"/>
              </a:lnSpc>
            </a:pPr>
            <a:r>
              <a:rPr dirty="0" sz="6250" spc="-480">
                <a:solidFill>
                  <a:srgbClr val="2D455C"/>
                </a:solidFill>
                <a:latin typeface="Tahoma"/>
                <a:cs typeface="Tahoma"/>
              </a:rPr>
              <a:t>F</a:t>
            </a:r>
            <a:r>
              <a:rPr dirty="0" sz="6250" spc="85">
                <a:solidFill>
                  <a:srgbClr val="2D455C"/>
                </a:solidFill>
                <a:latin typeface="Tahoma"/>
                <a:cs typeface="Tahoma"/>
              </a:rPr>
              <a:t>i</a:t>
            </a:r>
            <a:r>
              <a:rPr dirty="0" sz="6250" spc="-605">
                <a:solidFill>
                  <a:srgbClr val="2D455C"/>
                </a:solidFill>
                <a:latin typeface="Tahoma"/>
                <a:cs typeface="Tahoma"/>
              </a:rPr>
              <a:t>v</a:t>
            </a:r>
            <a:r>
              <a:rPr dirty="0" sz="6250" spc="-250">
                <a:solidFill>
                  <a:srgbClr val="2D455C"/>
                </a:solidFill>
                <a:latin typeface="Tahoma"/>
                <a:cs typeface="Tahoma"/>
              </a:rPr>
              <a:t>e</a:t>
            </a:r>
            <a:r>
              <a:rPr dirty="0" sz="6250" spc="-225">
                <a:solidFill>
                  <a:srgbClr val="2D455C"/>
                </a:solidFill>
                <a:latin typeface="Tahoma"/>
                <a:cs typeface="Tahoma"/>
              </a:rPr>
              <a:t>-</a:t>
            </a:r>
            <a:r>
              <a:rPr dirty="0" sz="6250" spc="-819">
                <a:solidFill>
                  <a:srgbClr val="2D455C"/>
                </a:solidFill>
                <a:latin typeface="Tahoma"/>
                <a:cs typeface="Tahoma"/>
              </a:rPr>
              <a:t>Y</a:t>
            </a:r>
            <a:r>
              <a:rPr dirty="0" sz="6250" spc="-120">
                <a:solidFill>
                  <a:srgbClr val="2D455C"/>
                </a:solidFill>
                <a:latin typeface="Tahoma"/>
                <a:cs typeface="Tahoma"/>
              </a:rPr>
              <a:t>e</a:t>
            </a:r>
            <a:r>
              <a:rPr dirty="0" sz="6250" spc="50">
                <a:solidFill>
                  <a:srgbClr val="2D455C"/>
                </a:solidFill>
                <a:latin typeface="Tahoma"/>
                <a:cs typeface="Tahoma"/>
              </a:rPr>
              <a:t>a</a:t>
            </a:r>
            <a:r>
              <a:rPr dirty="0" sz="6250" spc="-185">
                <a:solidFill>
                  <a:srgbClr val="2D455C"/>
                </a:solidFill>
                <a:latin typeface="Tahoma"/>
                <a:cs typeface="Tahoma"/>
              </a:rPr>
              <a:t>r</a:t>
            </a:r>
            <a:r>
              <a:rPr dirty="0" sz="6250" spc="-505">
                <a:solidFill>
                  <a:srgbClr val="2D455C"/>
                </a:solidFill>
                <a:latin typeface="Tahoma"/>
                <a:cs typeface="Tahoma"/>
              </a:rPr>
              <a:t> </a:t>
            </a:r>
            <a:r>
              <a:rPr dirty="0" sz="6250" spc="-305">
                <a:solidFill>
                  <a:srgbClr val="2D455C"/>
                </a:solidFill>
                <a:latin typeface="Tahoma"/>
                <a:cs typeface="Tahoma"/>
              </a:rPr>
              <a:t>C</a:t>
            </a:r>
            <a:r>
              <a:rPr dirty="0" sz="6250" spc="95">
                <a:solidFill>
                  <a:srgbClr val="2D455C"/>
                </a:solidFill>
                <a:latin typeface="Tahoma"/>
                <a:cs typeface="Tahoma"/>
              </a:rPr>
              <a:t>u</a:t>
            </a:r>
            <a:r>
              <a:rPr dirty="0" sz="6250" spc="-120">
                <a:solidFill>
                  <a:srgbClr val="2D455C"/>
                </a:solidFill>
                <a:latin typeface="Tahoma"/>
                <a:cs typeface="Tahoma"/>
              </a:rPr>
              <a:t>m</a:t>
            </a:r>
            <a:r>
              <a:rPr dirty="0" sz="6250" spc="95">
                <a:solidFill>
                  <a:srgbClr val="2D455C"/>
                </a:solidFill>
                <a:latin typeface="Tahoma"/>
                <a:cs typeface="Tahoma"/>
              </a:rPr>
              <a:t>u</a:t>
            </a:r>
            <a:r>
              <a:rPr dirty="0" sz="6250" spc="300">
                <a:solidFill>
                  <a:srgbClr val="2D455C"/>
                </a:solidFill>
                <a:latin typeface="Tahoma"/>
                <a:cs typeface="Tahoma"/>
              </a:rPr>
              <a:t>l</a:t>
            </a:r>
            <a:r>
              <a:rPr dirty="0" sz="6250" spc="65">
                <a:solidFill>
                  <a:srgbClr val="2D455C"/>
                </a:solidFill>
                <a:latin typeface="Tahoma"/>
                <a:cs typeface="Tahoma"/>
              </a:rPr>
              <a:t>a</a:t>
            </a:r>
            <a:r>
              <a:rPr dirty="0" sz="6250" spc="-204">
                <a:solidFill>
                  <a:srgbClr val="2D455C"/>
                </a:solidFill>
                <a:latin typeface="Tahoma"/>
                <a:cs typeface="Tahoma"/>
              </a:rPr>
              <a:t>t</a:t>
            </a:r>
            <a:r>
              <a:rPr dirty="0" sz="6250" spc="229">
                <a:solidFill>
                  <a:srgbClr val="2D455C"/>
                </a:solidFill>
                <a:latin typeface="Tahoma"/>
                <a:cs typeface="Tahoma"/>
              </a:rPr>
              <a:t>i</a:t>
            </a:r>
            <a:r>
              <a:rPr dirty="0" sz="6250" spc="-459">
                <a:solidFill>
                  <a:srgbClr val="2D455C"/>
                </a:solidFill>
                <a:latin typeface="Tahoma"/>
                <a:cs typeface="Tahoma"/>
              </a:rPr>
              <a:t>v</a:t>
            </a:r>
            <a:r>
              <a:rPr dirty="0" sz="6250" spc="-170">
                <a:solidFill>
                  <a:srgbClr val="2D455C"/>
                </a:solidFill>
                <a:latin typeface="Tahoma"/>
                <a:cs typeface="Tahoma"/>
              </a:rPr>
              <a:t>e</a:t>
            </a:r>
            <a:endParaRPr sz="6250">
              <a:latin typeface="Tahoma"/>
              <a:cs typeface="Tahoma"/>
            </a:endParaRPr>
          </a:p>
          <a:p>
            <a:pPr marL="12700">
              <a:lnSpc>
                <a:spcPts val="7350"/>
              </a:lnSpc>
            </a:pPr>
            <a:r>
              <a:rPr dirty="0" sz="6250" spc="-490">
                <a:solidFill>
                  <a:srgbClr val="2D455C"/>
                </a:solidFill>
                <a:latin typeface="Tahoma"/>
                <a:cs typeface="Tahoma"/>
              </a:rPr>
              <a:t>A</a:t>
            </a:r>
            <a:r>
              <a:rPr dirty="0" sz="6250" spc="85">
                <a:solidFill>
                  <a:srgbClr val="2D455C"/>
                </a:solidFill>
                <a:latin typeface="Tahoma"/>
                <a:cs typeface="Tahoma"/>
              </a:rPr>
              <a:t>n</a:t>
            </a:r>
            <a:r>
              <a:rPr dirty="0" sz="6250" spc="90">
                <a:solidFill>
                  <a:srgbClr val="2D455C"/>
                </a:solidFill>
                <a:latin typeface="Tahoma"/>
                <a:cs typeface="Tahoma"/>
              </a:rPr>
              <a:t>a</a:t>
            </a:r>
            <a:r>
              <a:rPr dirty="0" sz="6250" spc="325">
                <a:solidFill>
                  <a:srgbClr val="2D455C"/>
                </a:solidFill>
                <a:latin typeface="Tahoma"/>
                <a:cs typeface="Tahoma"/>
              </a:rPr>
              <a:t>l</a:t>
            </a:r>
            <a:r>
              <a:rPr dirty="0" sz="6250" spc="-440">
                <a:solidFill>
                  <a:srgbClr val="2D455C"/>
                </a:solidFill>
                <a:latin typeface="Tahoma"/>
                <a:cs typeface="Tahoma"/>
              </a:rPr>
              <a:t>y</a:t>
            </a:r>
            <a:r>
              <a:rPr dirty="0" sz="6250" spc="-95">
                <a:solidFill>
                  <a:srgbClr val="2D455C"/>
                </a:solidFill>
                <a:latin typeface="Tahoma"/>
                <a:cs typeface="Tahoma"/>
              </a:rPr>
              <a:t>s</a:t>
            </a:r>
            <a:r>
              <a:rPr dirty="0" sz="6250" spc="254">
                <a:solidFill>
                  <a:srgbClr val="2D455C"/>
                </a:solidFill>
                <a:latin typeface="Tahoma"/>
                <a:cs typeface="Tahoma"/>
              </a:rPr>
              <a:t>i</a:t>
            </a:r>
            <a:r>
              <a:rPr dirty="0" sz="6250" spc="-145">
                <a:solidFill>
                  <a:srgbClr val="2D455C"/>
                </a:solidFill>
                <a:latin typeface="Tahoma"/>
                <a:cs typeface="Tahoma"/>
              </a:rPr>
              <a:t>s</a:t>
            </a:r>
            <a:endParaRPr sz="62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6849" y="7480324"/>
            <a:ext cx="2190750" cy="28575"/>
          </a:xfrm>
          <a:custGeom>
            <a:avLst/>
            <a:gdLst/>
            <a:ahLst/>
            <a:cxnLst/>
            <a:rect l="l" t="t" r="r" b="b"/>
            <a:pathLst>
              <a:path w="2190750" h="28575">
                <a:moveTo>
                  <a:pt x="2190749" y="28574"/>
                </a:moveTo>
                <a:lnTo>
                  <a:pt x="0" y="28574"/>
                </a:lnTo>
                <a:lnTo>
                  <a:pt x="0" y="0"/>
                </a:lnTo>
                <a:lnTo>
                  <a:pt x="2190749" y="0"/>
                </a:lnTo>
                <a:lnTo>
                  <a:pt x="2190749" y="28574"/>
                </a:lnTo>
                <a:close/>
              </a:path>
            </a:pathLst>
          </a:custGeom>
          <a:solidFill>
            <a:srgbClr val="092540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476092" y="9805084"/>
            <a:ext cx="284480" cy="241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95"/>
              </a:lnSpc>
            </a:pPr>
            <a:r>
              <a:rPr dirty="0" sz="1850" spc="-25">
                <a:solidFill>
                  <a:srgbClr val="83919F"/>
                </a:solidFill>
                <a:latin typeface="Tahoma"/>
                <a:cs typeface="Tahoma"/>
              </a:rPr>
              <a:t>04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1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399" y="372968"/>
          <a:ext cx="16535400" cy="6892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820"/>
                <a:gridCol w="521969"/>
                <a:gridCol w="1655444"/>
                <a:gridCol w="2237104"/>
                <a:gridCol w="2499360"/>
                <a:gridCol w="2113915"/>
                <a:gridCol w="5953125"/>
              </a:tblGrid>
              <a:tr h="354965"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dirty="0" sz="1650" spc="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1650" spc="8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165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165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650" spc="6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1650" spc="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N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595"/>
                        </a:lnSpc>
                      </a:pP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650" spc="1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31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114935">
                        <a:lnSpc>
                          <a:spcPts val="1595"/>
                        </a:lnSpc>
                        <a:tabLst>
                          <a:tab pos="528955" algn="l"/>
                        </a:tabLst>
                      </a:pPr>
                      <a:r>
                        <a:rPr dirty="0" sz="1500" spc="29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150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dirty="0" sz="1650" spc="3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650" spc="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dirty="0" sz="1650" spc="3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26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650" spc="1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dirty="0" sz="1500" spc="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dirty="0" sz="1650" spc="3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650" spc="3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dirty="0" sz="1650" spc="3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33144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700" spc="-3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5700" spc="-8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5700" spc="-10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5700" spc="-5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5700" spc="-4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5700" spc="-40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5700" spc="-2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dirty="0" sz="5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dirty="0" sz="5700" spc="-8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5700" spc="-2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5700" spc="-11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5700" spc="-4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Condition</a:t>
                      </a:r>
                      <a:endParaRPr sz="5700">
                        <a:latin typeface="Tahoma"/>
                        <a:cs typeface="Tahoma"/>
                      </a:endParaRPr>
                    </a:p>
                  </a:txBody>
                  <a:tcPr marL="0" marR="0" marB="0" marT="508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994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500" spc="7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CONDITION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1651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86995">
                        <a:lnSpc>
                          <a:spcPct val="10000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1651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05410">
                        <a:lnSpc>
                          <a:spcPct val="10000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1651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79070">
                        <a:lnSpc>
                          <a:spcPct val="100000"/>
                        </a:lnSpc>
                      </a:pPr>
                      <a:r>
                        <a:rPr dirty="0" sz="1500" spc="7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1500" spc="204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1651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3716020">
                        <a:lnSpc>
                          <a:spcPct val="100000"/>
                        </a:lnSpc>
                      </a:pPr>
                      <a:r>
                        <a:rPr dirty="0" sz="1500" spc="4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r>
                        <a:rPr dirty="0" sz="1500" spc="1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1651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7119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15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Coronary</a:t>
                      </a:r>
                      <a:r>
                        <a:rPr dirty="0" sz="2150" spc="-20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Heart</a:t>
                      </a:r>
                      <a:r>
                        <a:rPr dirty="0" sz="215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Disease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8415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493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5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884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3664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550" spc="-3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741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51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475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7145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379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263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7145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608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15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Rheumatic</a:t>
                      </a:r>
                      <a:r>
                        <a:rPr dirty="0" sz="2150" spc="-1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Heart</a:t>
                      </a:r>
                      <a:r>
                        <a:rPr dirty="0" sz="215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Disease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98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2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196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208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12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190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18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61849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215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Club </a:t>
                      </a:r>
                      <a:r>
                        <a:rPr dirty="0" sz="215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Foot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985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550" spc="-2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196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382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550" spc="-2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319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93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062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608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15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Cleft</a:t>
                      </a:r>
                      <a:r>
                        <a:rPr dirty="0" sz="2150" spc="-1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Lip</a:t>
                      </a:r>
                      <a:r>
                        <a:rPr dirty="0" sz="215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3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150" spc="-1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Palate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87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4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366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4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81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31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06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76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608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150" spc="-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Congenital</a:t>
                      </a:r>
                      <a:r>
                        <a:rPr dirty="0" sz="21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Cataract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85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44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31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125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61849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2150" spc="-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Congenital</a:t>
                      </a:r>
                      <a:r>
                        <a:rPr dirty="0" sz="21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Deafness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60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5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393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2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550" spc="-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45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192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379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4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61849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15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Neural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50" spc="-1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Tube </a:t>
                      </a:r>
                      <a:r>
                        <a:rPr dirty="0" sz="21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Defect</a:t>
                      </a:r>
                      <a:endParaRPr sz="2150">
                        <a:latin typeface="Tahoma"/>
                        <a:cs typeface="Tahoma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60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393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44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55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9017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43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69125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4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511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dirty="0" sz="21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100" spc="2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4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949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8585">
                        <a:lnSpc>
                          <a:spcPts val="3155"/>
                        </a:lnSpc>
                        <a:spcBef>
                          <a:spcPts val="1085"/>
                        </a:spcBef>
                      </a:pPr>
                      <a:r>
                        <a:rPr dirty="0" sz="2850" spc="-1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2,162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1915">
                        <a:lnSpc>
                          <a:spcPts val="3155"/>
                        </a:lnSpc>
                        <a:spcBef>
                          <a:spcPts val="1085"/>
                        </a:spcBef>
                      </a:pPr>
                      <a:r>
                        <a:rPr dirty="0" sz="2850" spc="-1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1,208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60655">
                        <a:lnSpc>
                          <a:spcPts val="3304"/>
                        </a:lnSpc>
                        <a:spcBef>
                          <a:spcPts val="935"/>
                        </a:spcBef>
                      </a:pPr>
                      <a:r>
                        <a:rPr dirty="0" sz="3000" spc="-3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800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693160">
                        <a:lnSpc>
                          <a:spcPts val="3304"/>
                        </a:lnSpc>
                        <a:spcBef>
                          <a:spcPts val="935"/>
                        </a:spcBef>
                      </a:pPr>
                      <a:r>
                        <a:rPr dirty="0" sz="3000" spc="-3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403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476092" y="9813533"/>
            <a:ext cx="272415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1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2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6092" y="9813533"/>
            <a:ext cx="274955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7341234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405"/>
              <a:t>Coronary</a:t>
            </a:r>
            <a:r>
              <a:rPr dirty="0" spc="-1140"/>
              <a:t> </a:t>
            </a:r>
            <a:r>
              <a:rPr dirty="0" spc="-375"/>
              <a:t>Heart</a:t>
            </a:r>
            <a:r>
              <a:rPr dirty="0" spc="-850"/>
              <a:t> </a:t>
            </a:r>
            <a:r>
              <a:rPr dirty="0" spc="-475"/>
              <a:t>Disease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35400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2757170"/>
                <a:gridCol w="4124325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450"/>
                        </a:lnSpc>
                      </a:pPr>
                      <a:r>
                        <a:rPr dirty="0" sz="1500" spc="7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1500" spc="204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1460">
                        <a:lnSpc>
                          <a:spcPts val="1450"/>
                        </a:lnSpc>
                      </a:pPr>
                      <a:r>
                        <a:rPr dirty="0" sz="1500" spc="4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r>
                        <a:rPr dirty="0" sz="1500" spc="1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124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22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66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669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38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157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177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30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81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923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83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64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66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28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83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155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122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92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3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54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011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606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56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177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92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244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2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66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27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913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884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5303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31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741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4775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475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49860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263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2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2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6092" y="9813533"/>
            <a:ext cx="274320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7860030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860"/>
              <a:t>R</a:t>
            </a:r>
            <a:r>
              <a:rPr dirty="0" spc="-405"/>
              <a:t>h</a:t>
            </a:r>
            <a:r>
              <a:rPr dirty="0" spc="-509"/>
              <a:t>e</a:t>
            </a:r>
            <a:r>
              <a:rPr dirty="0" spc="-395"/>
              <a:t>u</a:t>
            </a:r>
            <a:r>
              <a:rPr dirty="0" spc="-570"/>
              <a:t>m</a:t>
            </a:r>
            <a:r>
              <a:rPr dirty="0" spc="-395"/>
              <a:t>a</a:t>
            </a:r>
            <a:r>
              <a:rPr dirty="0" spc="-480"/>
              <a:t>t</a:t>
            </a:r>
            <a:r>
              <a:rPr dirty="0" spc="-240"/>
              <a:t>i</a:t>
            </a:r>
            <a:r>
              <a:rPr dirty="0" spc="-175"/>
              <a:t>c</a:t>
            </a:r>
            <a:r>
              <a:rPr dirty="0" spc="-915"/>
              <a:t> </a:t>
            </a:r>
            <a:r>
              <a:rPr dirty="0" spc="-375"/>
              <a:t>Heart</a:t>
            </a:r>
            <a:r>
              <a:rPr dirty="0" spc="-844"/>
              <a:t> </a:t>
            </a:r>
            <a:r>
              <a:rPr dirty="0" spc="-475"/>
              <a:t>Disease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35400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2757170"/>
                <a:gridCol w="1515745"/>
                <a:gridCol w="2607944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450"/>
                        </a:lnSpc>
                      </a:pPr>
                      <a:r>
                        <a:rPr dirty="0" sz="1500" spc="7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1500" spc="204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27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22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58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29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35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22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26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3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351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42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17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41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85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19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85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8897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193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8732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208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922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190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2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2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6092" y="9813533"/>
            <a:ext cx="273685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5466715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434"/>
              <a:t>Club</a:t>
            </a:r>
            <a:r>
              <a:rPr dirty="0" spc="-885"/>
              <a:t> </a:t>
            </a:r>
            <a:r>
              <a:rPr dirty="0" spc="-459"/>
              <a:t>Foot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35400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2757170"/>
                <a:gridCol w="1516379"/>
                <a:gridCol w="2608580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450"/>
                        </a:lnSpc>
                      </a:pPr>
                      <a:r>
                        <a:rPr dirty="0" sz="1500" spc="7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1500" spc="204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27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4139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643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2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14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41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06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604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8643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195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86690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109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668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3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1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6092" y="9813533"/>
            <a:ext cx="273050" cy="231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800" spc="-25">
                <a:solidFill>
                  <a:srgbClr val="4A6791"/>
                </a:solidFill>
                <a:latin typeface="Tahoma"/>
                <a:cs typeface="Tahoma"/>
              </a:rPr>
              <a:t>09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5466715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525"/>
              <a:t>C</a:t>
            </a:r>
            <a:r>
              <a:rPr dirty="0" spc="-114"/>
              <a:t>l</a:t>
            </a:r>
            <a:r>
              <a:rPr dirty="0" spc="-425"/>
              <a:t>e</a:t>
            </a:r>
            <a:r>
              <a:rPr dirty="0" spc="-630"/>
              <a:t>f</a:t>
            </a:r>
            <a:r>
              <a:rPr dirty="0" spc="-90"/>
              <a:t>t</a:t>
            </a:r>
            <a:r>
              <a:rPr dirty="0" spc="-885"/>
              <a:t> </a:t>
            </a:r>
            <a:r>
              <a:rPr dirty="0" spc="-355"/>
              <a:t>Lip</a:t>
            </a:r>
            <a:r>
              <a:rPr dirty="0" spc="-894"/>
              <a:t> </a:t>
            </a:r>
            <a:r>
              <a:rPr dirty="0" spc="-790"/>
              <a:t>/</a:t>
            </a:r>
            <a:r>
              <a:rPr dirty="0" spc="-1055"/>
              <a:t> </a:t>
            </a:r>
            <a:r>
              <a:rPr dirty="0" spc="-415"/>
              <a:t>Palate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35400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1576070"/>
                <a:gridCol w="1181100"/>
                <a:gridCol w="4123689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020"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450"/>
                        </a:lnSpc>
                      </a:pP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1460">
                        <a:lnSpc>
                          <a:spcPts val="1450"/>
                        </a:lnSpc>
                      </a:pPr>
                      <a:r>
                        <a:rPr dirty="0" sz="1500" spc="4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r>
                        <a:rPr dirty="0" sz="1500" spc="1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834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35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527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29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733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52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66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3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733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3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606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73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643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3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9733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57860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34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91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5303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3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81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7465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495425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2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76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3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1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10</a:t>
            </a:fld>
            <a:r>
              <a:rPr dirty="0"/>
              <a:t>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6222365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450"/>
              <a:t>Congenital</a:t>
            </a:r>
            <a:r>
              <a:rPr dirty="0" spc="-570"/>
              <a:t> </a:t>
            </a:r>
            <a:r>
              <a:rPr dirty="0" spc="-420"/>
              <a:t>Cataract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35400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1576070"/>
                <a:gridCol w="1181100"/>
                <a:gridCol w="1489075"/>
                <a:gridCol w="2634615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020"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450"/>
                        </a:lnSpc>
                      </a:pP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35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23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83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57860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3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7465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71755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3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0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6405245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450"/>
              <a:t>Congenital</a:t>
            </a:r>
            <a:r>
              <a:rPr dirty="0" spc="-570"/>
              <a:t> </a:t>
            </a:r>
            <a:r>
              <a:rPr dirty="0" spc="-545"/>
              <a:t>D</a:t>
            </a:r>
            <a:r>
              <a:rPr dirty="0" spc="-530"/>
              <a:t>e</a:t>
            </a:r>
            <a:r>
              <a:rPr dirty="0" spc="-415"/>
              <a:t>a</a:t>
            </a:r>
            <a:r>
              <a:rPr dirty="0" spc="-735"/>
              <a:t>f</a:t>
            </a:r>
            <a:r>
              <a:rPr dirty="0" spc="-425"/>
              <a:t>n</a:t>
            </a:r>
            <a:r>
              <a:rPr dirty="0" spc="-530"/>
              <a:t>e</a:t>
            </a:r>
            <a:r>
              <a:rPr dirty="0" spc="-505"/>
              <a:t>s</a:t>
            </a:r>
            <a:r>
              <a:rPr dirty="0" spc="-195"/>
              <a:t>s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53815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1635124"/>
                <a:gridCol w="1139825"/>
                <a:gridCol w="1513840"/>
                <a:gridCol w="2609850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3405" marR="12065"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643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177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366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177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177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366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16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8897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393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81610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45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32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4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62170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90539"/>
            <a:ext cx="5982970" cy="1751330"/>
          </a:xfrm>
          <a:prstGeom prst="rect"/>
        </p:spPr>
        <p:txBody>
          <a:bodyPr wrap="square" lIns="0" tIns="442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dirty="0" spc="-409"/>
              <a:t>Neural</a:t>
            </a:r>
            <a:r>
              <a:rPr dirty="0" spc="-575"/>
              <a:t> </a:t>
            </a:r>
            <a:r>
              <a:rPr dirty="0" spc="-935"/>
              <a:t>T</a:t>
            </a:r>
            <a:r>
              <a:rPr dirty="0" spc="-425"/>
              <a:t>u</a:t>
            </a:r>
            <a:r>
              <a:rPr dirty="0" spc="-545"/>
              <a:t>b</a:t>
            </a:r>
            <a:r>
              <a:rPr dirty="0" spc="-204"/>
              <a:t>e</a:t>
            </a:r>
            <a:r>
              <a:rPr dirty="0" spc="-875"/>
              <a:t> </a:t>
            </a:r>
            <a:r>
              <a:rPr dirty="0" spc="-445"/>
              <a:t>D</a:t>
            </a:r>
            <a:r>
              <a:rPr dirty="0" spc="-430"/>
              <a:t>e</a:t>
            </a:r>
            <a:r>
              <a:rPr dirty="0" spc="-635"/>
              <a:t>f</a:t>
            </a:r>
            <a:r>
              <a:rPr dirty="0" spc="-430"/>
              <a:t>e</a:t>
            </a:r>
            <a:r>
              <a:rPr dirty="0" spc="-490"/>
              <a:t>c</a:t>
            </a:r>
            <a:r>
              <a:rPr dirty="0" spc="-95"/>
              <a:t>t</a:t>
            </a: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screening</a:t>
            </a:r>
            <a:r>
              <a:rPr dirty="0" sz="1850" spc="-9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outcomes</a:t>
            </a:r>
            <a:r>
              <a:rPr dirty="0" sz="1850" spc="-114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5" b="0">
                <a:solidFill>
                  <a:srgbClr val="9DB4D4"/>
                </a:solidFill>
                <a:latin typeface="Tahoma"/>
                <a:cs typeface="Tahoma"/>
              </a:rPr>
              <a:t>·</a:t>
            </a:r>
            <a:r>
              <a:rPr dirty="0" sz="1850" spc="-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in</a:t>
            </a:r>
            <a:r>
              <a:rPr dirty="0" sz="1850" spc="-7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387803"/>
          <a:ext cx="16535400" cy="54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/>
                <a:gridCol w="3184525"/>
                <a:gridCol w="2586990"/>
                <a:gridCol w="1578609"/>
                <a:gridCol w="1178559"/>
                <a:gridCol w="1489075"/>
                <a:gridCol w="2634615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8655">
                        <a:lnSpc>
                          <a:spcPts val="1450"/>
                        </a:lnSpc>
                      </a:pPr>
                      <a:r>
                        <a:rPr dirty="0" sz="1500" spc="-1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450"/>
                        </a:lnSpc>
                      </a:pPr>
                      <a:r>
                        <a:rPr dirty="0" sz="1500" spc="9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MGMT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SURGERY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450"/>
                        </a:lnSpc>
                      </a:pPr>
                      <a:r>
                        <a:rPr dirty="0" sz="1500" spc="3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DONE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643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55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1397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18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5240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177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2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Kuppam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896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32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351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1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659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36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2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19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3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1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r>
                        <a:rPr dirty="0" sz="21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Corporation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08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108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74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350" spc="-4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35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2250" spc="-409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250">
                        <a:latin typeface="Tahoma"/>
                        <a:cs typeface="Tahoma"/>
                      </a:endParaRPr>
                    </a:p>
                  </a:txBody>
                  <a:tcPr marL="0" marR="0" marB="0" marT="1092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0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DISTRICT</a:t>
                      </a:r>
                      <a:r>
                        <a:rPr dirty="0" sz="2000" spc="28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88975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393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85420">
                        <a:lnSpc>
                          <a:spcPts val="2985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ts val="3135"/>
                        </a:lnSpc>
                        <a:spcBef>
                          <a:spcPts val="935"/>
                        </a:spcBef>
                      </a:pPr>
                      <a:r>
                        <a:rPr dirty="0" sz="28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4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81220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32463"/>
            <a:ext cx="9877425" cy="1828164"/>
          </a:xfrm>
          <a:prstGeom prst="rect"/>
        </p:spPr>
        <p:txBody>
          <a:bodyPr wrap="square" lIns="0" tIns="501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44"/>
              </a:spcBef>
            </a:pPr>
            <a:r>
              <a:rPr dirty="0" spc="-475"/>
              <a:t>E</a:t>
            </a:r>
            <a:r>
              <a:rPr dirty="0" spc="-725"/>
              <a:t>x</a:t>
            </a:r>
            <a:r>
              <a:rPr dirty="0" spc="-520"/>
              <a:t>p</a:t>
            </a:r>
            <a:r>
              <a:rPr dirty="0" spc="-515"/>
              <a:t>e</a:t>
            </a:r>
            <a:r>
              <a:rPr dirty="0" spc="-575"/>
              <a:t>c</a:t>
            </a:r>
            <a:r>
              <a:rPr dirty="0" spc="-484"/>
              <a:t>t</a:t>
            </a:r>
            <a:r>
              <a:rPr dirty="0" spc="-515"/>
              <a:t>e</a:t>
            </a:r>
            <a:r>
              <a:rPr dirty="0" spc="-180"/>
              <a:t>d</a:t>
            </a:r>
            <a:r>
              <a:rPr dirty="0" spc="-750"/>
              <a:t> </a:t>
            </a:r>
            <a:r>
              <a:rPr dirty="0" spc="-625"/>
              <a:t>v</a:t>
            </a:r>
            <a:r>
              <a:rPr dirty="0" spc="-70"/>
              <a:t>s</a:t>
            </a:r>
            <a:r>
              <a:rPr dirty="0" spc="-835"/>
              <a:t> </a:t>
            </a:r>
            <a:r>
              <a:rPr dirty="0" spc="-570"/>
              <a:t>C</a:t>
            </a:r>
            <a:r>
              <a:rPr dirty="0" spc="-480"/>
              <a:t>o</a:t>
            </a:r>
            <a:r>
              <a:rPr dirty="0" spc="-365"/>
              <a:t>n</a:t>
            </a:r>
            <a:r>
              <a:rPr dirty="0" spc="-675"/>
              <a:t>f</a:t>
            </a:r>
            <a:r>
              <a:rPr dirty="0" spc="-200"/>
              <a:t>i</a:t>
            </a:r>
            <a:r>
              <a:rPr dirty="0" spc="-530"/>
              <a:t>rm</a:t>
            </a:r>
            <a:r>
              <a:rPr dirty="0" spc="-470"/>
              <a:t>e</a:t>
            </a:r>
            <a:r>
              <a:rPr dirty="0" spc="-135"/>
              <a:t>d</a:t>
            </a:r>
            <a:r>
              <a:rPr dirty="0" spc="-750"/>
              <a:t> </a:t>
            </a:r>
            <a:r>
              <a:rPr dirty="0" spc="-225"/>
              <a:t>by</a:t>
            </a:r>
            <a:r>
              <a:rPr dirty="0" spc="-1145"/>
              <a:t> </a:t>
            </a:r>
            <a:r>
              <a:rPr dirty="0" spc="-360"/>
              <a:t>Block</a:t>
            </a: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All</a:t>
            </a:r>
            <a:r>
              <a:rPr dirty="0" sz="1850" spc="-4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conditions</a:t>
            </a:r>
            <a:r>
              <a:rPr dirty="0" sz="1850" spc="-12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0" b="0">
                <a:solidFill>
                  <a:srgbClr val="9DB4D4"/>
                </a:solidFill>
                <a:latin typeface="Tahoma"/>
                <a:cs typeface="Tahoma"/>
              </a:rPr>
              <a:t>combined,</a:t>
            </a:r>
            <a:r>
              <a:rPr dirty="0" sz="1850" spc="-6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0" b="0">
                <a:solidFill>
                  <a:srgbClr val="9DB4D4"/>
                </a:solidFill>
                <a:latin typeface="Tahoma"/>
                <a:cs typeface="Tahoma"/>
              </a:rPr>
              <a:t>by</a:t>
            </a:r>
            <a:r>
              <a:rPr dirty="0" sz="1850" spc="-21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block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399" y="2314570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257174"/>
                </a:moveTo>
                <a:lnTo>
                  <a:pt x="0" y="257174"/>
                </a:lnTo>
                <a:lnTo>
                  <a:pt x="0" y="0"/>
                </a:lnTo>
                <a:lnTo>
                  <a:pt x="257174" y="0"/>
                </a:lnTo>
                <a:lnTo>
                  <a:pt x="257174" y="2571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05099" y="2314570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257174"/>
                </a:moveTo>
                <a:lnTo>
                  <a:pt x="0" y="257174"/>
                </a:lnTo>
                <a:lnTo>
                  <a:pt x="0" y="0"/>
                </a:lnTo>
                <a:lnTo>
                  <a:pt x="257174" y="0"/>
                </a:lnTo>
                <a:lnTo>
                  <a:pt x="257174" y="2571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67370" y="2290548"/>
            <a:ext cx="308800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799589" algn="l"/>
              </a:tabLst>
            </a:pPr>
            <a:r>
              <a:rPr dirty="0" sz="1550" spc="-10" b="1">
                <a:solidFill>
                  <a:srgbClr val="FFFFFF"/>
                </a:solidFill>
                <a:latin typeface="Tahoma"/>
                <a:cs typeface="Tahoma"/>
              </a:rPr>
              <a:t>EXPECTED</a:t>
            </a:r>
            <a:r>
              <a:rPr dirty="0" sz="155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1500" spc="55" b="1">
                <a:solidFill>
                  <a:srgbClr val="F5A623"/>
                </a:solidFill>
                <a:latin typeface="Tahoma"/>
                <a:cs typeface="Tahoma"/>
              </a:rPr>
              <a:t>CONFIRMED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14399" y="4552944"/>
            <a:ext cx="16459200" cy="4543425"/>
            <a:chOff x="914399" y="4552944"/>
            <a:chExt cx="16459200" cy="4543425"/>
          </a:xfrm>
        </p:grpSpPr>
        <p:sp>
          <p:nvSpPr>
            <p:cNvPr id="11" name="object 11"/>
            <p:cNvSpPr/>
            <p:nvPr/>
          </p:nvSpPr>
          <p:spPr>
            <a:xfrm>
              <a:off x="914387" y="6791324"/>
              <a:ext cx="16459200" cy="2305050"/>
            </a:xfrm>
            <a:custGeom>
              <a:avLst/>
              <a:gdLst/>
              <a:ahLst/>
              <a:cxnLst/>
              <a:rect l="l" t="t" r="r" b="b"/>
              <a:pathLst>
                <a:path w="16459200" h="2305050">
                  <a:moveTo>
                    <a:pt x="16459200" y="2286000"/>
                  </a:moveTo>
                  <a:lnTo>
                    <a:pt x="981075" y="2286000"/>
                  </a:lnTo>
                  <a:lnTo>
                    <a:pt x="981075" y="0"/>
                  </a:lnTo>
                  <a:lnTo>
                    <a:pt x="438150" y="0"/>
                  </a:lnTo>
                  <a:lnTo>
                    <a:pt x="438150" y="2286000"/>
                  </a:lnTo>
                  <a:lnTo>
                    <a:pt x="0" y="2286000"/>
                  </a:lnTo>
                  <a:lnTo>
                    <a:pt x="0" y="2305050"/>
                  </a:lnTo>
                  <a:lnTo>
                    <a:pt x="16459200" y="2305050"/>
                  </a:lnTo>
                  <a:lnTo>
                    <a:pt x="16459200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90724" y="7477119"/>
              <a:ext cx="542925" cy="1600200"/>
            </a:xfrm>
            <a:custGeom>
              <a:avLst/>
              <a:gdLst/>
              <a:ahLst/>
              <a:cxnLst/>
              <a:rect l="l" t="t" r="r" b="b"/>
              <a:pathLst>
                <a:path w="542925" h="1600200">
                  <a:moveTo>
                    <a:pt x="542924" y="1600199"/>
                  </a:moveTo>
                  <a:lnTo>
                    <a:pt x="0" y="160019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60019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09949" y="6162669"/>
              <a:ext cx="542925" cy="2914650"/>
            </a:xfrm>
            <a:custGeom>
              <a:avLst/>
              <a:gdLst/>
              <a:ahLst/>
              <a:cxnLst/>
              <a:rect l="l" t="t" r="r" b="b"/>
              <a:pathLst>
                <a:path w="542925" h="2914650">
                  <a:moveTo>
                    <a:pt x="542924" y="2914649"/>
                  </a:moveTo>
                  <a:lnTo>
                    <a:pt x="0" y="291464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2914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048124" y="7724769"/>
              <a:ext cx="542925" cy="1352550"/>
            </a:xfrm>
            <a:custGeom>
              <a:avLst/>
              <a:gdLst/>
              <a:ahLst/>
              <a:cxnLst/>
              <a:rect l="l" t="t" r="r" b="b"/>
              <a:pathLst>
                <a:path w="542925" h="1352550">
                  <a:moveTo>
                    <a:pt x="542924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35254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67349" y="7734294"/>
              <a:ext cx="542925" cy="1343025"/>
            </a:xfrm>
            <a:custGeom>
              <a:avLst/>
              <a:gdLst/>
              <a:ahLst/>
              <a:cxnLst/>
              <a:rect l="l" t="t" r="r" b="b"/>
              <a:pathLst>
                <a:path w="542925" h="1343025">
                  <a:moveTo>
                    <a:pt x="542924" y="1343024"/>
                  </a:moveTo>
                  <a:lnTo>
                    <a:pt x="0" y="134302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343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05524" y="7972419"/>
              <a:ext cx="542925" cy="1104900"/>
            </a:xfrm>
            <a:custGeom>
              <a:avLst/>
              <a:gdLst/>
              <a:ahLst/>
              <a:cxnLst/>
              <a:rect l="l" t="t" r="r" b="b"/>
              <a:pathLst>
                <a:path w="542925" h="1104900">
                  <a:moveTo>
                    <a:pt x="542924" y="1104899"/>
                  </a:moveTo>
                  <a:lnTo>
                    <a:pt x="0" y="110489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10489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524749" y="8086719"/>
              <a:ext cx="542925" cy="990600"/>
            </a:xfrm>
            <a:custGeom>
              <a:avLst/>
              <a:gdLst/>
              <a:ahLst/>
              <a:cxnLst/>
              <a:rect l="l" t="t" r="r" b="b"/>
              <a:pathLst>
                <a:path w="542925" h="990600">
                  <a:moveTo>
                    <a:pt x="5429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99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162924" y="7353294"/>
              <a:ext cx="542925" cy="1724025"/>
            </a:xfrm>
            <a:custGeom>
              <a:avLst/>
              <a:gdLst/>
              <a:ahLst/>
              <a:cxnLst/>
              <a:rect l="l" t="t" r="r" b="b"/>
              <a:pathLst>
                <a:path w="542925" h="1724025">
                  <a:moveTo>
                    <a:pt x="542924" y="1724024"/>
                  </a:moveTo>
                  <a:lnTo>
                    <a:pt x="0" y="172402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724024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582149" y="7581894"/>
              <a:ext cx="542925" cy="1495425"/>
            </a:xfrm>
            <a:custGeom>
              <a:avLst/>
              <a:gdLst/>
              <a:ahLst/>
              <a:cxnLst/>
              <a:rect l="l" t="t" r="r" b="b"/>
              <a:pathLst>
                <a:path w="542925" h="1495425">
                  <a:moveTo>
                    <a:pt x="542924" y="1495424"/>
                  </a:moveTo>
                  <a:lnTo>
                    <a:pt x="0" y="149542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49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220324" y="8220069"/>
              <a:ext cx="542925" cy="857250"/>
            </a:xfrm>
            <a:custGeom>
              <a:avLst/>
              <a:gdLst/>
              <a:ahLst/>
              <a:cxnLst/>
              <a:rect l="l" t="t" r="r" b="b"/>
              <a:pathLst>
                <a:path w="542925" h="857250">
                  <a:moveTo>
                    <a:pt x="542924" y="857249"/>
                  </a:moveTo>
                  <a:lnTo>
                    <a:pt x="0" y="85724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85724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639549" y="7048494"/>
              <a:ext cx="542925" cy="2028825"/>
            </a:xfrm>
            <a:custGeom>
              <a:avLst/>
              <a:gdLst/>
              <a:ahLst/>
              <a:cxnLst/>
              <a:rect l="l" t="t" r="r" b="b"/>
              <a:pathLst>
                <a:path w="542925" h="2028825">
                  <a:moveTo>
                    <a:pt x="542924" y="2028824"/>
                  </a:moveTo>
                  <a:lnTo>
                    <a:pt x="0" y="202882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2028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277724" y="7648569"/>
              <a:ext cx="542925" cy="1428750"/>
            </a:xfrm>
            <a:custGeom>
              <a:avLst/>
              <a:gdLst/>
              <a:ahLst/>
              <a:cxnLst/>
              <a:rect l="l" t="t" r="r" b="b"/>
              <a:pathLst>
                <a:path w="542925" h="1428750">
                  <a:moveTo>
                    <a:pt x="542924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42874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696949" y="8296269"/>
              <a:ext cx="542925" cy="781050"/>
            </a:xfrm>
            <a:custGeom>
              <a:avLst/>
              <a:gdLst/>
              <a:ahLst/>
              <a:cxnLst/>
              <a:rect l="l" t="t" r="r" b="b"/>
              <a:pathLst>
                <a:path w="542925" h="781050">
                  <a:moveTo>
                    <a:pt x="542924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781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335123" y="8515344"/>
              <a:ext cx="542925" cy="561975"/>
            </a:xfrm>
            <a:custGeom>
              <a:avLst/>
              <a:gdLst/>
              <a:ahLst/>
              <a:cxnLst/>
              <a:rect l="l" t="t" r="r" b="b"/>
              <a:pathLst>
                <a:path w="542925" h="561975">
                  <a:moveTo>
                    <a:pt x="542924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561974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754348" y="4552944"/>
              <a:ext cx="542925" cy="4524375"/>
            </a:xfrm>
            <a:custGeom>
              <a:avLst/>
              <a:gdLst/>
              <a:ahLst/>
              <a:cxnLst/>
              <a:rect l="l" t="t" r="r" b="b"/>
              <a:pathLst>
                <a:path w="542925" h="4524375">
                  <a:moveTo>
                    <a:pt x="542924" y="4524374"/>
                  </a:moveTo>
                  <a:lnTo>
                    <a:pt x="0" y="452437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4524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6392523" y="8582019"/>
              <a:ext cx="542925" cy="495300"/>
            </a:xfrm>
            <a:custGeom>
              <a:avLst/>
              <a:gdLst/>
              <a:ahLst/>
              <a:cxnLst/>
              <a:rect l="l" t="t" r="r" b="b"/>
              <a:pathLst>
                <a:path w="542925" h="495300">
                  <a:moveTo>
                    <a:pt x="542924" y="495299"/>
                  </a:moveTo>
                  <a:lnTo>
                    <a:pt x="0" y="49529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49529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449685" y="6472023"/>
            <a:ext cx="34988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25" b="1">
                <a:solidFill>
                  <a:srgbClr val="FFFFFF"/>
                </a:solidFill>
                <a:latin typeface="Tahoma"/>
                <a:cs typeface="Tahoma"/>
              </a:rPr>
              <a:t>302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9645" y="7168082"/>
            <a:ext cx="33147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130" b="1">
                <a:solidFill>
                  <a:srgbClr val="F5A623"/>
                </a:solidFill>
                <a:latin typeface="Tahoma"/>
                <a:cs typeface="Tahoma"/>
              </a:rPr>
              <a:t>211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7084" y="5843373"/>
            <a:ext cx="35433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14" b="1">
                <a:solidFill>
                  <a:srgbClr val="FFFFFF"/>
                </a:solidFill>
                <a:latin typeface="Tahoma"/>
                <a:cs typeface="Tahoma"/>
              </a:rPr>
              <a:t>384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47045" y="7415732"/>
            <a:ext cx="35052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0" b="1">
                <a:solidFill>
                  <a:srgbClr val="F5A623"/>
                </a:solidFill>
                <a:latin typeface="Tahoma"/>
                <a:cs typeface="Tahoma"/>
              </a:rPr>
              <a:t>179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4485" y="7414998"/>
            <a:ext cx="35052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25" b="1">
                <a:solidFill>
                  <a:srgbClr val="FFFFFF"/>
                </a:solidFill>
                <a:latin typeface="Tahoma"/>
                <a:cs typeface="Tahoma"/>
              </a:rPr>
              <a:t>178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04446" y="7663382"/>
            <a:ext cx="35115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5" b="1">
                <a:solidFill>
                  <a:srgbClr val="F5A623"/>
                </a:solidFill>
                <a:latin typeface="Tahoma"/>
                <a:cs typeface="Tahoma"/>
              </a:rPr>
              <a:t>146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21884" y="7767423"/>
            <a:ext cx="33147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75" b="1">
                <a:solidFill>
                  <a:srgbClr val="FFFFFF"/>
                </a:solidFill>
                <a:latin typeface="Tahoma"/>
                <a:cs typeface="Tahoma"/>
              </a:rPr>
              <a:t>131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61845" y="7044257"/>
            <a:ext cx="35052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0" b="1">
                <a:solidFill>
                  <a:srgbClr val="F5A623"/>
                </a:solidFill>
                <a:latin typeface="Tahoma"/>
                <a:cs typeface="Tahoma"/>
              </a:rPr>
              <a:t>228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79284" y="7262598"/>
            <a:ext cx="35052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25" b="1">
                <a:solidFill>
                  <a:srgbClr val="FFFFFF"/>
                </a:solidFill>
                <a:latin typeface="Tahoma"/>
                <a:cs typeface="Tahoma"/>
              </a:rPr>
              <a:t>198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319246" y="7911032"/>
            <a:ext cx="35433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0" b="1">
                <a:solidFill>
                  <a:srgbClr val="F5A623"/>
                </a:solidFill>
                <a:latin typeface="Tahoma"/>
                <a:cs typeface="Tahoma"/>
              </a:rPr>
              <a:t>114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36685" y="6729198"/>
            <a:ext cx="35052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25" b="1">
                <a:solidFill>
                  <a:srgbClr val="FFFFFF"/>
                </a:solidFill>
                <a:latin typeface="Tahoma"/>
                <a:cs typeface="Tahoma"/>
              </a:rPr>
              <a:t>268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376646" y="7339532"/>
            <a:ext cx="35052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0" b="1">
                <a:solidFill>
                  <a:srgbClr val="F5A623"/>
                </a:solidFill>
                <a:latin typeface="Tahoma"/>
                <a:cs typeface="Tahoma"/>
              </a:rPr>
              <a:t>189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794083" y="7976973"/>
            <a:ext cx="34861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30" b="1">
                <a:solidFill>
                  <a:srgbClr val="FFFFFF"/>
                </a:solidFill>
                <a:latin typeface="Tahoma"/>
                <a:cs typeface="Tahoma"/>
              </a:rPr>
              <a:t>103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487622" y="8206307"/>
            <a:ext cx="24066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5" b="1">
                <a:solidFill>
                  <a:srgbClr val="F5A623"/>
                </a:solidFill>
                <a:latin typeface="Tahoma"/>
                <a:cs typeface="Tahoma"/>
              </a:rPr>
              <a:t>75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51483" y="4233648"/>
            <a:ext cx="35115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25" b="1">
                <a:solidFill>
                  <a:srgbClr val="FFFFFF"/>
                </a:solidFill>
                <a:latin typeface="Tahoma"/>
                <a:cs typeface="Tahoma"/>
              </a:rPr>
              <a:t>596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545024" y="8272982"/>
            <a:ext cx="24384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65" b="1">
                <a:solidFill>
                  <a:srgbClr val="F5A623"/>
                </a:solidFill>
                <a:latin typeface="Tahoma"/>
                <a:cs typeface="Tahoma"/>
              </a:rPr>
              <a:t>66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95090" y="9190272"/>
            <a:ext cx="69723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30" b="1">
                <a:solidFill>
                  <a:srgbClr val="FFFFFF"/>
                </a:solidFill>
                <a:latin typeface="Tahoma"/>
                <a:cs typeface="Tahoma"/>
              </a:rPr>
              <a:t>Anaicut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52018" y="9190272"/>
            <a:ext cx="109855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40" b="1">
                <a:solidFill>
                  <a:srgbClr val="FFFFFF"/>
                </a:solidFill>
                <a:latin typeface="Tahoma"/>
                <a:cs typeface="Tahoma"/>
              </a:rPr>
              <a:t>Gudiyatham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06144" y="9190272"/>
            <a:ext cx="11049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45" b="1">
                <a:solidFill>
                  <a:srgbClr val="FFFFFF"/>
                </a:solidFill>
                <a:latin typeface="Tahoma"/>
                <a:cs typeface="Tahoma"/>
              </a:rPr>
              <a:t>K.V.</a:t>
            </a:r>
            <a:r>
              <a:rPr dirty="0" sz="1450" spc="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45" b="1">
                <a:solidFill>
                  <a:srgbClr val="FFFFFF"/>
                </a:solidFill>
                <a:latin typeface="Tahoma"/>
                <a:cs typeface="Tahoma"/>
              </a:rPr>
              <a:t>Kuppam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32885" y="9190272"/>
            <a:ext cx="11557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5" b="1">
                <a:solidFill>
                  <a:srgbClr val="FFFFFF"/>
                </a:solidFill>
                <a:latin typeface="Tahoma"/>
                <a:cs typeface="Tahoma"/>
              </a:rPr>
              <a:t>Kaniyambadi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823201" y="9190272"/>
            <a:ext cx="6896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5" b="1">
                <a:solidFill>
                  <a:srgbClr val="FFFFFF"/>
                </a:solidFill>
                <a:latin typeface="Tahoma"/>
                <a:cs typeface="Tahoma"/>
              </a:rPr>
              <a:t>Katpadi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727606" y="9190272"/>
            <a:ext cx="100647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40" b="1">
                <a:solidFill>
                  <a:srgbClr val="FFFFFF"/>
                </a:solidFill>
                <a:latin typeface="Tahoma"/>
                <a:cs typeface="Tahoma"/>
              </a:rPr>
              <a:t>Pernambut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972975" y="9190272"/>
            <a:ext cx="63055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 b="1">
                <a:solidFill>
                  <a:srgbClr val="FFFFFF"/>
                </a:solidFill>
                <a:latin typeface="Tahoma"/>
                <a:cs typeface="Tahoma"/>
              </a:rPr>
              <a:t>Vellore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485366" y="9190272"/>
            <a:ext cx="171513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60" b="1">
                <a:solidFill>
                  <a:srgbClr val="FFFFFF"/>
                </a:solidFill>
                <a:latin typeface="Tahoma"/>
                <a:cs typeface="Tahoma"/>
              </a:rPr>
              <a:t>Vellore</a:t>
            </a:r>
            <a:r>
              <a:rPr dirty="0" sz="145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40" b="1">
                <a:solidFill>
                  <a:srgbClr val="FFFFFF"/>
                </a:solidFill>
                <a:latin typeface="Tahoma"/>
                <a:cs typeface="Tahoma"/>
              </a:rPr>
              <a:t>Corporation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5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5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81219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2487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31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265" b="1">
                <a:solidFill>
                  <a:srgbClr val="F5A623"/>
                </a:solidFill>
                <a:latin typeface="Tahoma"/>
                <a:cs typeface="Tahoma"/>
              </a:rPr>
              <a:t>1</a:t>
            </a:r>
            <a:r>
              <a:rPr dirty="0" sz="1650" spc="16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–</a:t>
            </a:r>
            <a:r>
              <a:rPr dirty="0" sz="150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0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32463"/>
            <a:ext cx="10266045" cy="1828164"/>
          </a:xfrm>
          <a:prstGeom prst="rect"/>
        </p:spPr>
        <p:txBody>
          <a:bodyPr wrap="square" lIns="0" tIns="501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44"/>
              </a:spcBef>
            </a:pPr>
            <a:r>
              <a:rPr dirty="0" spc="-420"/>
              <a:t>Medical</a:t>
            </a:r>
            <a:r>
              <a:rPr dirty="0" spc="-585"/>
              <a:t> </a:t>
            </a:r>
            <a:r>
              <a:rPr dirty="0" spc="-625"/>
              <a:t>v</a:t>
            </a:r>
            <a:r>
              <a:rPr dirty="0" spc="-70"/>
              <a:t>s</a:t>
            </a:r>
            <a:r>
              <a:rPr dirty="0" spc="-840"/>
              <a:t> </a:t>
            </a:r>
            <a:r>
              <a:rPr dirty="0" spc="-475"/>
              <a:t>Surgical</a:t>
            </a:r>
            <a:r>
              <a:rPr dirty="0" spc="-585"/>
              <a:t> </a:t>
            </a:r>
            <a:r>
              <a:rPr dirty="0" spc="-430"/>
              <a:t>Management</a:t>
            </a: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Children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5" b="0">
                <a:solidFill>
                  <a:srgbClr val="9DB4D4"/>
                </a:solidFill>
                <a:latin typeface="Tahoma"/>
                <a:cs typeface="Tahoma"/>
              </a:rPr>
              <a:t>medically</a:t>
            </a:r>
            <a:r>
              <a:rPr dirty="0" sz="1850" spc="-2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managed</a:t>
            </a: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and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surgery</a:t>
            </a:r>
            <a:r>
              <a:rPr dirty="0" sz="1850" spc="-2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done,</a:t>
            </a:r>
            <a:r>
              <a:rPr dirty="0" sz="1850" spc="-2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0" b="0">
                <a:solidFill>
                  <a:srgbClr val="9DB4D4"/>
                </a:solidFill>
                <a:latin typeface="Tahoma"/>
                <a:cs typeface="Tahoma"/>
              </a:rPr>
              <a:t>by</a:t>
            </a:r>
            <a:r>
              <a:rPr dirty="0" sz="1850" spc="-2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condition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399" y="2314569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257174"/>
                </a:moveTo>
                <a:lnTo>
                  <a:pt x="0" y="257174"/>
                </a:lnTo>
                <a:lnTo>
                  <a:pt x="0" y="0"/>
                </a:lnTo>
                <a:lnTo>
                  <a:pt x="257174" y="0"/>
                </a:lnTo>
                <a:lnTo>
                  <a:pt x="257174" y="2571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38599" y="2314569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257174" y="257174"/>
                </a:moveTo>
                <a:lnTo>
                  <a:pt x="0" y="257174"/>
                </a:lnTo>
                <a:lnTo>
                  <a:pt x="0" y="0"/>
                </a:lnTo>
                <a:lnTo>
                  <a:pt x="257174" y="0"/>
                </a:lnTo>
                <a:lnTo>
                  <a:pt x="257174" y="2571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67370" y="2290548"/>
            <a:ext cx="477647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134360" algn="l"/>
              </a:tabLst>
            </a:pPr>
            <a:r>
              <a:rPr dirty="0" sz="1550" spc="50" b="1">
                <a:solidFill>
                  <a:srgbClr val="FFFFFF"/>
                </a:solidFill>
                <a:latin typeface="Tahoma"/>
                <a:cs typeface="Tahoma"/>
              </a:rPr>
              <a:t>MEDICALLY</a:t>
            </a:r>
            <a:r>
              <a:rPr dirty="0" sz="1550" spc="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45" b="1">
                <a:solidFill>
                  <a:srgbClr val="FFFFFF"/>
                </a:solidFill>
                <a:latin typeface="Tahoma"/>
                <a:cs typeface="Tahoma"/>
              </a:rPr>
              <a:t>MANAGED</a:t>
            </a:r>
            <a:r>
              <a:rPr dirty="0" sz="155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1500" spc="45" b="1">
                <a:solidFill>
                  <a:srgbClr val="F5A623"/>
                </a:solidFill>
                <a:latin typeface="Tahoma"/>
                <a:cs typeface="Tahoma"/>
              </a:rPr>
              <a:t>SURGERY</a:t>
            </a:r>
            <a:r>
              <a:rPr dirty="0" sz="1500" spc="1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500" spc="35" b="1">
                <a:solidFill>
                  <a:srgbClr val="F5A623"/>
                </a:solidFill>
                <a:latin typeface="Tahoma"/>
                <a:cs typeface="Tahoma"/>
              </a:rPr>
              <a:t>DONE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14399" y="4552944"/>
            <a:ext cx="16459200" cy="4543425"/>
            <a:chOff x="914399" y="4552944"/>
            <a:chExt cx="16459200" cy="4543425"/>
          </a:xfrm>
        </p:grpSpPr>
        <p:sp>
          <p:nvSpPr>
            <p:cNvPr id="11" name="object 11"/>
            <p:cNvSpPr/>
            <p:nvPr/>
          </p:nvSpPr>
          <p:spPr>
            <a:xfrm>
              <a:off x="914387" y="4552949"/>
              <a:ext cx="16459200" cy="4543425"/>
            </a:xfrm>
            <a:custGeom>
              <a:avLst/>
              <a:gdLst/>
              <a:ahLst/>
              <a:cxnLst/>
              <a:rect l="l" t="t" r="r" b="b"/>
              <a:pathLst>
                <a:path w="16459200" h="4543425">
                  <a:moveTo>
                    <a:pt x="16459200" y="4524375"/>
                  </a:moveTo>
                  <a:lnTo>
                    <a:pt x="1133475" y="4524375"/>
                  </a:lnTo>
                  <a:lnTo>
                    <a:pt x="1133475" y="0"/>
                  </a:lnTo>
                  <a:lnTo>
                    <a:pt x="542925" y="0"/>
                  </a:lnTo>
                  <a:lnTo>
                    <a:pt x="542925" y="4524375"/>
                  </a:lnTo>
                  <a:lnTo>
                    <a:pt x="0" y="4524375"/>
                  </a:lnTo>
                  <a:lnTo>
                    <a:pt x="0" y="4543425"/>
                  </a:lnTo>
                  <a:lnTo>
                    <a:pt x="16459200" y="4543425"/>
                  </a:lnTo>
                  <a:lnTo>
                    <a:pt x="16459200" y="45243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33599" y="6572244"/>
              <a:ext cx="590550" cy="2505075"/>
            </a:xfrm>
            <a:custGeom>
              <a:avLst/>
              <a:gdLst/>
              <a:ahLst/>
              <a:cxnLst/>
              <a:rect l="l" t="t" r="r" b="b"/>
              <a:pathLst>
                <a:path w="590550" h="2505075">
                  <a:moveTo>
                    <a:pt x="590549" y="2505074"/>
                  </a:moveTo>
                  <a:lnTo>
                    <a:pt x="0" y="2505074"/>
                  </a:lnTo>
                  <a:lnTo>
                    <a:pt x="0" y="0"/>
                  </a:lnTo>
                  <a:lnTo>
                    <a:pt x="590549" y="0"/>
                  </a:lnTo>
                  <a:lnTo>
                    <a:pt x="590549" y="2505074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09999" y="7267569"/>
              <a:ext cx="581025" cy="1809750"/>
            </a:xfrm>
            <a:custGeom>
              <a:avLst/>
              <a:gdLst/>
              <a:ahLst/>
              <a:cxnLst/>
              <a:rect l="l" t="t" r="r" b="b"/>
              <a:pathLst>
                <a:path w="581025" h="1809750">
                  <a:moveTo>
                    <a:pt x="581024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86274" y="8905869"/>
              <a:ext cx="590550" cy="171450"/>
            </a:xfrm>
            <a:custGeom>
              <a:avLst/>
              <a:gdLst/>
              <a:ahLst/>
              <a:cxnLst/>
              <a:rect l="l" t="t" r="r" b="b"/>
              <a:pathLst>
                <a:path w="590550" h="171450">
                  <a:moveTo>
                    <a:pt x="59054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90549" y="0"/>
                  </a:lnTo>
                  <a:lnTo>
                    <a:pt x="590549" y="17144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62674" y="8191494"/>
              <a:ext cx="581025" cy="885825"/>
            </a:xfrm>
            <a:custGeom>
              <a:avLst/>
              <a:gdLst/>
              <a:ahLst/>
              <a:cxnLst/>
              <a:rect l="l" t="t" r="r" b="b"/>
              <a:pathLst>
                <a:path w="581025" h="885825">
                  <a:moveTo>
                    <a:pt x="581024" y="885824"/>
                  </a:moveTo>
                  <a:lnTo>
                    <a:pt x="0" y="885824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88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38949" y="8924919"/>
              <a:ext cx="581025" cy="152400"/>
            </a:xfrm>
            <a:custGeom>
              <a:avLst/>
              <a:gdLst/>
              <a:ahLst/>
              <a:cxnLst/>
              <a:rect l="l" t="t" r="r" b="b"/>
              <a:pathLst>
                <a:path w="581025" h="152400">
                  <a:moveTo>
                    <a:pt x="581024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15239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515349" y="9048744"/>
              <a:ext cx="581025" cy="28575"/>
            </a:xfrm>
            <a:custGeom>
              <a:avLst/>
              <a:gdLst/>
              <a:ahLst/>
              <a:cxnLst/>
              <a:rect l="l" t="t" r="r" b="b"/>
              <a:pathLst>
                <a:path w="581025" h="28575">
                  <a:moveTo>
                    <a:pt x="58102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28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91624" y="8353419"/>
              <a:ext cx="581025" cy="723900"/>
            </a:xfrm>
            <a:custGeom>
              <a:avLst/>
              <a:gdLst/>
              <a:ahLst/>
              <a:cxnLst/>
              <a:rect l="l" t="t" r="r" b="b"/>
              <a:pathLst>
                <a:path w="581025" h="723900">
                  <a:moveTo>
                    <a:pt x="5810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72389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868024" y="9048744"/>
              <a:ext cx="581025" cy="28575"/>
            </a:xfrm>
            <a:custGeom>
              <a:avLst/>
              <a:gdLst/>
              <a:ahLst/>
              <a:cxnLst/>
              <a:rect l="l" t="t" r="r" b="b"/>
              <a:pathLst>
                <a:path w="581025" h="28575">
                  <a:moveTo>
                    <a:pt x="58102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28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544299" y="8991594"/>
              <a:ext cx="581025" cy="85725"/>
            </a:xfrm>
            <a:custGeom>
              <a:avLst/>
              <a:gdLst/>
              <a:ahLst/>
              <a:cxnLst/>
              <a:rect l="l" t="t" r="r" b="b"/>
              <a:pathLst>
                <a:path w="581025" h="85725">
                  <a:moveTo>
                    <a:pt x="581024" y="85724"/>
                  </a:moveTo>
                  <a:lnTo>
                    <a:pt x="0" y="85724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85724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211174" y="8772519"/>
              <a:ext cx="590550" cy="304800"/>
            </a:xfrm>
            <a:custGeom>
              <a:avLst/>
              <a:gdLst/>
              <a:ahLst/>
              <a:cxnLst/>
              <a:rect l="l" t="t" r="r" b="b"/>
              <a:pathLst>
                <a:path w="590550" h="304800">
                  <a:moveTo>
                    <a:pt x="590549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590549" y="0"/>
                  </a:lnTo>
                  <a:lnTo>
                    <a:pt x="590549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3896974" y="8953494"/>
              <a:ext cx="581025" cy="123825"/>
            </a:xfrm>
            <a:custGeom>
              <a:avLst/>
              <a:gdLst/>
              <a:ahLst/>
              <a:cxnLst/>
              <a:rect l="l" t="t" r="r" b="b"/>
              <a:pathLst>
                <a:path w="581025" h="123825">
                  <a:moveTo>
                    <a:pt x="581024" y="123824"/>
                  </a:moveTo>
                  <a:lnTo>
                    <a:pt x="0" y="123824"/>
                  </a:lnTo>
                  <a:lnTo>
                    <a:pt x="0" y="0"/>
                  </a:lnTo>
                  <a:lnTo>
                    <a:pt x="581024" y="0"/>
                  </a:lnTo>
                  <a:lnTo>
                    <a:pt x="581024" y="123824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563848" y="9039219"/>
              <a:ext cx="590550" cy="38100"/>
            </a:xfrm>
            <a:custGeom>
              <a:avLst/>
              <a:gdLst/>
              <a:ahLst/>
              <a:cxnLst/>
              <a:rect l="l" t="t" r="r" b="b"/>
              <a:pathLst>
                <a:path w="590550" h="38100">
                  <a:moveTo>
                    <a:pt x="5905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90549" y="0"/>
                  </a:lnTo>
                  <a:lnTo>
                    <a:pt x="590549" y="3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240123" y="9001119"/>
              <a:ext cx="590550" cy="76200"/>
            </a:xfrm>
            <a:custGeom>
              <a:avLst/>
              <a:gdLst/>
              <a:ahLst/>
              <a:cxnLst/>
              <a:rect l="l" t="t" r="r" b="b"/>
              <a:pathLst>
                <a:path w="590550" h="76200">
                  <a:moveTo>
                    <a:pt x="5905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590549" y="0"/>
                  </a:lnTo>
                  <a:lnTo>
                    <a:pt x="590549" y="7619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578272" y="4233648"/>
            <a:ext cx="34798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30" b="1">
                <a:solidFill>
                  <a:srgbClr val="FFFFFF"/>
                </a:solidFill>
                <a:latin typeface="Tahoma"/>
                <a:cs typeface="Tahoma"/>
              </a:rPr>
              <a:t>475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254845" y="6263207"/>
            <a:ext cx="34861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95" b="1">
                <a:solidFill>
                  <a:srgbClr val="F5A623"/>
                </a:solidFill>
                <a:latin typeface="Tahoma"/>
                <a:cs typeface="Tahoma"/>
              </a:rPr>
              <a:t>263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29607" y="6948273"/>
            <a:ext cx="34988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25" b="1">
                <a:solidFill>
                  <a:srgbClr val="FFFFFF"/>
                </a:solidFill>
                <a:latin typeface="Tahoma"/>
                <a:cs typeface="Tahoma"/>
              </a:rPr>
              <a:t>190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9758" y="8596832"/>
            <a:ext cx="24384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65" b="1">
                <a:solidFill>
                  <a:srgbClr val="F5A623"/>
                </a:solidFill>
                <a:latin typeface="Tahoma"/>
                <a:cs typeface="Tahoma"/>
              </a:rPr>
              <a:t>18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34521" y="7872198"/>
            <a:ext cx="24193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10" b="1">
                <a:solidFill>
                  <a:srgbClr val="FFFFFF"/>
                </a:solidFill>
                <a:latin typeface="Tahoma"/>
                <a:cs typeface="Tahoma"/>
              </a:rPr>
              <a:t>93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11093" y="8615882"/>
            <a:ext cx="24384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65" b="1">
                <a:solidFill>
                  <a:srgbClr val="F5A623"/>
                </a:solidFill>
                <a:latin typeface="Tahoma"/>
                <a:cs typeface="Tahoma"/>
              </a:rPr>
              <a:t>16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39435" y="8729448"/>
            <a:ext cx="13462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8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62429" y="8044382"/>
            <a:ext cx="24384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65" b="1">
                <a:solidFill>
                  <a:srgbClr val="F5A623"/>
                </a:solidFill>
                <a:latin typeface="Tahoma"/>
                <a:cs typeface="Tahoma"/>
              </a:rPr>
              <a:t>76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090771" y="8729448"/>
            <a:ext cx="13462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8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767343" y="8682557"/>
            <a:ext cx="13589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 b="1">
                <a:solidFill>
                  <a:srgbClr val="F5A623"/>
                </a:solidFill>
                <a:latin typeface="Tahoma"/>
                <a:cs typeface="Tahoma"/>
              </a:rPr>
              <a:t>9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388526" y="8453223"/>
            <a:ext cx="242570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14" b="1">
                <a:solidFill>
                  <a:srgbClr val="FFFFFF"/>
                </a:solidFill>
                <a:latin typeface="Tahoma"/>
                <a:cs typeface="Tahoma"/>
              </a:rPr>
              <a:t>32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065099" y="8644457"/>
            <a:ext cx="24193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0" b="1">
                <a:solidFill>
                  <a:srgbClr val="F5A623"/>
                </a:solidFill>
                <a:latin typeface="Tahoma"/>
                <a:cs typeface="Tahoma"/>
              </a:rPr>
              <a:t>13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793440" y="8719923"/>
            <a:ext cx="14033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5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470014" y="8692082"/>
            <a:ext cx="13652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 b="1">
                <a:solidFill>
                  <a:srgbClr val="F5A623"/>
                </a:solidFill>
                <a:latin typeface="Tahoma"/>
                <a:cs typeface="Tahoma"/>
              </a:rPr>
              <a:t>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91258" y="9190272"/>
            <a:ext cx="39814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70" b="1">
                <a:solidFill>
                  <a:srgbClr val="FFFFFF"/>
                </a:solidFill>
                <a:latin typeface="Tahoma"/>
                <a:cs typeface="Tahoma"/>
              </a:rPr>
              <a:t>CHD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40658" y="9190272"/>
            <a:ext cx="40195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90" b="1">
                <a:solidFill>
                  <a:srgbClr val="FFFFFF"/>
                </a:solidFill>
                <a:latin typeface="Tahoma"/>
                <a:cs typeface="Tahoma"/>
              </a:rPr>
              <a:t>RHD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70687" y="9190272"/>
            <a:ext cx="84518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65" b="1">
                <a:solidFill>
                  <a:srgbClr val="FFFFFF"/>
                </a:solidFill>
                <a:latin typeface="Tahoma"/>
                <a:cs typeface="Tahoma"/>
              </a:rPr>
              <a:t>Club</a:t>
            </a:r>
            <a:r>
              <a:rPr dirty="0" sz="145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30" b="1">
                <a:solidFill>
                  <a:srgbClr val="FFFFFF"/>
                </a:solidFill>
                <a:latin typeface="Tahoma"/>
                <a:cs typeface="Tahoma"/>
              </a:rPr>
              <a:t>Foot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926809" y="9190272"/>
            <a:ext cx="435609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35" b="1">
                <a:solidFill>
                  <a:srgbClr val="FFFFFF"/>
                </a:solidFill>
                <a:latin typeface="Tahoma"/>
                <a:cs typeface="Tahoma"/>
              </a:rPr>
              <a:t>Cleft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112202" y="9190272"/>
            <a:ext cx="76771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40" b="1">
                <a:solidFill>
                  <a:srgbClr val="FFFFFF"/>
                </a:solidFill>
                <a:latin typeface="Tahoma"/>
                <a:cs typeface="Tahoma"/>
              </a:rPr>
              <a:t>Cataract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437640" y="9190272"/>
            <a:ext cx="81915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5" b="1">
                <a:solidFill>
                  <a:srgbClr val="FFFFFF"/>
                </a:solidFill>
                <a:latin typeface="Tahoma"/>
                <a:cs typeface="Tahoma"/>
              </a:rPr>
              <a:t>Deafness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000164" y="9190272"/>
            <a:ext cx="39624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 b="1">
                <a:solidFill>
                  <a:srgbClr val="FFFFFF"/>
                </a:solidFill>
                <a:latin typeface="Tahoma"/>
                <a:cs typeface="Tahoma"/>
              </a:rPr>
              <a:t>NTD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5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82561" y="-2503068"/>
            <a:ext cx="5517515" cy="12135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9450" spc="-7640" b="1">
                <a:solidFill>
                  <a:srgbClr val="EDEFF1"/>
                </a:solidFill>
                <a:latin typeface="Tahoma"/>
                <a:cs typeface="Tahoma"/>
              </a:rPr>
              <a:t>2</a:t>
            </a:r>
            <a:endParaRPr sz="794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280" y="2773863"/>
            <a:ext cx="11744960" cy="4392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785"/>
              </a:lnSpc>
              <a:spcBef>
                <a:spcPts val="130"/>
              </a:spcBef>
              <a:tabLst>
                <a:tab pos="2178685" algn="l"/>
              </a:tabLst>
            </a:pP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S</a:t>
            </a:r>
            <a:r>
              <a:rPr dirty="0" sz="2350" spc="-30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spc="-280" b="1">
                <a:solidFill>
                  <a:srgbClr val="526578"/>
                </a:solidFill>
                <a:latin typeface="Tahoma"/>
                <a:cs typeface="Tahoma"/>
              </a:rPr>
              <a:t>E</a:t>
            </a:r>
            <a:r>
              <a:rPr dirty="0" sz="2350" spc="114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C</a:t>
            </a:r>
            <a:r>
              <a:rPr dirty="0" sz="2350" spc="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T</a:t>
            </a:r>
            <a:r>
              <a:rPr dirty="0" sz="2350" spc="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I</a:t>
            </a:r>
            <a:r>
              <a:rPr dirty="0" sz="2350" spc="50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O</a:t>
            </a:r>
            <a:r>
              <a:rPr dirty="0" sz="2350" spc="2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spc="-50" b="1">
                <a:solidFill>
                  <a:srgbClr val="526578"/>
                </a:solidFill>
                <a:latin typeface="Tahoma"/>
                <a:cs typeface="Tahoma"/>
              </a:rPr>
              <a:t>N</a:t>
            </a:r>
            <a:r>
              <a:rPr dirty="0" sz="2350" b="1">
                <a:solidFill>
                  <a:srgbClr val="526578"/>
                </a:solidFill>
                <a:latin typeface="Tahoma"/>
                <a:cs typeface="Tahoma"/>
              </a:rPr>
              <a:t>	0</a:t>
            </a:r>
            <a:r>
              <a:rPr dirty="0" sz="2350" spc="-75" b="1">
                <a:solidFill>
                  <a:srgbClr val="526578"/>
                </a:solidFill>
                <a:latin typeface="Tahoma"/>
                <a:cs typeface="Tahoma"/>
              </a:rPr>
              <a:t> </a:t>
            </a:r>
            <a:r>
              <a:rPr dirty="0" sz="2350" spc="-50" b="1">
                <a:solidFill>
                  <a:srgbClr val="526578"/>
                </a:solidFill>
                <a:latin typeface="Tahoma"/>
                <a:cs typeface="Tahoma"/>
              </a:rPr>
              <a:t>2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ts val="16995"/>
              </a:lnSpc>
            </a:pPr>
            <a:r>
              <a:rPr dirty="0" sz="14300" spc="-2210" b="1">
                <a:solidFill>
                  <a:srgbClr val="092540"/>
                </a:solidFill>
                <a:latin typeface="Tahoma"/>
                <a:cs typeface="Tahoma"/>
              </a:rPr>
              <a:t>A</a:t>
            </a:r>
            <a:r>
              <a:rPr dirty="0" sz="14300" spc="-2115" b="1">
                <a:solidFill>
                  <a:srgbClr val="092540"/>
                </a:solidFill>
                <a:latin typeface="Tahoma"/>
                <a:cs typeface="Tahoma"/>
              </a:rPr>
              <a:t>W</a:t>
            </a:r>
            <a:r>
              <a:rPr dirty="0" sz="14300" spc="-200" b="1">
                <a:solidFill>
                  <a:srgbClr val="092540"/>
                </a:solidFill>
                <a:latin typeface="Tahoma"/>
                <a:cs typeface="Tahoma"/>
              </a:rPr>
              <a:t>C</a:t>
            </a:r>
            <a:r>
              <a:rPr dirty="0" sz="14300" spc="-2450" b="1">
                <a:solidFill>
                  <a:srgbClr val="092540"/>
                </a:solidFill>
                <a:latin typeface="Tahoma"/>
                <a:cs typeface="Tahoma"/>
              </a:rPr>
              <a:t> </a:t>
            </a:r>
            <a:r>
              <a:rPr dirty="0" sz="14300" spc="-1550" b="1">
                <a:solidFill>
                  <a:srgbClr val="092540"/>
                </a:solidFill>
                <a:latin typeface="Tahoma"/>
                <a:cs typeface="Tahoma"/>
              </a:rPr>
              <a:t>S</a:t>
            </a:r>
            <a:r>
              <a:rPr dirty="0" sz="14300" spc="-1505" b="1">
                <a:solidFill>
                  <a:srgbClr val="092540"/>
                </a:solidFill>
                <a:latin typeface="Tahoma"/>
                <a:cs typeface="Tahoma"/>
              </a:rPr>
              <a:t>c</a:t>
            </a:r>
            <a:r>
              <a:rPr dirty="0" sz="14300" spc="-1764" b="1">
                <a:solidFill>
                  <a:srgbClr val="092540"/>
                </a:solidFill>
                <a:latin typeface="Tahoma"/>
                <a:cs typeface="Tahoma"/>
              </a:rPr>
              <a:t>r</a:t>
            </a:r>
            <a:r>
              <a:rPr dirty="0" sz="14300" spc="-1360" b="1">
                <a:solidFill>
                  <a:srgbClr val="092540"/>
                </a:solidFill>
                <a:latin typeface="Tahoma"/>
                <a:cs typeface="Tahoma"/>
              </a:rPr>
              <a:t>ee</a:t>
            </a:r>
            <a:r>
              <a:rPr dirty="0" sz="14300" spc="-1085" b="1">
                <a:solidFill>
                  <a:srgbClr val="092540"/>
                </a:solidFill>
                <a:latin typeface="Tahoma"/>
                <a:cs typeface="Tahoma"/>
              </a:rPr>
              <a:t>n</a:t>
            </a:r>
            <a:r>
              <a:rPr dirty="0" sz="14300" spc="-685" b="1">
                <a:solidFill>
                  <a:srgbClr val="092540"/>
                </a:solidFill>
                <a:latin typeface="Tahoma"/>
                <a:cs typeface="Tahoma"/>
              </a:rPr>
              <a:t>i</a:t>
            </a:r>
            <a:r>
              <a:rPr dirty="0" sz="14300" spc="-1085" b="1">
                <a:solidFill>
                  <a:srgbClr val="092540"/>
                </a:solidFill>
                <a:latin typeface="Tahoma"/>
                <a:cs typeface="Tahoma"/>
              </a:rPr>
              <a:t>n</a:t>
            </a:r>
            <a:r>
              <a:rPr dirty="0" sz="14300" spc="-525" b="1">
                <a:solidFill>
                  <a:srgbClr val="092540"/>
                </a:solidFill>
                <a:latin typeface="Tahoma"/>
                <a:cs typeface="Tahoma"/>
              </a:rPr>
              <a:t>g</a:t>
            </a:r>
            <a:endParaRPr sz="14300">
              <a:latin typeface="Tahoma"/>
              <a:cs typeface="Tahoma"/>
            </a:endParaRPr>
          </a:p>
          <a:p>
            <a:pPr marL="12700">
              <a:lnSpc>
                <a:spcPts val="7220"/>
              </a:lnSpc>
            </a:pPr>
            <a:r>
              <a:rPr dirty="0" sz="6250" spc="-95">
                <a:solidFill>
                  <a:srgbClr val="2D455C"/>
                </a:solidFill>
                <a:latin typeface="Tahoma"/>
                <a:cs typeface="Tahoma"/>
              </a:rPr>
              <a:t>Blindness</a:t>
            </a:r>
            <a:r>
              <a:rPr dirty="0" sz="6250" spc="-350">
                <a:solidFill>
                  <a:srgbClr val="2D455C"/>
                </a:solidFill>
                <a:latin typeface="Tahoma"/>
                <a:cs typeface="Tahoma"/>
              </a:rPr>
              <a:t> </a:t>
            </a:r>
            <a:r>
              <a:rPr dirty="0" sz="6250" spc="114">
                <a:solidFill>
                  <a:srgbClr val="2D455C"/>
                </a:solidFill>
                <a:latin typeface="Tahoma"/>
                <a:cs typeface="Tahoma"/>
              </a:rPr>
              <a:t>&amp;</a:t>
            </a:r>
            <a:endParaRPr sz="6250">
              <a:latin typeface="Tahoma"/>
              <a:cs typeface="Tahoma"/>
            </a:endParaRPr>
          </a:p>
          <a:p>
            <a:pPr marL="12700">
              <a:lnSpc>
                <a:spcPts val="7350"/>
              </a:lnSpc>
            </a:pPr>
            <a:r>
              <a:rPr dirty="0" sz="6250" spc="-100">
                <a:solidFill>
                  <a:srgbClr val="2D455C"/>
                </a:solidFill>
                <a:latin typeface="Tahoma"/>
                <a:cs typeface="Tahoma"/>
              </a:rPr>
              <a:t>Hearing</a:t>
            </a:r>
            <a:r>
              <a:rPr dirty="0" sz="6250" spc="-345">
                <a:solidFill>
                  <a:srgbClr val="2D455C"/>
                </a:solidFill>
                <a:latin typeface="Tahoma"/>
                <a:cs typeface="Tahoma"/>
              </a:rPr>
              <a:t> </a:t>
            </a:r>
            <a:r>
              <a:rPr dirty="0" sz="6250" spc="-35">
                <a:solidFill>
                  <a:srgbClr val="2D455C"/>
                </a:solidFill>
                <a:latin typeface="Tahoma"/>
                <a:cs typeface="Tahoma"/>
              </a:rPr>
              <a:t>Impairment</a:t>
            </a:r>
            <a:endParaRPr sz="62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6849" y="7480327"/>
            <a:ext cx="2190750" cy="28575"/>
          </a:xfrm>
          <a:custGeom>
            <a:avLst/>
            <a:gdLst/>
            <a:ahLst/>
            <a:cxnLst/>
            <a:rect l="l" t="t" r="r" b="b"/>
            <a:pathLst>
              <a:path w="2190750" h="28575">
                <a:moveTo>
                  <a:pt x="2190749" y="28574"/>
                </a:moveTo>
                <a:lnTo>
                  <a:pt x="0" y="28574"/>
                </a:lnTo>
                <a:lnTo>
                  <a:pt x="0" y="0"/>
                </a:lnTo>
                <a:lnTo>
                  <a:pt x="2190749" y="0"/>
                </a:lnTo>
                <a:lnTo>
                  <a:pt x="2190749" y="28574"/>
                </a:lnTo>
                <a:close/>
              </a:path>
            </a:pathLst>
          </a:custGeom>
          <a:solidFill>
            <a:srgbClr val="092540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5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5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343143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414751"/>
            <a:ext cx="522541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  <a:tab pos="339344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spc="1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1650" spc="-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W</a:t>
            </a:r>
            <a:r>
              <a:rPr dirty="0" sz="1650" spc="-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4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-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spc="9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7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spc="9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G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399" y="1000116"/>
          <a:ext cx="16535400" cy="7071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3045"/>
                <a:gridCol w="3589020"/>
                <a:gridCol w="1852929"/>
                <a:gridCol w="4432935"/>
              </a:tblGrid>
              <a:tr h="790575">
                <a:tc>
                  <a:txBody>
                    <a:bodyPr/>
                    <a:lstStyle/>
                    <a:p>
                      <a:pPr>
                        <a:lnSpc>
                          <a:spcPts val="5565"/>
                        </a:lnSpc>
                      </a:pPr>
                      <a:r>
                        <a:rPr dirty="0" sz="5700" spc="-4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Blindness</a:t>
                      </a:r>
                      <a:r>
                        <a:rPr dirty="0" sz="5700" spc="-844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5000" spc="9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5000" spc="-9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5700" spc="-8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5700" spc="-8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dirty="0" sz="5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57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1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850" spc="-5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Block-</a:t>
                      </a:r>
                      <a:r>
                        <a:rPr dirty="0" sz="1850" spc="-55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wise</a:t>
                      </a:r>
                      <a:r>
                        <a:rPr dirty="0" sz="1850" spc="-105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4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cases</a:t>
                      </a:r>
                      <a:r>
                        <a:rPr dirty="0" sz="1850" spc="-11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2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identi</a:t>
                      </a:r>
                      <a:r>
                        <a:rPr dirty="0" sz="1750" spc="-2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ﬁ</a:t>
                      </a:r>
                      <a:r>
                        <a:rPr dirty="0" sz="1850" spc="-2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ed</a:t>
                      </a:r>
                      <a:r>
                        <a:rPr dirty="0" sz="1850" spc="-5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4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1850" spc="-135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105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AWC</a:t>
                      </a:r>
                      <a:r>
                        <a:rPr dirty="0" sz="1850" spc="-16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3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850" spc="-55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6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RBSK</a:t>
                      </a:r>
                      <a:r>
                        <a:rPr dirty="0" sz="1850" spc="-21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50" spc="-1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con</a:t>
                      </a:r>
                      <a:r>
                        <a:rPr dirty="0" sz="1750" spc="-1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ﬁ</a:t>
                      </a:r>
                      <a:r>
                        <a:rPr dirty="0" sz="1850" spc="-10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rmed</a:t>
                      </a:r>
                      <a:endParaRPr sz="1850">
                        <a:latin typeface="Tahoma"/>
                        <a:cs typeface="Tahoma"/>
                      </a:endParaRPr>
                    </a:p>
                  </a:txBody>
                  <a:tcPr marL="0" marR="0" marB="0" marT="79375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47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57480">
                        <a:lnSpc>
                          <a:spcPct val="10000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BLINDNESS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r" marR="27940">
                        <a:lnSpc>
                          <a:spcPct val="100000"/>
                        </a:lnSpc>
                      </a:pPr>
                      <a:r>
                        <a:rPr dirty="0" sz="1500" spc="-2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RBSK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dirty="0" sz="15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918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75"/>
                        </a:spcBef>
                      </a:pPr>
                      <a:r>
                        <a:rPr dirty="0" sz="26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650">
                        <a:latin typeface="Tahoma"/>
                        <a:cs typeface="Tahoma"/>
                      </a:endParaRPr>
                    </a:p>
                  </a:txBody>
                  <a:tcPr marL="0" marR="0" marB="0" marT="263525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1450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dirty="0" sz="3000" spc="-6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38125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r>
                        <a:rPr dirty="0" sz="28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257175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26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650">
                        <a:latin typeface="Tahoma"/>
                        <a:cs typeface="Tahoma"/>
                      </a:endParaRPr>
                    </a:p>
                  </a:txBody>
                  <a:tcPr marL="0" marR="0" marB="0" marT="2012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3716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3000" spc="-3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1758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dirty="0" sz="28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949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26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650">
                        <a:latin typeface="Tahoma"/>
                        <a:cs typeface="Tahoma"/>
                      </a:endParaRPr>
                    </a:p>
                  </a:txBody>
                  <a:tcPr marL="0" marR="0" marB="0" marT="2012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145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3000" spc="-6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1758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dirty="0" sz="28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949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26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650">
                        <a:latin typeface="Tahoma"/>
                        <a:cs typeface="Tahoma"/>
                      </a:endParaRPr>
                    </a:p>
                  </a:txBody>
                  <a:tcPr marL="0" marR="0" marB="0" marT="2012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3652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3000" spc="-3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28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875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r>
                        <a:rPr dirty="0" sz="265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650">
                        <a:latin typeface="Tahoma"/>
                        <a:cs typeface="Tahoma"/>
                      </a:endParaRPr>
                    </a:p>
                  </a:txBody>
                  <a:tcPr marL="0" marR="0" marB="0" marT="2108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3843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3000" spc="-3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285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20447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550" spc="7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B="0" marT="28067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34620">
                        <a:lnSpc>
                          <a:spcPts val="3645"/>
                        </a:lnSpc>
                        <a:spcBef>
                          <a:spcPts val="1835"/>
                        </a:spcBef>
                      </a:pPr>
                      <a:r>
                        <a:rPr dirty="0" sz="3300" spc="-5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B="0" marT="2330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645"/>
                        </a:lnSpc>
                        <a:spcBef>
                          <a:spcPts val="1835"/>
                        </a:spcBef>
                      </a:pPr>
                      <a:r>
                        <a:rPr dirty="0" sz="330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B="0" marT="23304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6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6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181218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522541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00200" algn="l"/>
                <a:tab pos="2129790" algn="l"/>
                <a:tab pos="2543810" algn="l"/>
                <a:tab pos="3393440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O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0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2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500" spc="295" b="1">
                <a:solidFill>
                  <a:srgbClr val="F5A623"/>
                </a:solidFill>
                <a:latin typeface="Tahoma"/>
                <a:cs typeface="Tahoma"/>
              </a:rPr>
              <a:t>—</a:t>
            </a:r>
            <a:r>
              <a:rPr dirty="0" sz="150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spc="1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1650" spc="-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W</a:t>
            </a:r>
            <a:r>
              <a:rPr dirty="0" sz="1650" spc="-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S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C</a:t>
            </a:r>
            <a:r>
              <a:rPr dirty="0" sz="1650" spc="4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-2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8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spc="9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I</a:t>
            </a:r>
            <a:r>
              <a:rPr dirty="0" sz="1650" spc="7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N</a:t>
            </a:r>
            <a:r>
              <a:rPr dirty="0" sz="1650" spc="9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G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232463"/>
            <a:ext cx="8834120" cy="1828164"/>
          </a:xfrm>
          <a:prstGeom prst="rect"/>
        </p:spPr>
        <p:txBody>
          <a:bodyPr wrap="square" lIns="0" tIns="501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44"/>
              </a:spcBef>
            </a:pPr>
            <a:r>
              <a:rPr dirty="0" spc="-430"/>
              <a:t>Hearing</a:t>
            </a:r>
            <a:r>
              <a:rPr dirty="0" spc="-760"/>
              <a:t> </a:t>
            </a:r>
            <a:r>
              <a:rPr dirty="0" spc="-434"/>
              <a:t>Impairment</a:t>
            </a:r>
            <a:r>
              <a:rPr dirty="0" spc="-869"/>
              <a:t> </a:t>
            </a:r>
            <a:r>
              <a:rPr dirty="0" sz="5000" spc="910"/>
              <a:t>—</a:t>
            </a:r>
            <a:r>
              <a:rPr dirty="0" sz="5000" spc="-905"/>
              <a:t> </a:t>
            </a:r>
            <a:r>
              <a:rPr dirty="0" spc="-890"/>
              <a:t>A</a:t>
            </a:r>
            <a:r>
              <a:rPr dirty="0" spc="-860"/>
              <a:t>W</a:t>
            </a:r>
            <a:r>
              <a:rPr dirty="0" spc="-90"/>
              <a:t>C</a:t>
            </a:r>
            <a:endParaRPr sz="5000"/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Block-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wise</a:t>
            </a:r>
            <a:r>
              <a:rPr dirty="0" sz="1850" spc="-10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0" b="0">
                <a:solidFill>
                  <a:srgbClr val="9DB4D4"/>
                </a:solidFill>
                <a:latin typeface="Tahoma"/>
                <a:cs typeface="Tahoma"/>
              </a:rPr>
              <a:t>cases</a:t>
            </a:r>
            <a:r>
              <a:rPr dirty="0" sz="1850" spc="-1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identi</a:t>
            </a:r>
            <a:r>
              <a:rPr dirty="0" sz="1750" spc="-20" b="0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1850" spc="-20" b="0">
                <a:solidFill>
                  <a:srgbClr val="9DB4D4"/>
                </a:solidFill>
                <a:latin typeface="Tahoma"/>
                <a:cs typeface="Tahoma"/>
              </a:rPr>
              <a:t>ed</a:t>
            </a:r>
            <a:r>
              <a:rPr dirty="0" sz="1850" spc="-5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40" b="0">
                <a:solidFill>
                  <a:srgbClr val="9DB4D4"/>
                </a:solidFill>
                <a:latin typeface="Tahoma"/>
                <a:cs typeface="Tahoma"/>
              </a:rPr>
              <a:t>at</a:t>
            </a:r>
            <a:r>
              <a:rPr dirty="0" sz="1850" spc="-13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5" b="0">
                <a:solidFill>
                  <a:srgbClr val="9DB4D4"/>
                </a:solidFill>
                <a:latin typeface="Tahoma"/>
                <a:cs typeface="Tahoma"/>
              </a:rPr>
              <a:t>AWC</a:t>
            </a:r>
            <a:r>
              <a:rPr dirty="0" sz="1850" spc="-16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30" b="0">
                <a:solidFill>
                  <a:srgbClr val="9DB4D4"/>
                </a:solidFill>
                <a:latin typeface="Tahoma"/>
                <a:cs typeface="Tahoma"/>
              </a:rPr>
              <a:t>and</a:t>
            </a:r>
            <a:r>
              <a:rPr dirty="0" sz="1850" spc="-55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60" b="0">
                <a:solidFill>
                  <a:srgbClr val="9DB4D4"/>
                </a:solidFill>
                <a:latin typeface="Tahoma"/>
                <a:cs typeface="Tahoma"/>
              </a:rPr>
              <a:t>RBSK</a:t>
            </a:r>
            <a:r>
              <a:rPr dirty="0" sz="1850" spc="-210" b="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con</a:t>
            </a:r>
            <a:r>
              <a:rPr dirty="0" sz="1750" spc="-10" b="0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1850" spc="-10" b="0">
                <a:solidFill>
                  <a:srgbClr val="9DB4D4"/>
                </a:solidFill>
                <a:latin typeface="Tahoma"/>
                <a:cs typeface="Tahoma"/>
              </a:rPr>
              <a:t>rmed</a:t>
            </a:r>
            <a:endParaRPr sz="185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399" y="2464003"/>
          <a:ext cx="16535400" cy="6109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100"/>
                <a:gridCol w="3573779"/>
                <a:gridCol w="2430145"/>
                <a:gridCol w="1538604"/>
                <a:gridCol w="4434205"/>
              </a:tblGrid>
              <a:tr h="307340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r>
                        <a:rPr dirty="0" sz="1500" spc="6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BLOCK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HEARING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450"/>
                        </a:lnSpc>
                      </a:pPr>
                      <a:r>
                        <a:rPr dirty="0" sz="1500" spc="70" b="1">
                          <a:solidFill>
                            <a:srgbClr val="7D9ABF"/>
                          </a:solidFill>
                          <a:latin typeface="Tahoma"/>
                          <a:cs typeface="Tahoma"/>
                        </a:rPr>
                        <a:t>IMPAIRMENT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ts val="1450"/>
                        </a:lnSpc>
                      </a:pPr>
                      <a:r>
                        <a:rPr dirty="0" sz="1500" spc="-2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RBSK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450"/>
                        </a:lnSpc>
                      </a:pPr>
                      <a:r>
                        <a:rPr dirty="0" sz="1500" spc="5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CONFIRMED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75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5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Anaicut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206375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dirty="0" sz="28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80975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dirty="0" sz="27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19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200025">
                    <a:lnT w="190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5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Gudiyatham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2850" spc="-3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27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28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473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7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500" spc="-2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K.V.</a:t>
                      </a:r>
                      <a:r>
                        <a:rPr dirty="0" sz="25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5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Kuppam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2850" spc="-3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27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19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473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500" spc="-4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Kaniyambadi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2850" spc="-5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27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473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5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Katpadi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2850" spc="-3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27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4732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7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25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Pernambut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15367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850" spc="-3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2700" spc="-25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21426E"/>
                      </a:solidFill>
                      <a:prstDash val="solid"/>
                    </a:lnT>
                    <a:lnB w="9525">
                      <a:solidFill>
                        <a:srgbClr val="21426E"/>
                      </a:solidFill>
                      <a:prstDash val="solid"/>
                    </a:lnB>
                  </a:tcPr>
                </a:tc>
              </a:tr>
              <a:tr h="7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5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Vellore</a:t>
                      </a: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2850" spc="-3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28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2700" spc="-50" b="1">
                          <a:solidFill>
                            <a:srgbClr val="9DB4D4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47320">
                    <a:lnT w="9525">
                      <a:solidFill>
                        <a:srgbClr val="21426E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85"/>
                        </a:spcBef>
                      </a:pPr>
                      <a:r>
                        <a:rPr dirty="0" sz="2400" spc="60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252095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3470"/>
                        </a:lnSpc>
                        <a:spcBef>
                          <a:spcPts val="1460"/>
                        </a:spcBef>
                      </a:pPr>
                      <a:r>
                        <a:rPr dirty="0" sz="315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62</a:t>
                      </a:r>
                      <a:endParaRPr sz="315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3470"/>
                        </a:lnSpc>
                        <a:spcBef>
                          <a:spcPts val="1460"/>
                        </a:spcBef>
                      </a:pPr>
                      <a:r>
                        <a:rPr dirty="0" sz="3150" spc="-25" b="1">
                          <a:solidFill>
                            <a:srgbClr val="F5A623"/>
                          </a:solidFill>
                          <a:latin typeface="Tahoma"/>
                          <a:cs typeface="Tahoma"/>
                        </a:rPr>
                        <a:t>106</a:t>
                      </a:r>
                      <a:endParaRPr sz="315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6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6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2066918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519526"/>
            <a:ext cx="15944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9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U</a:t>
            </a:r>
            <a:r>
              <a:rPr dirty="0" sz="1650" spc="1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5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r>
              <a:rPr dirty="0" sz="1650" spc="1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5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r>
              <a:rPr dirty="0" sz="1650" spc="1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1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Y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1699" y="923069"/>
            <a:ext cx="7000240" cy="9944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350" spc="-695"/>
              <a:t>S</a:t>
            </a:r>
            <a:r>
              <a:rPr dirty="0" sz="6350" spc="-675"/>
              <a:t>c</a:t>
            </a:r>
            <a:r>
              <a:rPr dirty="0" sz="6350" spc="-785"/>
              <a:t>r</a:t>
            </a:r>
            <a:r>
              <a:rPr dirty="0" sz="6350" spc="-605"/>
              <a:t>ee</a:t>
            </a:r>
            <a:r>
              <a:rPr dirty="0" sz="6350" spc="-490"/>
              <a:t>n</a:t>
            </a:r>
            <a:r>
              <a:rPr dirty="0" sz="6350" spc="-310"/>
              <a:t>i</a:t>
            </a:r>
            <a:r>
              <a:rPr dirty="0" sz="6350" spc="-490"/>
              <a:t>n</a:t>
            </a:r>
            <a:r>
              <a:rPr dirty="0" sz="6350" spc="-235"/>
              <a:t>g</a:t>
            </a:r>
            <a:r>
              <a:rPr dirty="0" sz="6350" spc="-795"/>
              <a:t> </a:t>
            </a:r>
            <a:r>
              <a:rPr dirty="0" sz="6350" spc="-470"/>
              <a:t>O</a:t>
            </a:r>
            <a:r>
              <a:rPr dirty="0" sz="6350" spc="-670"/>
              <a:t>v</a:t>
            </a:r>
            <a:r>
              <a:rPr dirty="0" sz="6350" spc="-425"/>
              <a:t>e</a:t>
            </a:r>
            <a:r>
              <a:rPr dirty="0" sz="6350" spc="-495"/>
              <a:t>r</a:t>
            </a:r>
            <a:r>
              <a:rPr dirty="0" sz="6350" spc="-670"/>
              <a:t>v</a:t>
            </a:r>
            <a:r>
              <a:rPr dirty="0" sz="6350" spc="-130"/>
              <a:t>i</a:t>
            </a:r>
            <a:r>
              <a:rPr dirty="0" sz="6350" spc="-545"/>
              <a:t>e</a:t>
            </a:r>
            <a:r>
              <a:rPr dirty="0" sz="6350" spc="-55"/>
              <a:t>w</a:t>
            </a:r>
            <a:endParaRPr sz="6350"/>
          </a:p>
        </p:txBody>
      </p:sp>
      <p:sp>
        <p:nvSpPr>
          <p:cNvPr id="7" name="object 7"/>
          <p:cNvSpPr/>
          <p:nvPr/>
        </p:nvSpPr>
        <p:spPr>
          <a:xfrm>
            <a:off x="914399" y="2676518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699" y="2910194"/>
            <a:ext cx="208470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b="1">
                <a:solidFill>
                  <a:srgbClr val="7D9ABF"/>
                </a:solidFill>
                <a:latin typeface="Tahoma"/>
                <a:cs typeface="Tahoma"/>
              </a:rPr>
              <a:t>RBSK</a:t>
            </a:r>
            <a:r>
              <a:rPr dirty="0" sz="1800" spc="275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spc="-60" b="1">
                <a:solidFill>
                  <a:srgbClr val="7D9ABF"/>
                </a:solidFill>
                <a:latin typeface="Tahoma"/>
                <a:cs typeface="Tahoma"/>
              </a:rPr>
              <a:t>2021</a:t>
            </a:r>
            <a:r>
              <a:rPr dirty="0" sz="1800" spc="-150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650" spc="-195" b="1">
                <a:solidFill>
                  <a:srgbClr val="7D9ABF"/>
                </a:solidFill>
                <a:latin typeface="Tahoma"/>
                <a:cs typeface="Tahoma"/>
              </a:rPr>
              <a:t>–</a:t>
            </a:r>
            <a:r>
              <a:rPr dirty="0" sz="1650" spc="-295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7D9ABF"/>
                </a:solidFill>
                <a:latin typeface="Tahoma"/>
                <a:cs typeface="Tahoma"/>
              </a:rPr>
              <a:t>2026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699" y="3138791"/>
            <a:ext cx="3616325" cy="1791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1225"/>
              </a:lnSpc>
              <a:spcBef>
                <a:spcPts val="135"/>
              </a:spcBef>
            </a:pPr>
            <a:r>
              <a:rPr dirty="0" sz="9500" spc="-67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9500" spc="-1110" b="1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dirty="0" sz="9500" spc="-162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9500" spc="-1635" b="1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9500" spc="-960" b="1">
                <a:solidFill>
                  <a:srgbClr val="FFFFFF"/>
                </a:solidFill>
                <a:latin typeface="Tahoma"/>
                <a:cs typeface="Tahoma"/>
              </a:rPr>
              <a:t>8</a:t>
            </a:r>
            <a:endParaRPr sz="9500">
              <a:latin typeface="Tahoma"/>
              <a:cs typeface="Tahoma"/>
            </a:endParaRPr>
          </a:p>
          <a:p>
            <a:pPr marL="12700">
              <a:lnSpc>
                <a:spcPts val="2645"/>
              </a:lnSpc>
            </a:pPr>
            <a:r>
              <a:rPr dirty="0" sz="2350" spc="-35">
                <a:solidFill>
                  <a:srgbClr val="9DB4D4"/>
                </a:solidFill>
                <a:latin typeface="Tahoma"/>
                <a:cs typeface="Tahoma"/>
              </a:rPr>
              <a:t>Con</a:t>
            </a:r>
            <a:r>
              <a:rPr dirty="0" sz="2200" spc="-35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2350" spc="-35">
                <a:solidFill>
                  <a:srgbClr val="9DB4D4"/>
                </a:solidFill>
                <a:latin typeface="Tahoma"/>
                <a:cs typeface="Tahoma"/>
              </a:rPr>
              <a:t>rmed</a:t>
            </a:r>
            <a:r>
              <a:rPr dirty="0" sz="2350" spc="-6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>
                <a:solidFill>
                  <a:srgbClr val="9DB4D4"/>
                </a:solidFill>
                <a:latin typeface="Tahoma"/>
                <a:cs typeface="Tahoma"/>
              </a:rPr>
              <a:t>of</a:t>
            </a:r>
            <a:r>
              <a:rPr dirty="0" sz="2350" spc="-35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 spc="-270">
                <a:solidFill>
                  <a:srgbClr val="9DB4D4"/>
                </a:solidFill>
                <a:latin typeface="Tahoma"/>
                <a:cs typeface="Tahoma"/>
              </a:rPr>
              <a:t>2,1 </a:t>
            </a:r>
            <a:r>
              <a:rPr dirty="0" sz="2350" spc="-95">
                <a:solidFill>
                  <a:srgbClr val="9DB4D4"/>
                </a:solidFill>
                <a:latin typeface="Tahoma"/>
                <a:cs typeface="Tahoma"/>
              </a:rPr>
              <a:t>62</a:t>
            </a:r>
            <a:r>
              <a:rPr dirty="0" sz="2350" spc="-11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 spc="-50">
                <a:solidFill>
                  <a:srgbClr val="9DB4D4"/>
                </a:solidFill>
                <a:latin typeface="Tahoma"/>
                <a:cs typeface="Tahoma"/>
              </a:rPr>
              <a:t>expected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699" y="5070982"/>
            <a:ext cx="3287395" cy="9086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-295" b="1">
                <a:solidFill>
                  <a:srgbClr val="F5A623"/>
                </a:solidFill>
                <a:latin typeface="Tahoma"/>
                <a:cs typeface="Tahoma"/>
              </a:rPr>
              <a:t>403</a:t>
            </a:r>
            <a:endParaRPr sz="3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000" spc="-30">
                <a:solidFill>
                  <a:srgbClr val="9DB4D4"/>
                </a:solidFill>
                <a:latin typeface="Tahoma"/>
                <a:cs typeface="Tahoma"/>
              </a:rPr>
              <a:t>Surgeries</a:t>
            </a:r>
            <a:r>
              <a:rPr dirty="0" sz="2000" spc="-11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9DB4D4"/>
                </a:solidFill>
                <a:latin typeface="Tahoma"/>
                <a:cs typeface="Tahoma"/>
              </a:rPr>
              <a:t>done</a:t>
            </a:r>
            <a:r>
              <a:rPr dirty="0" sz="2000" spc="-10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9DB4D4"/>
                </a:solidFill>
                <a:latin typeface="Tahoma"/>
                <a:cs typeface="Tahoma"/>
              </a:rPr>
              <a:t>of</a:t>
            </a:r>
            <a:r>
              <a:rPr dirty="0" sz="2000" spc="-30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9DB4D4"/>
                </a:solidFill>
                <a:latin typeface="Tahoma"/>
                <a:cs typeface="Tahoma"/>
              </a:rPr>
              <a:t>408</a:t>
            </a:r>
            <a:r>
              <a:rPr dirty="0" sz="2000" spc="-10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9DB4D4"/>
                </a:solidFill>
                <a:latin typeface="Tahoma"/>
                <a:cs typeface="Tahoma"/>
              </a:rPr>
              <a:t>needed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81774" y="2676518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70860" y="2910194"/>
            <a:ext cx="2307590" cy="20199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989"/>
              </a:lnSpc>
              <a:spcBef>
                <a:spcPts val="110"/>
              </a:spcBef>
            </a:pPr>
            <a:r>
              <a:rPr dirty="0" sz="1800" spc="75" b="1">
                <a:solidFill>
                  <a:srgbClr val="7D9ABF"/>
                </a:solidFill>
                <a:latin typeface="Tahoma"/>
                <a:cs typeface="Tahoma"/>
              </a:rPr>
              <a:t>BLINDNESS</a:t>
            </a:r>
            <a:r>
              <a:rPr dirty="0" sz="1800" spc="150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7D9ABF"/>
                </a:solidFill>
                <a:latin typeface="Tahoma"/>
                <a:cs typeface="Tahoma"/>
              </a:rPr>
              <a:t>·</a:t>
            </a:r>
            <a:r>
              <a:rPr dirty="0" sz="1800" spc="215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spc="25" b="1">
                <a:solidFill>
                  <a:srgbClr val="7D9ABF"/>
                </a:solidFill>
                <a:latin typeface="Tahoma"/>
                <a:cs typeface="Tahoma"/>
              </a:rPr>
              <a:t>AWC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11055"/>
              </a:lnSpc>
            </a:pPr>
            <a:r>
              <a:rPr dirty="0" sz="9500" spc="-900" b="1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9500">
              <a:latin typeface="Tahoma"/>
              <a:cs typeface="Tahoma"/>
            </a:endParaRPr>
          </a:p>
          <a:p>
            <a:pPr marL="12700">
              <a:lnSpc>
                <a:spcPts val="2645"/>
              </a:lnSpc>
            </a:pPr>
            <a:r>
              <a:rPr dirty="0" sz="2350" spc="-65">
                <a:solidFill>
                  <a:srgbClr val="9DB4D4"/>
                </a:solidFill>
                <a:latin typeface="Tahoma"/>
                <a:cs typeface="Tahoma"/>
              </a:rPr>
              <a:t>Identi</a:t>
            </a:r>
            <a:r>
              <a:rPr dirty="0" sz="2200" spc="-65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2350" spc="-65">
                <a:solidFill>
                  <a:srgbClr val="9DB4D4"/>
                </a:solidFill>
                <a:latin typeface="Tahoma"/>
                <a:cs typeface="Tahoma"/>
              </a:rPr>
              <a:t>ed</a:t>
            </a:r>
            <a:r>
              <a:rPr dirty="0" sz="2350" spc="-9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 spc="-75">
                <a:solidFill>
                  <a:srgbClr val="9DB4D4"/>
                </a:solidFill>
                <a:latin typeface="Tahoma"/>
                <a:cs typeface="Tahoma"/>
              </a:rPr>
              <a:t>at</a:t>
            </a:r>
            <a:r>
              <a:rPr dirty="0" sz="2350" spc="-18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 spc="-25">
                <a:solidFill>
                  <a:srgbClr val="9DB4D4"/>
                </a:solidFill>
                <a:latin typeface="Tahoma"/>
                <a:cs typeface="Tahoma"/>
              </a:rPr>
              <a:t>AWC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0860" y="5070982"/>
            <a:ext cx="1743710" cy="9086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-295" b="1">
                <a:solidFill>
                  <a:srgbClr val="F5A623"/>
                </a:solidFill>
                <a:latin typeface="Tahoma"/>
                <a:cs typeface="Tahoma"/>
              </a:rPr>
              <a:t>12</a:t>
            </a:r>
            <a:endParaRPr sz="3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000" spc="-60">
                <a:solidFill>
                  <a:srgbClr val="9DB4D4"/>
                </a:solidFill>
                <a:latin typeface="Tahoma"/>
                <a:cs typeface="Tahoma"/>
              </a:rPr>
              <a:t>RBSK</a:t>
            </a:r>
            <a:r>
              <a:rPr dirty="0" sz="2000" spc="-20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9DB4D4"/>
                </a:solidFill>
                <a:latin typeface="Tahoma"/>
                <a:cs typeface="Tahoma"/>
              </a:rPr>
              <a:t>con</a:t>
            </a:r>
            <a:r>
              <a:rPr dirty="0" sz="1900" spc="-10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2000" spc="-10">
                <a:solidFill>
                  <a:srgbClr val="9DB4D4"/>
                </a:solidFill>
                <a:latin typeface="Tahoma"/>
                <a:cs typeface="Tahoma"/>
              </a:rPr>
              <a:t>rmed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249149" y="2676518"/>
            <a:ext cx="5124450" cy="28575"/>
          </a:xfrm>
          <a:custGeom>
            <a:avLst/>
            <a:gdLst/>
            <a:ahLst/>
            <a:cxnLst/>
            <a:rect l="l" t="t" r="r" b="b"/>
            <a:pathLst>
              <a:path w="5124450" h="28575">
                <a:moveTo>
                  <a:pt x="5124449" y="28574"/>
                </a:moveTo>
                <a:lnTo>
                  <a:pt x="0" y="28574"/>
                </a:lnTo>
                <a:lnTo>
                  <a:pt x="0" y="0"/>
                </a:lnTo>
                <a:lnTo>
                  <a:pt x="5124449" y="0"/>
                </a:lnTo>
                <a:lnTo>
                  <a:pt x="5124449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240021" y="2910194"/>
            <a:ext cx="381317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70" b="1">
                <a:solidFill>
                  <a:srgbClr val="7D9ABF"/>
                </a:solidFill>
                <a:latin typeface="Tahoma"/>
                <a:cs typeface="Tahoma"/>
              </a:rPr>
              <a:t>HEARING</a:t>
            </a:r>
            <a:r>
              <a:rPr dirty="0" sz="1800" spc="220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7D9ABF"/>
                </a:solidFill>
                <a:latin typeface="Tahoma"/>
                <a:cs typeface="Tahoma"/>
              </a:rPr>
              <a:t>IMPAIRMENT</a:t>
            </a:r>
            <a:r>
              <a:rPr dirty="0" sz="1800" spc="170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7D9ABF"/>
                </a:solidFill>
                <a:latin typeface="Tahoma"/>
                <a:cs typeface="Tahoma"/>
              </a:rPr>
              <a:t>·</a:t>
            </a:r>
            <a:r>
              <a:rPr dirty="0" sz="1800" spc="250" b="1">
                <a:solidFill>
                  <a:srgbClr val="7D9ABF"/>
                </a:solidFill>
                <a:latin typeface="Tahoma"/>
                <a:cs typeface="Tahoma"/>
              </a:rPr>
              <a:t> </a:t>
            </a:r>
            <a:r>
              <a:rPr dirty="0" sz="1800" spc="25" b="1">
                <a:solidFill>
                  <a:srgbClr val="7D9ABF"/>
                </a:solidFill>
                <a:latin typeface="Tahoma"/>
                <a:cs typeface="Tahoma"/>
              </a:rPr>
              <a:t>AWC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40021" y="3138791"/>
            <a:ext cx="2171700" cy="1791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1225"/>
              </a:lnSpc>
              <a:spcBef>
                <a:spcPts val="135"/>
              </a:spcBef>
            </a:pPr>
            <a:r>
              <a:rPr dirty="0" sz="9500" spc="-1570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dirty="0" sz="9500" spc="-8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500">
              <a:latin typeface="Tahoma"/>
              <a:cs typeface="Tahoma"/>
            </a:endParaRPr>
          </a:p>
          <a:p>
            <a:pPr marL="12700">
              <a:lnSpc>
                <a:spcPts val="2645"/>
              </a:lnSpc>
            </a:pPr>
            <a:r>
              <a:rPr dirty="0" sz="2350" spc="-65">
                <a:solidFill>
                  <a:srgbClr val="9DB4D4"/>
                </a:solidFill>
                <a:latin typeface="Tahoma"/>
                <a:cs typeface="Tahoma"/>
              </a:rPr>
              <a:t>Identi</a:t>
            </a:r>
            <a:r>
              <a:rPr dirty="0" sz="2200" spc="-65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2350" spc="-65">
                <a:solidFill>
                  <a:srgbClr val="9DB4D4"/>
                </a:solidFill>
                <a:latin typeface="Tahoma"/>
                <a:cs typeface="Tahoma"/>
              </a:rPr>
              <a:t>ed</a:t>
            </a:r>
            <a:r>
              <a:rPr dirty="0" sz="2350" spc="-9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 spc="-75">
                <a:solidFill>
                  <a:srgbClr val="9DB4D4"/>
                </a:solidFill>
                <a:latin typeface="Tahoma"/>
                <a:cs typeface="Tahoma"/>
              </a:rPr>
              <a:t>at</a:t>
            </a:r>
            <a:r>
              <a:rPr dirty="0" sz="2350" spc="-185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350" spc="-90">
                <a:solidFill>
                  <a:srgbClr val="9DB4D4"/>
                </a:solidFill>
                <a:latin typeface="Tahoma"/>
                <a:cs typeface="Tahoma"/>
              </a:rPr>
              <a:t>AWC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40021" y="5070982"/>
            <a:ext cx="1743710" cy="9086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-290" b="1">
                <a:solidFill>
                  <a:srgbClr val="F5A623"/>
                </a:solidFill>
                <a:latin typeface="Tahoma"/>
                <a:cs typeface="Tahoma"/>
              </a:rPr>
              <a:t>106</a:t>
            </a:r>
            <a:endParaRPr sz="3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000" spc="-60">
                <a:solidFill>
                  <a:srgbClr val="9DB4D4"/>
                </a:solidFill>
                <a:latin typeface="Tahoma"/>
                <a:cs typeface="Tahoma"/>
              </a:rPr>
              <a:t>RBSK</a:t>
            </a:r>
            <a:r>
              <a:rPr dirty="0" sz="2000" spc="-200">
                <a:solidFill>
                  <a:srgbClr val="9DB4D4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9DB4D4"/>
                </a:solidFill>
                <a:latin typeface="Tahoma"/>
                <a:cs typeface="Tahoma"/>
              </a:rPr>
              <a:t>con</a:t>
            </a:r>
            <a:r>
              <a:rPr dirty="0" sz="1900" spc="-10">
                <a:solidFill>
                  <a:srgbClr val="9DB4D4"/>
                </a:solidFill>
                <a:latin typeface="Tahoma"/>
                <a:cs typeface="Tahoma"/>
              </a:rPr>
              <a:t>ﬁ</a:t>
            </a:r>
            <a:r>
              <a:rPr dirty="0" sz="2000" spc="-10">
                <a:solidFill>
                  <a:srgbClr val="9DB4D4"/>
                </a:solidFill>
                <a:latin typeface="Tahoma"/>
                <a:cs typeface="Tahoma"/>
              </a:rPr>
              <a:t>rmed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399" y="8486768"/>
            <a:ext cx="16459200" cy="19050"/>
          </a:xfrm>
          <a:custGeom>
            <a:avLst/>
            <a:gdLst/>
            <a:ahLst/>
            <a:cxnLst/>
            <a:rect l="l" t="t" r="r" b="b"/>
            <a:pathLst>
              <a:path w="16459200" h="19050">
                <a:moveTo>
                  <a:pt x="16459198" y="19049"/>
                </a:moveTo>
                <a:lnTo>
                  <a:pt x="0" y="19049"/>
                </a:lnTo>
                <a:lnTo>
                  <a:pt x="0" y="0"/>
                </a:lnTo>
                <a:lnTo>
                  <a:pt x="16459198" y="0"/>
                </a:lnTo>
                <a:lnTo>
                  <a:pt x="16459198" y="19049"/>
                </a:lnTo>
                <a:close/>
              </a:path>
            </a:pathLst>
          </a:custGeom>
          <a:solidFill>
            <a:srgbClr val="2142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01699" y="8717023"/>
            <a:ext cx="1584515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dirty="0" sz="2800" spc="-105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dirty="0" sz="28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Tahoma"/>
                <a:cs typeface="Tahoma"/>
              </a:rPr>
              <a:t>ﬁ</a:t>
            </a:r>
            <a:r>
              <a:rPr dirty="0" sz="2800" spc="-30">
                <a:solidFill>
                  <a:srgbClr val="FFFFFF"/>
                </a:solidFill>
                <a:latin typeface="Tahoma"/>
                <a:cs typeface="Tahoma"/>
              </a:rPr>
              <a:t>gures</a:t>
            </a:r>
            <a:r>
              <a:rPr dirty="0" sz="28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7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dirty="0" sz="28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90">
                <a:solidFill>
                  <a:srgbClr val="FFFFFF"/>
                </a:solidFill>
                <a:latin typeface="Tahoma"/>
                <a:cs typeface="Tahoma"/>
              </a:rPr>
              <a:t>taken</a:t>
            </a:r>
            <a:r>
              <a:rPr dirty="0" sz="28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55">
                <a:solidFill>
                  <a:srgbClr val="FFFFFF"/>
                </a:solidFill>
                <a:latin typeface="Tahoma"/>
                <a:cs typeface="Tahoma"/>
              </a:rPr>
              <a:t>directly</a:t>
            </a:r>
            <a:r>
              <a:rPr dirty="0" sz="2800" spc="-3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65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dirty="0" sz="28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65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8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05">
                <a:solidFill>
                  <a:srgbClr val="FFFFFF"/>
                </a:solidFill>
                <a:latin typeface="Tahoma"/>
                <a:cs typeface="Tahoma"/>
              </a:rPr>
              <a:t>RBSK</a:t>
            </a:r>
            <a:r>
              <a:rPr dirty="0" sz="2800" spc="-3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200">
                <a:solidFill>
                  <a:srgbClr val="FFFFFF"/>
                </a:solidFill>
                <a:latin typeface="Tahoma"/>
                <a:cs typeface="Tahoma"/>
              </a:rPr>
              <a:t>2021</a:t>
            </a:r>
            <a:r>
              <a:rPr dirty="0" sz="2800" spc="-3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dirty="0" sz="2800" spc="-65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r>
              <a:rPr dirty="0" sz="280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Tahoma"/>
                <a:cs typeface="Tahoma"/>
              </a:rPr>
              <a:t>block-</a:t>
            </a:r>
            <a:r>
              <a:rPr dirty="0" sz="2800" spc="-90">
                <a:solidFill>
                  <a:srgbClr val="FFFFFF"/>
                </a:solidFill>
                <a:latin typeface="Tahoma"/>
                <a:cs typeface="Tahoma"/>
              </a:rPr>
              <a:t>wise</a:t>
            </a:r>
            <a:r>
              <a:rPr dirty="0" sz="28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8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28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8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70">
                <a:solidFill>
                  <a:srgbClr val="FFFFFF"/>
                </a:solidFill>
                <a:latin typeface="Tahoma"/>
                <a:cs typeface="Tahoma"/>
              </a:rPr>
              <a:t>AWC</a:t>
            </a:r>
            <a:r>
              <a:rPr dirty="0" sz="2800" spc="-2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Tahoma"/>
                <a:cs typeface="Tahoma"/>
              </a:rPr>
              <a:t>screening</a:t>
            </a:r>
            <a:r>
              <a:rPr dirty="0" sz="28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8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28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2800" spc="-2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ahoma"/>
                <a:cs typeface="Tahoma"/>
              </a:rPr>
              <a:t>Vellore District.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7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-7"/>
            <a:ext cx="18288000" cy="104775"/>
          </a:xfrm>
          <a:custGeom>
            <a:avLst/>
            <a:gdLst/>
            <a:ahLst/>
            <a:cxnLst/>
            <a:rect l="l" t="t" r="r" b="b"/>
            <a:pathLst>
              <a:path w="18288000" h="104775">
                <a:moveTo>
                  <a:pt x="18287998" y="104774"/>
                </a:moveTo>
                <a:lnTo>
                  <a:pt x="0" y="1047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4774"/>
                </a:lnTo>
                <a:close/>
              </a:path>
            </a:pathLst>
          </a:custGeom>
          <a:solidFill>
            <a:srgbClr val="F5A6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1752592"/>
            <a:ext cx="3657600" cy="19050"/>
          </a:xfrm>
          <a:custGeom>
            <a:avLst/>
            <a:gdLst/>
            <a:ahLst/>
            <a:cxnLst/>
            <a:rect l="l" t="t" r="r" b="b"/>
            <a:pathLst>
              <a:path w="3657600" h="19050">
                <a:moveTo>
                  <a:pt x="3657599" y="19049"/>
                </a:moveTo>
                <a:lnTo>
                  <a:pt x="0" y="19049"/>
                </a:lnTo>
                <a:lnTo>
                  <a:pt x="0" y="0"/>
                </a:lnTo>
                <a:lnTo>
                  <a:pt x="3657599" y="0"/>
                </a:lnTo>
                <a:lnTo>
                  <a:pt x="36575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699" y="309976"/>
            <a:ext cx="4078604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781175" algn="l"/>
                <a:tab pos="2155190" algn="l"/>
                <a:tab pos="3151505" algn="l"/>
              </a:tabLst>
            </a:pP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r>
              <a:rPr dirty="0" sz="1650" spc="9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U</a:t>
            </a:r>
            <a:r>
              <a:rPr dirty="0" sz="1650" spc="1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5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r>
              <a:rPr dirty="0" sz="1650" spc="1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55" b="1">
                <a:solidFill>
                  <a:srgbClr val="F5A623"/>
                </a:solidFill>
                <a:latin typeface="Tahoma"/>
                <a:cs typeface="Tahoma"/>
              </a:rPr>
              <a:t>M</a:t>
            </a:r>
            <a:r>
              <a:rPr dirty="0" sz="1650" spc="1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120" b="1">
                <a:solidFill>
                  <a:srgbClr val="F5A623"/>
                </a:solidFill>
                <a:latin typeface="Tahoma"/>
                <a:cs typeface="Tahoma"/>
              </a:rPr>
              <a:t>A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R</a:t>
            </a:r>
            <a:r>
              <a:rPr dirty="0" sz="1650" spc="1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Y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</a:t>
            </a:r>
            <a:r>
              <a:rPr dirty="0" sz="1650" spc="50" b="1">
                <a:solidFill>
                  <a:srgbClr val="F5A623"/>
                </a:solidFill>
                <a:latin typeface="Tahoma"/>
                <a:cs typeface="Tahoma"/>
              </a:rPr>
              <a:t>&amp;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N</a:t>
            </a:r>
            <a:r>
              <a:rPr dirty="0" sz="1650" spc="114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110" b="1">
                <a:solidFill>
                  <a:srgbClr val="F5A623"/>
                </a:solidFill>
                <a:latin typeface="Tahoma"/>
                <a:cs typeface="Tahoma"/>
              </a:rPr>
              <a:t> X</a:t>
            </a:r>
            <a:r>
              <a:rPr dirty="0" sz="1650" spc="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	S</a:t>
            </a:r>
            <a:r>
              <a:rPr dirty="0" sz="1650" spc="30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T</a:t>
            </a:r>
            <a:r>
              <a:rPr dirty="0" sz="1650" spc="1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E</a:t>
            </a:r>
            <a:r>
              <a:rPr dirty="0" sz="1650" spc="6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5A623"/>
                </a:solidFill>
                <a:latin typeface="Tahoma"/>
                <a:cs typeface="Tahoma"/>
              </a:rPr>
              <a:t>P</a:t>
            </a:r>
            <a:r>
              <a:rPr dirty="0" sz="1650" spc="35" b="1">
                <a:solidFill>
                  <a:srgbClr val="F5A623"/>
                </a:solidFill>
                <a:latin typeface="Tahoma"/>
                <a:cs typeface="Tahoma"/>
              </a:rPr>
              <a:t> </a:t>
            </a:r>
            <a:r>
              <a:rPr dirty="0" sz="1650" spc="-70" b="1">
                <a:solidFill>
                  <a:srgbClr val="F5A623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70"/>
              </a:lnSpc>
            </a:pPr>
            <a:fld id="{81D60167-4931-47E6-BA6A-407CBD079E47}" type="slidenum">
              <a:rPr dirty="0" spc="-395"/>
              <a:t>14</a:t>
            </a:fld>
            <a:r>
              <a:rPr dirty="0"/>
              <a:t>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869"/>
              <a:t>R</a:t>
            </a:r>
            <a:r>
              <a:rPr dirty="0" spc="-520"/>
              <a:t>e</a:t>
            </a:r>
            <a:r>
              <a:rPr dirty="0" spc="-580"/>
              <a:t>c</a:t>
            </a:r>
            <a:r>
              <a:rPr dirty="0" spc="-530"/>
              <a:t>o</a:t>
            </a:r>
            <a:r>
              <a:rPr dirty="0" spc="-580"/>
              <a:t>mm</a:t>
            </a:r>
            <a:r>
              <a:rPr dirty="0" spc="-520"/>
              <a:t>e</a:t>
            </a:r>
            <a:r>
              <a:rPr dirty="0" spc="-415"/>
              <a:t>n</a:t>
            </a:r>
            <a:r>
              <a:rPr dirty="0" spc="-400"/>
              <a:t>d</a:t>
            </a:r>
            <a:r>
              <a:rPr dirty="0" spc="-405"/>
              <a:t>a</a:t>
            </a:r>
            <a:r>
              <a:rPr dirty="0" spc="-490"/>
              <a:t>t</a:t>
            </a:r>
            <a:r>
              <a:rPr dirty="0" spc="-250"/>
              <a:t>i</a:t>
            </a:r>
            <a:r>
              <a:rPr dirty="0" spc="-530"/>
              <a:t>o</a:t>
            </a:r>
            <a:r>
              <a:rPr dirty="0" spc="-415"/>
              <a:t>n</a:t>
            </a:r>
            <a:r>
              <a:rPr dirty="0" spc="-185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1699" y="1937364"/>
            <a:ext cx="502920" cy="577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00" spc="-459" b="1">
                <a:solidFill>
                  <a:srgbClr val="F5A623"/>
                </a:solidFill>
                <a:latin typeface="Tahoma"/>
                <a:cs typeface="Tahoma"/>
              </a:rPr>
              <a:t>01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5951" y="1917902"/>
            <a:ext cx="15314294" cy="10934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550" spc="-120" b="1">
                <a:solidFill>
                  <a:srgbClr val="FFFFFF"/>
                </a:solidFill>
                <a:latin typeface="Tahoma"/>
                <a:cs typeface="Tahoma"/>
              </a:rPr>
              <a:t>Close</a:t>
            </a:r>
            <a:r>
              <a:rPr dirty="0" sz="2550" spc="-1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65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550" spc="-1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85" b="1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dirty="0" sz="2550" spc="-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25" b="1">
                <a:solidFill>
                  <a:srgbClr val="FFFFFF"/>
                </a:solidFill>
                <a:latin typeface="Tahoma"/>
                <a:cs typeface="Tahoma"/>
              </a:rPr>
              <a:t>gap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04200"/>
              </a:lnSpc>
              <a:spcBef>
                <a:spcPts val="300"/>
              </a:spcBef>
            </a:pP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Across</a:t>
            </a:r>
            <a:r>
              <a:rPr dirty="0" sz="1800" spc="-1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40">
                <a:solidFill>
                  <a:srgbClr val="E7EDF5"/>
                </a:solidFill>
                <a:latin typeface="Tahoma"/>
                <a:cs typeface="Tahoma"/>
              </a:rPr>
              <a:t>2021</a:t>
            </a:r>
            <a:r>
              <a:rPr dirty="0" sz="1800" spc="-2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E7EDF5"/>
                </a:solidFill>
                <a:latin typeface="Tahoma"/>
                <a:cs typeface="Tahoma"/>
              </a:rPr>
              <a:t>–</a:t>
            </a:r>
            <a:r>
              <a:rPr dirty="0" sz="1800" spc="-90">
                <a:solidFill>
                  <a:srgbClr val="E7EDF5"/>
                </a:solidFill>
                <a:latin typeface="Tahoma"/>
                <a:cs typeface="Tahoma"/>
              </a:rPr>
              <a:t>2026,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10">
                <a:solidFill>
                  <a:srgbClr val="E7EDF5"/>
                </a:solidFill>
                <a:latin typeface="Tahoma"/>
                <a:cs typeface="Tahoma"/>
              </a:rPr>
              <a:t>2,1</a:t>
            </a:r>
            <a:r>
              <a:rPr dirty="0" sz="1800" spc="-21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62</a:t>
            </a: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cases</a:t>
            </a:r>
            <a:r>
              <a:rPr dirty="0" sz="1800" spc="-1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were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expected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but</a:t>
            </a:r>
            <a:r>
              <a:rPr dirty="0" sz="1800" spc="-13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90">
                <a:solidFill>
                  <a:srgbClr val="E7EDF5"/>
                </a:solidFill>
                <a:latin typeface="Tahoma"/>
                <a:cs typeface="Tahoma"/>
              </a:rPr>
              <a:t>1</a:t>
            </a:r>
            <a:r>
              <a:rPr dirty="0" sz="1800" spc="-2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,208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40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rmed.</a:t>
            </a:r>
            <a:r>
              <a:rPr dirty="0" sz="1800" spc="-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Strengthen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screening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 coverage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35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rmatory</a:t>
            </a:r>
            <a:r>
              <a:rPr dirty="0" sz="1800" spc="-20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diagnostics,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prioritising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the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widest</a:t>
            </a:r>
            <a:r>
              <a:rPr dirty="0" sz="1800" spc="-13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gaps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600" spc="225">
                <a:solidFill>
                  <a:srgbClr val="E7EDF5"/>
                </a:solidFill>
                <a:latin typeface="Tahoma"/>
                <a:cs typeface="Tahoma"/>
              </a:rPr>
              <a:t>—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Congenital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Deafness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10">
                <a:solidFill>
                  <a:srgbClr val="E7EDF5"/>
                </a:solidFill>
                <a:latin typeface="Tahoma"/>
                <a:cs typeface="Tahoma"/>
              </a:rPr>
              <a:t>(393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expected,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45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50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rmed)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Neural</a:t>
            </a:r>
            <a:r>
              <a:rPr dirty="0" sz="1800" spc="-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90">
                <a:solidFill>
                  <a:srgbClr val="E7EDF5"/>
                </a:solidFill>
                <a:latin typeface="Tahoma"/>
                <a:cs typeface="Tahoma"/>
              </a:rPr>
              <a:t>Tube</a:t>
            </a: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Defect</a:t>
            </a:r>
            <a:r>
              <a:rPr dirty="0" sz="1800" spc="-1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10">
                <a:solidFill>
                  <a:srgbClr val="E7EDF5"/>
                </a:solidFill>
                <a:latin typeface="Tahoma"/>
                <a:cs typeface="Tahoma"/>
              </a:rPr>
              <a:t>(393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expected,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90">
                <a:solidFill>
                  <a:srgbClr val="E7EDF5"/>
                </a:solidFill>
                <a:latin typeface="Tahoma"/>
                <a:cs typeface="Tahoma"/>
              </a:rPr>
              <a:t>1</a:t>
            </a:r>
            <a:r>
              <a:rPr dirty="0" sz="1800" spc="-2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2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10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10">
                <a:solidFill>
                  <a:srgbClr val="E7EDF5"/>
                </a:solidFill>
                <a:latin typeface="Tahoma"/>
                <a:cs typeface="Tahoma"/>
              </a:rPr>
              <a:t>rmed).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699" y="3127989"/>
            <a:ext cx="546735" cy="577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00" spc="-285" b="1">
                <a:solidFill>
                  <a:srgbClr val="F5A623"/>
                </a:solidFill>
                <a:latin typeface="Tahoma"/>
                <a:cs typeface="Tahoma"/>
              </a:rPr>
              <a:t>02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5951" y="3108527"/>
            <a:ext cx="15101569" cy="10934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550" spc="-110" b="1">
                <a:solidFill>
                  <a:srgbClr val="FFFFFF"/>
                </a:solidFill>
                <a:latin typeface="Tahoma"/>
                <a:cs typeface="Tahoma"/>
              </a:rPr>
              <a:t>Complete</a:t>
            </a:r>
            <a:r>
              <a:rPr dirty="0" sz="255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65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55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5" b="1">
                <a:solidFill>
                  <a:srgbClr val="FFFFFF"/>
                </a:solidFill>
                <a:latin typeface="Tahoma"/>
                <a:cs typeface="Tahoma"/>
              </a:rPr>
              <a:t>remaining</a:t>
            </a:r>
            <a:r>
              <a:rPr dirty="0" sz="25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" b="1">
                <a:solidFill>
                  <a:srgbClr val="FFFFFF"/>
                </a:solidFill>
                <a:latin typeface="Tahoma"/>
                <a:cs typeface="Tahoma"/>
              </a:rPr>
              <a:t>surgeries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04200"/>
              </a:lnSpc>
              <a:spcBef>
                <a:spcPts val="300"/>
              </a:spcBef>
            </a:pPr>
            <a:r>
              <a:rPr dirty="0" sz="1800">
                <a:solidFill>
                  <a:srgbClr val="E7EDF5"/>
                </a:solidFill>
                <a:latin typeface="Tahoma"/>
                <a:cs typeface="Tahoma"/>
              </a:rPr>
              <a:t>Of</a:t>
            </a:r>
            <a:r>
              <a:rPr dirty="0" sz="1800" spc="-27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408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children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needing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surgery,</a:t>
            </a:r>
            <a:r>
              <a:rPr dirty="0" sz="1800" spc="-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403</a:t>
            </a:r>
            <a:r>
              <a:rPr dirty="0" sz="1800" spc="-9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are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done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5</a:t>
            </a:r>
            <a:r>
              <a:rPr dirty="0" sz="1800" spc="-9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remain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due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600" spc="275">
                <a:solidFill>
                  <a:srgbClr val="E7EDF5"/>
                </a:solidFill>
                <a:latin typeface="Tahoma"/>
                <a:cs typeface="Tahoma"/>
              </a:rPr>
              <a:t>—</a:t>
            </a:r>
            <a:r>
              <a:rPr dirty="0" sz="1600" spc="-1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3</a:t>
            </a: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for</a:t>
            </a:r>
            <a:r>
              <a:rPr dirty="0" sz="1800" spc="-1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Coronary</a:t>
            </a:r>
            <a:r>
              <a:rPr dirty="0" sz="1800" spc="-2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Heart</a:t>
            </a:r>
            <a:r>
              <a:rPr dirty="0" sz="1800" spc="-13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Disease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2</a:t>
            </a: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for</a:t>
            </a:r>
            <a:r>
              <a:rPr dirty="0" sz="1800" spc="-14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Cleft</a:t>
            </a:r>
            <a:r>
              <a:rPr dirty="0" sz="1800" spc="-13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Lip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/</a:t>
            </a:r>
            <a:r>
              <a:rPr dirty="0" sz="1800" spc="-16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Palate.</a:t>
            </a:r>
            <a:r>
              <a:rPr dirty="0" sz="18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Fast-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track</a:t>
            </a:r>
            <a:r>
              <a:rPr dirty="0" sz="1800" spc="-19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these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pending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cases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to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close</a:t>
            </a: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the</a:t>
            </a: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surgical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E7EDF5"/>
                </a:solidFill>
                <a:latin typeface="Tahoma"/>
                <a:cs typeface="Tahoma"/>
              </a:rPr>
              <a:t>line.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699" y="4318614"/>
            <a:ext cx="544830" cy="577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00" spc="-300" b="1">
                <a:solidFill>
                  <a:srgbClr val="F5A623"/>
                </a:solidFill>
                <a:latin typeface="Tahoma"/>
                <a:cs typeface="Tahoma"/>
              </a:rPr>
              <a:t>03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5951" y="4299152"/>
            <a:ext cx="15088869" cy="10934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550" spc="-145" b="1">
                <a:solidFill>
                  <a:srgbClr val="FFFFFF"/>
                </a:solidFill>
                <a:latin typeface="Tahoma"/>
                <a:cs typeface="Tahoma"/>
              </a:rPr>
              <a:t>Focus</a:t>
            </a:r>
            <a:r>
              <a:rPr dirty="0" sz="255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35" b="1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255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0" b="1">
                <a:solidFill>
                  <a:srgbClr val="FFFFFF"/>
                </a:solidFill>
                <a:latin typeface="Tahoma"/>
                <a:cs typeface="Tahoma"/>
              </a:rPr>
              <a:t>Vellore</a:t>
            </a:r>
            <a:r>
              <a:rPr dirty="0" sz="255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" b="1">
                <a:solidFill>
                  <a:srgbClr val="FFFFFF"/>
                </a:solidFill>
                <a:latin typeface="Tahoma"/>
                <a:cs typeface="Tahoma"/>
              </a:rPr>
              <a:t>Corporation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04200"/>
              </a:lnSpc>
              <a:spcBef>
                <a:spcPts val="300"/>
              </a:spcBef>
            </a:pP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The</a:t>
            </a: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Corporation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accounts</a:t>
            </a: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for</a:t>
            </a:r>
            <a:r>
              <a:rPr dirty="0" sz="1800" spc="-15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the</a:t>
            </a:r>
            <a:r>
              <a:rPr dirty="0" sz="1800" spc="-1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largest</a:t>
            </a:r>
            <a:r>
              <a:rPr dirty="0" sz="1800" spc="-1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shortfall</a:t>
            </a:r>
            <a:r>
              <a:rPr dirty="0" sz="1800" spc="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600" spc="275">
                <a:solidFill>
                  <a:srgbClr val="E7EDF5"/>
                </a:solidFill>
                <a:latin typeface="Tahoma"/>
                <a:cs typeface="Tahoma"/>
              </a:rPr>
              <a:t>—</a:t>
            </a:r>
            <a:r>
              <a:rPr dirty="0" sz="1600" spc="-16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66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25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rmed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against</a:t>
            </a:r>
            <a:r>
              <a:rPr dirty="0" sz="1800" spc="-14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596</a:t>
            </a:r>
            <a:r>
              <a:rPr dirty="0" sz="1800" spc="-12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expected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across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all</a:t>
            </a:r>
            <a:r>
              <a:rPr dirty="0" sz="1800" spc="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conditions.</a:t>
            </a:r>
            <a:r>
              <a:rPr dirty="0" sz="1800" spc="-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Direct</a:t>
            </a:r>
            <a:r>
              <a:rPr dirty="0" sz="1800" spc="-14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additional</a:t>
            </a:r>
            <a:r>
              <a:rPr dirty="0" sz="18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screening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camps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follow-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up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support</a:t>
            </a:r>
            <a:r>
              <a:rPr dirty="0" sz="1800" spc="-12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there,</a:t>
            </a:r>
            <a:r>
              <a:rPr dirty="0" sz="1800" spc="-1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to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other</a:t>
            </a:r>
            <a:r>
              <a:rPr dirty="0" sz="1800" spc="-13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blocks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with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low</a:t>
            </a:r>
            <a:r>
              <a:rPr dirty="0" sz="1800" spc="-2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40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rmed-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to-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expected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E7EDF5"/>
                </a:solidFill>
                <a:latin typeface="Tahoma"/>
                <a:cs typeface="Tahoma"/>
              </a:rPr>
              <a:t>ratios.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699" y="5509239"/>
            <a:ext cx="557530" cy="577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00" spc="-175" b="1">
                <a:solidFill>
                  <a:srgbClr val="F5A623"/>
                </a:solidFill>
                <a:latin typeface="Tahoma"/>
                <a:cs typeface="Tahoma"/>
              </a:rPr>
              <a:t>04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5951" y="5489777"/>
            <a:ext cx="15494000" cy="10934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550" spc="-110" b="1">
                <a:solidFill>
                  <a:srgbClr val="FFFFFF"/>
                </a:solidFill>
                <a:latin typeface="Tahoma"/>
                <a:cs typeface="Tahoma"/>
              </a:rPr>
              <a:t>Strengthen </a:t>
            </a:r>
            <a:r>
              <a:rPr dirty="0" sz="2550" spc="-260" b="1">
                <a:solidFill>
                  <a:srgbClr val="FFFFFF"/>
                </a:solidFill>
                <a:latin typeface="Tahoma"/>
                <a:cs typeface="Tahoma"/>
              </a:rPr>
              <a:t>AWC-</a:t>
            </a:r>
            <a:r>
              <a:rPr dirty="0" sz="2550" spc="-95" b="1">
                <a:solidFill>
                  <a:srgbClr val="FFFFFF"/>
                </a:solidFill>
                <a:latin typeface="Tahoma"/>
                <a:cs typeface="Tahoma"/>
              </a:rPr>
              <a:t>level</a:t>
            </a:r>
            <a:r>
              <a:rPr dirty="0" sz="255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14" b="1">
                <a:solidFill>
                  <a:srgbClr val="FFFFFF"/>
                </a:solidFill>
                <a:latin typeface="Tahoma"/>
                <a:cs typeface="Tahoma"/>
              </a:rPr>
              <a:t>screening</a:t>
            </a:r>
            <a:r>
              <a:rPr dirty="0" sz="255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30" b="1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55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" b="1">
                <a:solidFill>
                  <a:srgbClr val="FFFFFF"/>
                </a:solidFill>
                <a:latin typeface="Tahoma"/>
                <a:cs typeface="Tahoma"/>
              </a:rPr>
              <a:t>referral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04200"/>
              </a:lnSpc>
              <a:spcBef>
                <a:spcPts val="300"/>
              </a:spcBef>
            </a:pP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AWC</a:t>
            </a:r>
            <a:r>
              <a:rPr dirty="0" sz="1800" spc="-16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identi</a:t>
            </a:r>
            <a:r>
              <a:rPr dirty="0" sz="1650" spc="-35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cation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trails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5">
                <a:solidFill>
                  <a:srgbClr val="E7EDF5"/>
                </a:solidFill>
                <a:latin typeface="Tahoma"/>
                <a:cs typeface="Tahoma"/>
              </a:rPr>
              <a:t>RBSK</a:t>
            </a:r>
            <a:r>
              <a:rPr dirty="0" sz="1800" spc="-2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35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rmation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for</a:t>
            </a:r>
            <a:r>
              <a:rPr dirty="0" sz="1800" spc="-14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blindness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55">
                <a:solidFill>
                  <a:srgbClr val="E7EDF5"/>
                </a:solidFill>
                <a:latin typeface="Tahoma"/>
                <a:cs typeface="Tahoma"/>
              </a:rPr>
              <a:t>(7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vs </a:t>
            </a:r>
            <a:r>
              <a:rPr dirty="0" sz="1800" spc="-390">
                <a:solidFill>
                  <a:srgbClr val="E7EDF5"/>
                </a:solidFill>
                <a:latin typeface="Tahoma"/>
                <a:cs typeface="Tahoma"/>
              </a:rPr>
              <a:t>1</a:t>
            </a:r>
            <a:r>
              <a:rPr dirty="0" sz="1800" spc="-21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65">
                <a:solidFill>
                  <a:srgbClr val="E7EDF5"/>
                </a:solidFill>
                <a:latin typeface="Tahoma"/>
                <a:cs typeface="Tahoma"/>
              </a:rPr>
              <a:t>2)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E7EDF5"/>
                </a:solidFill>
                <a:latin typeface="Tahoma"/>
                <a:cs typeface="Tahoma"/>
              </a:rPr>
              <a:t>hearing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impairment</a:t>
            </a:r>
            <a:r>
              <a:rPr dirty="0" sz="1800" spc="-13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25">
                <a:solidFill>
                  <a:srgbClr val="E7EDF5"/>
                </a:solidFill>
                <a:latin typeface="Tahoma"/>
                <a:cs typeface="Tahoma"/>
              </a:rPr>
              <a:t>(62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vs</a:t>
            </a:r>
            <a:r>
              <a:rPr dirty="0" sz="1800" spc="-10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90">
                <a:solidFill>
                  <a:srgbClr val="E7EDF5"/>
                </a:solidFill>
                <a:latin typeface="Tahoma"/>
                <a:cs typeface="Tahoma"/>
              </a:rPr>
              <a:t>1</a:t>
            </a:r>
            <a:r>
              <a:rPr dirty="0" sz="1800" spc="-204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55">
                <a:solidFill>
                  <a:srgbClr val="E7EDF5"/>
                </a:solidFill>
                <a:latin typeface="Tahoma"/>
                <a:cs typeface="Tahoma"/>
              </a:rPr>
              <a:t>06),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with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E7EDF5"/>
                </a:solidFill>
                <a:latin typeface="Tahoma"/>
                <a:cs typeface="Tahoma"/>
              </a:rPr>
              <a:t>wide</a:t>
            </a:r>
            <a:r>
              <a:rPr dirty="0" sz="1800" spc="-9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block-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level</a:t>
            </a:r>
            <a:r>
              <a:rPr dirty="0" sz="1800" spc="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divergence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40">
                <a:solidFill>
                  <a:srgbClr val="E7EDF5"/>
                </a:solidFill>
                <a:latin typeface="Tahoma"/>
                <a:cs typeface="Tahoma"/>
              </a:rPr>
              <a:t>(e.g.</a:t>
            </a:r>
            <a:r>
              <a:rPr dirty="0" sz="18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Vellore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25</a:t>
            </a:r>
            <a:r>
              <a:rPr dirty="0" sz="1800" spc="-8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identi</a:t>
            </a:r>
            <a:r>
              <a:rPr dirty="0" sz="1650" spc="-25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ed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vs 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7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con</a:t>
            </a:r>
            <a:r>
              <a:rPr dirty="0" sz="1650" spc="-50">
                <a:solidFill>
                  <a:srgbClr val="E7EDF5"/>
                </a:solidFill>
                <a:latin typeface="Tahoma"/>
                <a:cs typeface="Tahoma"/>
              </a:rPr>
              <a:t>ﬁ</a:t>
            </a:r>
            <a:r>
              <a:rPr dirty="0" sz="1800" spc="-50">
                <a:solidFill>
                  <a:srgbClr val="E7EDF5"/>
                </a:solidFill>
                <a:latin typeface="Tahoma"/>
                <a:cs typeface="Tahoma"/>
              </a:rPr>
              <a:t>rmed;</a:t>
            </a:r>
            <a:r>
              <a:rPr dirty="0" sz="1800" spc="-2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K.V.Kuppam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E7EDF5"/>
                </a:solidFill>
                <a:latin typeface="Tahoma"/>
                <a:cs typeface="Tahoma"/>
              </a:rPr>
              <a:t>3</a:t>
            </a:r>
            <a:r>
              <a:rPr dirty="0" sz="1800" spc="-100">
                <a:solidFill>
                  <a:srgbClr val="E7EDF5"/>
                </a:solidFill>
                <a:latin typeface="Tahoma"/>
                <a:cs typeface="Tahoma"/>
              </a:rPr>
              <a:t> vs</a:t>
            </a:r>
            <a:r>
              <a:rPr dirty="0" sz="1800" spc="-1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90">
                <a:solidFill>
                  <a:srgbClr val="E7EDF5"/>
                </a:solidFill>
                <a:latin typeface="Tahoma"/>
                <a:cs typeface="Tahoma"/>
              </a:rPr>
              <a:t>1</a:t>
            </a:r>
            <a:r>
              <a:rPr dirty="0" sz="1800" spc="-2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90">
                <a:solidFill>
                  <a:srgbClr val="E7EDF5"/>
                </a:solidFill>
                <a:latin typeface="Tahoma"/>
                <a:cs typeface="Tahoma"/>
              </a:rPr>
              <a:t>9).</a:t>
            </a:r>
            <a:r>
              <a:rPr dirty="0" sz="1800" spc="-2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E7EDF5"/>
                </a:solidFill>
                <a:latin typeface="Tahoma"/>
                <a:cs typeface="Tahoma"/>
              </a:rPr>
              <a:t>Align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14">
                <a:solidFill>
                  <a:srgbClr val="E7EDF5"/>
                </a:solidFill>
                <a:latin typeface="Tahoma"/>
                <a:cs typeface="Tahoma"/>
              </a:rPr>
              <a:t>AWC</a:t>
            </a:r>
            <a:r>
              <a:rPr dirty="0" sz="1800" spc="-17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E7EDF5"/>
                </a:solidFill>
                <a:latin typeface="Tahoma"/>
                <a:cs typeface="Tahoma"/>
              </a:rPr>
              <a:t>screening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and</a:t>
            </a:r>
            <a:r>
              <a:rPr dirty="0" sz="1800" spc="-6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E7EDF5"/>
                </a:solidFill>
                <a:latin typeface="Tahoma"/>
                <a:cs typeface="Tahoma"/>
              </a:rPr>
              <a:t>cross-</a:t>
            </a:r>
            <a:r>
              <a:rPr dirty="0" sz="1800" spc="-45">
                <a:solidFill>
                  <a:srgbClr val="E7EDF5"/>
                </a:solidFill>
                <a:latin typeface="Tahoma"/>
                <a:cs typeface="Tahoma"/>
              </a:rPr>
              <a:t>referral</a:t>
            </a:r>
            <a:r>
              <a:rPr dirty="0" sz="1800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E7EDF5"/>
                </a:solidFill>
                <a:latin typeface="Tahoma"/>
                <a:cs typeface="Tahoma"/>
              </a:rPr>
              <a:t>with </a:t>
            </a:r>
            <a:r>
              <a:rPr dirty="0" sz="1800" spc="-75">
                <a:solidFill>
                  <a:srgbClr val="E7EDF5"/>
                </a:solidFill>
                <a:latin typeface="Tahoma"/>
                <a:cs typeface="Tahoma"/>
              </a:rPr>
              <a:t>RBSK</a:t>
            </a:r>
            <a:r>
              <a:rPr dirty="0" sz="1800" spc="-215">
                <a:solidFill>
                  <a:srgbClr val="E7EDF5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E7EDF5"/>
                </a:solidFill>
                <a:latin typeface="Tahoma"/>
                <a:cs typeface="Tahoma"/>
              </a:rPr>
              <a:t>teams.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RBSK Block-wise Screening Report — Vellore District</dc:title>
  <dcterms:created xsi:type="dcterms:W3CDTF">2026-07-25T06:19:17Z</dcterms:created>
  <dcterms:modified xsi:type="dcterms:W3CDTF">2026-07-25T06:19:17Z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2026-07-02T00:00:00Z</vt:filetime>
  </property>
  <property fmtid="{D5CDD505-2E9C-101B-9397-08002B2CF9AE}" pid="4" name="Creator">
    <vt:lpwstr>Mozilla/5.0 (X11; Linux x86_64) AppleWebKit/537.36 (KHTML, like Gecko) HeadlessChrome/140.0.0.0 Safari/537.36</vt:lpwstr>
  </property>
  <property fmtid="{D5CDD505-2E9C-101B-9397-08002B2CF9AE}" pid="5" name="LastSaved">
    <vt:filetime>2026-07-25T00:00:00Z</vt:filetime>
  </property>
  <property fmtid="{D5CDD505-2E9C-101B-9397-08002B2CF9AE}" pid="6" name="Producer">
    <vt:lpwstr>Skia/PDF m140</vt:lpwstr>
  </property>
</Properties>
</file>