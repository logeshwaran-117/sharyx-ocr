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302</c:v>
                </c:pt>
                <c:pt idx="1">
                  <c:v>384</c:v>
                </c:pt>
                <c:pt idx="2">
                  <c:v>178</c:v>
                </c:pt>
                <c:pt idx="3">
                  <c:v>131</c:v>
                </c:pt>
                <c:pt idx="4">
                  <c:v>163</c:v>
                </c:pt>
                <c:pt idx="5">
                  <c:v>188</c:v>
                </c:pt>
                <c:pt idx="6">
                  <c:v>104</c:v>
                </c:pt>
                <c:pt idx="7">
                  <c:v>596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Confirmed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211</c:v>
                </c:pt>
                <c:pt idx="1">
                  <c:v>179</c:v>
                </c:pt>
                <c:pt idx="2">
                  <c:v>146</c:v>
                </c:pt>
                <c:pt idx="3">
                  <c:v>228</c:v>
                </c:pt>
                <c:pt idx="4">
                  <c:v>103</c:v>
                </c:pt>
                <c:pt idx="5">
                  <c:v>189</c:v>
                </c:pt>
                <c:pt idx="6">
                  <c:v>75</c:v>
                </c:pt>
                <c:pt idx="7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(%)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7B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8A4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A8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302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CHD</c:v>
                  </c:pt>
                  <c:pt idx="1">
                    <c:v>RHD</c:v>
                  </c:pt>
                  <c:pt idx="2">
                    <c:v>Club Foot</c:v>
                  </c:pt>
                  <c:pt idx="3">
                    <c:v>Cleft Lip</c:v>
                  </c:pt>
                  <c:pt idx="4">
                    <c:v>Cataract</c:v>
                  </c:pt>
                  <c:pt idx="5">
                    <c:v>Deafness</c:v>
                  </c:pt>
                  <c:pt idx="6">
                    <c:v>NTD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</c:v>
                </c:pt>
                <c:pt idx="1">
                  <c:v>106</c:v>
                </c:pt>
                <c:pt idx="2">
                  <c:v>56</c:v>
                </c:pt>
                <c:pt idx="3">
                  <c:v>89</c:v>
                </c:pt>
                <c:pt idx="4">
                  <c:v>133</c:v>
                </c:pt>
                <c:pt idx="5">
                  <c:v>11</c:v>
                </c:pt>
                <c:pt idx="6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Medically Managed</c:v>
                </c:pt>
              </c:strCache>
            </c:strRef>
          </c:tx>
          <c:spPr>
            <a:solidFill>
              <a:srgbClr val="0A7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CHD</c:v>
                  </c:pt>
                  <c:pt idx="1">
                    <c:v>RHD</c:v>
                  </c:pt>
                  <c:pt idx="2">
                    <c:v>Club Foot</c:v>
                  </c:pt>
                  <c:pt idx="3">
                    <c:v>Cleft Lip</c:v>
                  </c:pt>
                  <c:pt idx="4">
                    <c:v>Cataract</c:v>
                  </c:pt>
                  <c:pt idx="5">
                    <c:v>Deafness</c:v>
                  </c:pt>
                  <c:pt idx="6">
                    <c:v>NTD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475</c:v>
                </c:pt>
                <c:pt idx="1">
                  <c:v>190</c:v>
                </c:pt>
                <c:pt idx="2">
                  <c:v>93</c:v>
                </c:pt>
                <c:pt idx="3">
                  <c:v>3</c:v>
                </c:pt>
                <c:pt idx="4">
                  <c:v>3</c:v>
                </c:pt>
                <c:pt idx="5">
                  <c:v>32</c:v>
                </c:pt>
                <c:pt idx="6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Surgery Done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CHD</c:v>
                  </c:pt>
                  <c:pt idx="1">
                    <c:v>RHD</c:v>
                  </c:pt>
                  <c:pt idx="2">
                    <c:v>Club Foot</c:v>
                  </c:pt>
                  <c:pt idx="3">
                    <c:v>Cleft Lip</c:v>
                  </c:pt>
                  <c:pt idx="4">
                    <c:v>Cataract</c:v>
                  </c:pt>
                  <c:pt idx="5">
                    <c:v>Deafness</c:v>
                  </c:pt>
                  <c:pt idx="6">
                    <c:v>NTD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263</c:v>
                </c:pt>
                <c:pt idx="1">
                  <c:v>18</c:v>
                </c:pt>
                <c:pt idx="2">
                  <c:v>16</c:v>
                </c:pt>
                <c:pt idx="3">
                  <c:v>76</c:v>
                </c:pt>
                <c:pt idx="4">
                  <c:v>9</c:v>
                </c:pt>
                <c:pt idx="5">
                  <c:v>13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Surgery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8A4E"/>
              </a:solidFill>
              <a:effectLst/>
            </c:spPr>
          </c:dPt>
          <c:dPt>
            <c:idx val="1"/>
            <c:bubble3D val="0"/>
            <c:spPr>
              <a:solidFill>
                <a:srgbClr val="D93025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Completed (403)</c:v>
                </c:pt>
                <c:pt idx="1">
                  <c:v>Pending (5)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403</c:v>
                </c:pt>
                <c:pt idx="1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</c:v>
                </c:pt>
                <c:pt idx="1">
                  <c:v>157</c:v>
                </c:pt>
                <c:pt idx="2">
                  <c:v>73</c:v>
                </c:pt>
                <c:pt idx="3">
                  <c:v>53</c:v>
                </c:pt>
                <c:pt idx="4">
                  <c:v>81</c:v>
                </c:pt>
                <c:pt idx="5">
                  <c:v>110</c:v>
                </c:pt>
                <c:pt idx="6">
                  <c:v>42</c:v>
                </c:pt>
                <c:pt idx="7">
                  <c:v>244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Confirmed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105</c:v>
                </c:pt>
                <c:pt idx="1">
                  <c:v>114</c:v>
                </c:pt>
                <c:pt idx="2">
                  <c:v>92</c:v>
                </c:pt>
                <c:pt idx="3">
                  <c:v>155</c:v>
                </c:pt>
                <c:pt idx="4">
                  <c:v>79</c:v>
                </c:pt>
                <c:pt idx="5">
                  <c:v>106</c:v>
                </c:pt>
                <c:pt idx="6">
                  <c:v>44</c:v>
                </c:pt>
                <c:pt idx="7">
                  <c:v>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 Mgmt</c:v>
                </c:pt>
              </c:strCache>
            </c:strRef>
          </c:tx>
          <c:spPr>
            <a:solidFill>
              <a:srgbClr val="0A7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66</c:v>
                </c:pt>
                <c:pt idx="1">
                  <c:v>81</c:v>
                </c:pt>
                <c:pt idx="2">
                  <c:v>64</c:v>
                </c:pt>
                <c:pt idx="3">
                  <c:v>122</c:v>
                </c:pt>
                <c:pt idx="4">
                  <c:v>54</c:v>
                </c:pt>
                <c:pt idx="5">
                  <c:v>50</c:v>
                </c:pt>
                <c:pt idx="6">
                  <c:v>20</c:v>
                </c:pt>
                <c:pt idx="7">
                  <c:v>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Surgery</c:v>
                </c:pt>
              </c:strCache>
            </c:strRef>
          </c:tx>
          <c:spPr>
            <a:solidFill>
              <a:srgbClr val="0D8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38</c:v>
                </c:pt>
                <c:pt idx="1">
                  <c:v>33</c:v>
                </c:pt>
                <c:pt idx="2">
                  <c:v>28</c:v>
                </c:pt>
                <c:pt idx="3">
                  <c:v>33</c:v>
                </c:pt>
                <c:pt idx="4">
                  <c:v>25</c:v>
                </c:pt>
                <c:pt idx="5">
                  <c:v>56</c:v>
                </c:pt>
                <c:pt idx="6">
                  <c:v>23</c:v>
                </c:pt>
                <c:pt idx="7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RHD Confirmed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</c:v>
                </c:pt>
                <c:pt idx="1">
                  <c:v>23</c:v>
                </c:pt>
                <c:pt idx="2">
                  <c:v>26</c:v>
                </c:pt>
                <c:pt idx="3">
                  <c:v>43</c:v>
                </c:pt>
                <c:pt idx="4">
                  <c:v>17</c:v>
                </c:pt>
                <c:pt idx="5">
                  <c:v>20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Club Foot Confirmed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16</c:v>
                </c:pt>
                <c:pt idx="1">
                  <c:v>18</c:v>
                </c:pt>
                <c:pt idx="2">
                  <c:v>15</c:v>
                </c:pt>
                <c:pt idx="3">
                  <c:v>15</c:v>
                </c:pt>
                <c:pt idx="4">
                  <c:v>5</c:v>
                </c:pt>
                <c:pt idx="5">
                  <c:v>29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Cleft Lip Confirmed</c:v>
                </c:pt>
              </c:strCache>
            </c:strRef>
          </c:tx>
          <c:spPr>
            <a:solidFill>
              <a:srgbClr val="0A7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13</c:v>
                </c:pt>
                <c:pt idx="1">
                  <c:v>10</c:v>
                </c:pt>
                <c:pt idx="2">
                  <c:v>2</c:v>
                </c:pt>
                <c:pt idx="3">
                  <c:v>8</c:v>
                </c:pt>
                <c:pt idx="4">
                  <c:v>11</c:v>
                </c:pt>
                <c:pt idx="5">
                  <c:v>16</c:v>
                </c:pt>
                <c:pt idx="6">
                  <c:v>10</c:v>
                </c:pt>
                <c:pt idx="7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70</c:v>
                </c:pt>
                <c:pt idx="2">
                  <c:v>32</c:v>
                </c:pt>
                <c:pt idx="3">
                  <c:v>24</c:v>
                </c:pt>
                <c:pt idx="4">
                  <c:v>36</c:v>
                </c:pt>
                <c:pt idx="5">
                  <c:v>49</c:v>
                </c:pt>
                <c:pt idx="6">
                  <c:v>19</c:v>
                </c:pt>
                <c:pt idx="7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Confirmed</c:v>
                </c:pt>
              </c:strCache>
            </c:strRef>
          </c:tx>
          <c:spPr>
            <a:solidFill>
              <a:srgbClr val="D930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0</c:v>
                </c:pt>
                <c:pt idx="5">
                  <c:v>14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70</c:v>
                </c:pt>
                <c:pt idx="2">
                  <c:v>32</c:v>
                </c:pt>
                <c:pt idx="3">
                  <c:v>24</c:v>
                </c:pt>
                <c:pt idx="4">
                  <c:v>36</c:v>
                </c:pt>
                <c:pt idx="5">
                  <c:v>49</c:v>
                </c:pt>
                <c:pt idx="6">
                  <c:v>19</c:v>
                </c:pt>
                <c:pt idx="7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Confirmed</c:v>
                </c:pt>
              </c:strCache>
            </c:strRef>
          </c:tx>
          <c:spPr>
            <a:solidFill>
              <a:srgbClr val="D930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  <c:pt idx="7">
                    <c:v>Corp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AWC Identified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Katpadi</c:v>
                  </c:pt>
                  <c:pt idx="3">
                    <c:v>Pernambut</c:v>
                  </c:pt>
                  <c:pt idx="4">
                    <c:v>Vellore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RBSK Confirmed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Katpadi</c:v>
                  </c:pt>
                  <c:pt idx="3">
                    <c:v>Pernambut</c:v>
                  </c:pt>
                  <c:pt idx="4">
                    <c:v>Vellore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AWC Identified</c:v>
                </c:pt>
              </c:strCache>
            </c:strRef>
          </c:tx>
          <c:spPr>
            <a:solidFill>
              <a:srgbClr val="F5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13</c:v>
                </c:pt>
                <c:pt idx="2">
                  <c:v>3</c:v>
                </c:pt>
                <c:pt idx="3">
                  <c:v>1</c:v>
                </c:pt>
                <c:pt idx="4">
                  <c:v>7</c:v>
                </c:pt>
                <c:pt idx="5">
                  <c:v>5</c:v>
                </c:pt>
                <c:pt idx="6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RBSK Confirmed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Anaicut</c:v>
                  </c:pt>
                  <c:pt idx="1">
                    <c:v>Gudiyatham</c:v>
                  </c:pt>
                  <c:pt idx="2">
                    <c:v>K.V.Kuppam</c:v>
                  </c:pt>
                  <c:pt idx="3">
                    <c:v>Kaniyambadi</c:v>
                  </c:pt>
                  <c:pt idx="4">
                    <c:v>Katpadi</c:v>
                  </c:pt>
                  <c:pt idx="5">
                    <c:v>Pernambut</c:v>
                  </c:pt>
                  <c:pt idx="6">
                    <c:v>Vellore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</c:v>
                </c:pt>
                <c:pt idx="1">
                  <c:v>28</c:v>
                </c:pt>
                <c:pt idx="2">
                  <c:v>19</c:v>
                </c:pt>
                <c:pt idx="3">
                  <c:v>10</c:v>
                </c:pt>
                <c:pt idx="4">
                  <c:v>5</c:v>
                </c:pt>
                <c:pt idx="5">
                  <c:v>18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D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Overall Detection Rate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4A"/>
              </a:solidFill>
              <a:effectLst/>
            </c:spPr>
          </c:dPt>
          <c:dPt>
            <c:idx val="1"/>
            <c:bubble3D val="0"/>
            <c:spPr>
              <a:solidFill>
                <a:srgbClr val="D0D6E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Confirmed</c:v>
                </c:pt>
                <c:pt idx="1">
                  <c:v>Undetected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1208</c:v>
                </c:pt>
                <c:pt idx="1">
                  <c:v>954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Surgery Completion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Surgery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8A4E"/>
              </a:solidFill>
              <a:effectLst/>
            </c:spPr>
          </c:dPt>
          <c:dPt>
            <c:idx val="1"/>
            <c:bubble3D val="0"/>
            <c:spPr>
              <a:solidFill>
                <a:srgbClr val="D93025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 (403)</c:v>
                </c:pt>
                <c:pt idx="1">
                  <c:v>Pending (5)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403</c:v>
                </c:pt>
                <c:pt idx="1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Hearing: AWC vs RBSK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AWC vs RBSK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A800"/>
              </a:solidFill>
              <a:effectLst/>
            </c:spPr>
          </c:dPt>
          <c:dPt>
            <c:idx val="1"/>
            <c:bubble3D val="0"/>
            <c:spPr>
              <a:solidFill>
                <a:srgbClr val="1A2B4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Hearing AWC (62)</c:v>
                </c:pt>
                <c:pt idx="1">
                  <c:v>Hearing RBSK (106)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106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A2B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9144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18288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7432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6576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4864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4008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-914400"/>
            <a:ext cx="45720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E69500"/>
                </a:solidFill>
              </a:rPr>
              <a:t>R</a:t>
            </a:r>
            <a:endParaRPr lang="en-US" sz="32000" dirty="0"/>
          </a:p>
        </p:txBody>
      </p:sp>
      <p:sp>
        <p:nvSpPr>
          <p:cNvPr id="26" name="Text 24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2B4A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</a:rPr>
              <a:t>VELLORE DISTRICT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40080" y="32004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B4A"/>
                </a:solidFill>
              </a:rPr>
              <a:t>Rashtriya Bal Swasthya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A2B4A"/>
                </a:solidFill>
              </a:rPr>
              <a:t>Karyakram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RBSK — Block-wise Screening Report  ·  2021–2026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1828800" cy="36576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</a:rPr>
              <a:t>PROGRAMME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A800"/>
                </a:solidFill>
              </a:rPr>
              <a:t>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Block-wise RBSK screening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Vellore District covering 8 blocks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and 7 conditions (2021–2026).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3291840" cy="82296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</a:rPr>
              <a:t>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Administrative Blocks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023360"/>
            <a:ext cx="3291840" cy="82296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069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</a:rPr>
              <a:t>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Conditions Tracked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5029200"/>
            <a:ext cx="3291840" cy="82296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5074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</a:rPr>
              <a:t>2021–2026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5166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Period Covered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A2B4A"/>
                </a:solidFill>
              </a:rPr>
              <a:t>CONDITIONS SCREENED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109728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09728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97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Coronary Heart Disease (CHD)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6240" y="182880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1828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Rheumatic Heart Disease (RHD)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256032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256032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560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Club Foot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06240" y="329184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329184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291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Cleft Lip &amp; Palate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06240" y="402336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09160" y="402336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Congenital Cataract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06240" y="475488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4754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709160" y="475488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754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Congenital Deafness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06240" y="5486400"/>
            <a:ext cx="457200" cy="50292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0" y="5486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07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09160" y="5486400"/>
            <a:ext cx="7132320" cy="5029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5486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</a:rPr>
              <a:t>Neural Tube Defect (NTD)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DISTRICT TOTALS  ·  2021–2026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800"/>
                </a:solidFill>
              </a:rPr>
              <a:t>Vellore District  ·  8 Blocks  ·  7 Conditions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566160" cy="2377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3566160" cy="10972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B4A"/>
                </a:solidFill>
              </a:rPr>
              <a:t>2,162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Expected Cases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Across all blocks &amp; conditions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280160"/>
            <a:ext cx="3566160" cy="2377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280160"/>
            <a:ext cx="3566160" cy="109728"/>
          </a:xfrm>
          <a:prstGeom prst="rect">
            <a:avLst/>
          </a:prstGeom>
          <a:solidFill>
            <a:srgbClr val="0A7B8C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508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7B8C"/>
                </a:solidFill>
              </a:rPr>
              <a:t>1,208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38912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Children Confirmed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55.9% detection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1280160"/>
            <a:ext cx="3566160" cy="109728"/>
          </a:xfrm>
          <a:prstGeom prst="rect">
            <a:avLst/>
          </a:prstGeom>
          <a:solidFill>
            <a:srgbClr val="0A5B8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508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5B8C"/>
                </a:solidFill>
              </a:rPr>
              <a:t>800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22960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Medically Managed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971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66.2% of confirmed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3566160" cy="2377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931920"/>
            <a:ext cx="3566160" cy="109728"/>
          </a:xfrm>
          <a:prstGeom prst="rect">
            <a:avLst/>
          </a:prstGeom>
          <a:solidFill>
            <a:srgbClr val="D4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60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800"/>
                </a:solidFill>
              </a:rPr>
              <a:t>408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Needed Surgery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33.8% of confirmed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931920"/>
            <a:ext cx="3566160" cy="2377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206240" y="3931920"/>
            <a:ext cx="3566160" cy="109728"/>
          </a:xfrm>
          <a:prstGeom prst="rect">
            <a:avLst/>
          </a:prstGeom>
          <a:solidFill>
            <a:srgbClr val="0D8A4E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4160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8A4E"/>
                </a:solidFill>
              </a:rPr>
              <a:t>403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438912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Surgeries Done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8912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98.8% completion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931920"/>
            <a:ext cx="3566160" cy="23774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6720" y="3931920"/>
            <a:ext cx="3566160" cy="1097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160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3025"/>
                </a:solidFill>
              </a:rPr>
              <a:t>5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822960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Due for Surgery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5623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3 CHD · 2 Cleft Lip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9144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18288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7432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6576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4864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4008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-1371600"/>
            <a:ext cx="548640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b="1" dirty="0">
                <a:solidFill>
                  <a:srgbClr val="E69500"/>
                </a:solidFill>
              </a:rPr>
              <a:t>1</a:t>
            </a:r>
            <a:endParaRPr lang="en-US" sz="40000" dirty="0"/>
          </a:p>
        </p:txBody>
      </p:sp>
      <p:sp>
        <p:nvSpPr>
          <p:cNvPr id="26" name="Text 24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2B4A"/>
                </a:solidFill>
              </a:rPr>
              <a:t>SECTION 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2B4A"/>
                </a:solidFill>
              </a:rPr>
              <a:t>2021–2026</a:t>
            </a:r>
            <a:endParaRPr lang="en-US" sz="8000" dirty="0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B4A"/>
                </a:solidFill>
              </a:rPr>
              <a:t>Five-Year Cumulative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A2B4A"/>
                </a:solidFill>
              </a:rPr>
              <a:t>Analysis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1828800" cy="457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DISTRICT TOTALS BY CONDITION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SECTION 01 — 2021–2026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24612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CONDITION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1005840"/>
            <a:ext cx="141732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EXPECTED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141732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CONFIRMED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150876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MEDICAL MGMT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46720" y="1005840"/>
            <a:ext cx="141732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SURGERY DONE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09760" y="1005840"/>
            <a:ext cx="141732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DETECTION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508760"/>
            <a:ext cx="32461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1508760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1508760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508760"/>
            <a:ext cx="15087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1508760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509760" y="1508760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15087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Coronary Heart Disease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150876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884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150876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741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15087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475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8160" y="150876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263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150876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83.8%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075688"/>
            <a:ext cx="32461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3566160" y="2075688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0" y="2075688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2240" y="2075688"/>
            <a:ext cx="150876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0" y="2075688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9509760" y="2075688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07568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Rheumatic Heart Disease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20756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196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20756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208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20756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190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38160" y="20756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0" y="20756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106.1%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2642616"/>
            <a:ext cx="32461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566160" y="2642616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0" y="2642616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492240" y="2642616"/>
            <a:ext cx="15087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046720" y="2642616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9509760" y="2642616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26426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Club Foot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0" y="26426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196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20640" y="26426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109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83680" y="26426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93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38160" y="26426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601200" y="26426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55.6%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3209544"/>
            <a:ext cx="32461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5" name="Shape 53"/>
          <p:cNvSpPr/>
          <p:nvPr/>
        </p:nvSpPr>
        <p:spPr>
          <a:xfrm>
            <a:off x="3566160" y="3209544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6" name="Shape 54"/>
          <p:cNvSpPr/>
          <p:nvPr/>
        </p:nvSpPr>
        <p:spPr>
          <a:xfrm>
            <a:off x="5029200" y="3209544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7" name="Shape 55"/>
          <p:cNvSpPr/>
          <p:nvPr/>
        </p:nvSpPr>
        <p:spPr>
          <a:xfrm>
            <a:off x="6492240" y="3209544"/>
            <a:ext cx="150876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8" name="Shape 56"/>
          <p:cNvSpPr/>
          <p:nvPr/>
        </p:nvSpPr>
        <p:spPr>
          <a:xfrm>
            <a:off x="8046720" y="3209544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9" name="Shape 57"/>
          <p:cNvSpPr/>
          <p:nvPr/>
        </p:nvSpPr>
        <p:spPr>
          <a:xfrm>
            <a:off x="9509760" y="3209544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32095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Cleft Lip / Palate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0" y="320954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91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120640" y="320954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81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83680" y="32095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138160" y="320954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76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9601200" y="320954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89.0%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274320" y="3776472"/>
            <a:ext cx="32461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3566160" y="3776472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5029200" y="3776472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6492240" y="3776472"/>
            <a:ext cx="15087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046720" y="3776472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9509760" y="3776472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37764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Congenital Cataract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657600" y="37764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9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120640" y="37764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12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583680" y="37764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3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138160" y="37764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9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601200" y="377647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133.3%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74320" y="4343400"/>
            <a:ext cx="32461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79" name="Shape 77"/>
          <p:cNvSpPr/>
          <p:nvPr/>
        </p:nvSpPr>
        <p:spPr>
          <a:xfrm>
            <a:off x="3566160" y="4343400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9200" y="4343400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1" name="Shape 79"/>
          <p:cNvSpPr/>
          <p:nvPr/>
        </p:nvSpPr>
        <p:spPr>
          <a:xfrm>
            <a:off x="6492240" y="4343400"/>
            <a:ext cx="150876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2" name="Shape 80"/>
          <p:cNvSpPr/>
          <p:nvPr/>
        </p:nvSpPr>
        <p:spPr>
          <a:xfrm>
            <a:off x="8046720" y="4343400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3" name="Shape 81"/>
          <p:cNvSpPr/>
          <p:nvPr/>
        </p:nvSpPr>
        <p:spPr>
          <a:xfrm>
            <a:off x="9509760" y="4343400"/>
            <a:ext cx="1417320" cy="512064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4" name="Text 82"/>
          <p:cNvSpPr/>
          <p:nvPr/>
        </p:nvSpPr>
        <p:spPr>
          <a:xfrm>
            <a:off x="365760" y="43434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Congenital Deafness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3657600" y="434340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393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120640" y="434340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45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583680" y="43434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32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8138160" y="434340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13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9601200" y="434340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11.5%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274320" y="4910328"/>
            <a:ext cx="32461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3566160" y="4910328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5029200" y="4910328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6492240" y="4910328"/>
            <a:ext cx="15087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8046720" y="4910328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9509760" y="4910328"/>
            <a:ext cx="14173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" y="49103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Neural Tube Defect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3657600" y="4910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393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5120640" y="4910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12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6583680" y="49103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4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8138160" y="4910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8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601200" y="4910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3.1%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274320" y="5477256"/>
            <a:ext cx="3246120" cy="5120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566160" y="5477256"/>
            <a:ext cx="1417320" cy="5120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029200" y="5477256"/>
            <a:ext cx="1417320" cy="5120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492240" y="5477256"/>
            <a:ext cx="1508760" cy="5120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046720" y="5477256"/>
            <a:ext cx="1417320" cy="5120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509760" y="5477256"/>
            <a:ext cx="1417320" cy="512064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8" name="Text 106"/>
          <p:cNvSpPr/>
          <p:nvPr/>
        </p:nvSpPr>
        <p:spPr>
          <a:xfrm>
            <a:off x="365760" y="54772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DISTRICT TOTAL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3657600" y="54772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2,162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5120640" y="54772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1,208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6583680" y="54772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800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8138160" y="54772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403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601200" y="54772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55.9%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EXPECTED vs CONFIRMED BY BLOCK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All conditions combined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DETECTION RATES BY CONDITION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Confirmed as % of Expected cases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MEDICAL vs SURGICAL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By condition — all blocks combined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SURGERY COMPLETION STATUS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Of 408 children needing surgery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1005840"/>
          <a:ext cx="502920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10972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Pending Surgery Detail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1645920"/>
            <a:ext cx="5212080" cy="8686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645920"/>
            <a:ext cx="91440" cy="86868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7373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3025"/>
                </a:solidFill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58952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Coronary Heart Disease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2651760"/>
            <a:ext cx="5212080" cy="8686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651760"/>
            <a:ext cx="91440" cy="8686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0" y="27432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800"/>
                </a:solidFill>
              </a:rPr>
              <a:t>2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7589520" y="2834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Cleft Lip / Palate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3657600"/>
            <a:ext cx="5212080" cy="8686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0" y="3657600"/>
            <a:ext cx="91440" cy="868680"/>
          </a:xfrm>
          <a:prstGeom prst="rect">
            <a:avLst/>
          </a:prstGeom>
          <a:solidFill>
            <a:srgbClr val="0D8A4E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37490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8A4E"/>
                </a:solidFill>
              </a:rPr>
              <a:t>0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589520" y="3840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</a:rPr>
              <a:t>All Others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4754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8A4E"/>
                </a:solidFill>
              </a:rPr>
              <a:t>98.8% Surgery Completion Rate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BLOCK-WISE SUMMARY — ALL CONDITIONS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Combined totals across all 7 conditions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51460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BLOCK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005840"/>
            <a:ext cx="150876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EXPECTED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150876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CONFIRMED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005840"/>
            <a:ext cx="132588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0058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DETECT%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1005840"/>
            <a:ext cx="160020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MED MGMT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69680" y="1005840"/>
            <a:ext cx="1600200" cy="41148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4A"/>
                </a:solidFill>
              </a:rPr>
              <a:t>SURG DONE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508760"/>
            <a:ext cx="2514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150876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150876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1508760"/>
            <a:ext cx="1325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150876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0" y="150876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Anaicut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302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211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69.9%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144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66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2103120"/>
            <a:ext cx="25146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0" y="210312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210312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5852160" y="2103120"/>
            <a:ext cx="132588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223760" y="210312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8869680" y="210312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Gudiyatham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3464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384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179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2103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46.6%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128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611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51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2880" y="2697480"/>
            <a:ext cx="2514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743200" y="269748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97680" y="269748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5852160" y="2697480"/>
            <a:ext cx="1325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7223760" y="269748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869680" y="269748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K.V.Kuppam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83464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178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38912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146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4E"/>
                </a:solidFill>
              </a:rPr>
              <a:t>82.0%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111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6112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34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82880" y="3291840"/>
            <a:ext cx="25146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5" name="Shape 53"/>
          <p:cNvSpPr/>
          <p:nvPr/>
        </p:nvSpPr>
        <p:spPr>
          <a:xfrm>
            <a:off x="2743200" y="329184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6" name="Shape 54"/>
          <p:cNvSpPr/>
          <p:nvPr/>
        </p:nvSpPr>
        <p:spPr>
          <a:xfrm>
            <a:off x="4297680" y="329184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7" name="Shape 55"/>
          <p:cNvSpPr/>
          <p:nvPr/>
        </p:nvSpPr>
        <p:spPr>
          <a:xfrm>
            <a:off x="5852160" y="3291840"/>
            <a:ext cx="132588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8" name="Shape 56"/>
          <p:cNvSpPr/>
          <p:nvPr/>
        </p:nvSpPr>
        <p:spPr>
          <a:xfrm>
            <a:off x="7223760" y="329184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59" name="Shape 57"/>
          <p:cNvSpPr/>
          <p:nvPr/>
        </p:nvSpPr>
        <p:spPr>
          <a:xfrm>
            <a:off x="8869680" y="329184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Kaniyambadi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83464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131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38912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228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943600" y="3291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4E"/>
                </a:solidFill>
              </a:rPr>
              <a:t>174.0%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31520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179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96112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49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" y="3886200"/>
            <a:ext cx="2514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2743200" y="388620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4297680" y="388620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5852160" y="3886200"/>
            <a:ext cx="1325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7223760" y="388620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8869680" y="388620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27432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Katpadi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83464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163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38912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103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943600" y="3886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63.2%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731520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75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96112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39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82880" y="4480560"/>
            <a:ext cx="25146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79" name="Shape 77"/>
          <p:cNvSpPr/>
          <p:nvPr/>
        </p:nvSpPr>
        <p:spPr>
          <a:xfrm>
            <a:off x="2743200" y="448056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0" name="Shape 78"/>
          <p:cNvSpPr/>
          <p:nvPr/>
        </p:nvSpPr>
        <p:spPr>
          <a:xfrm>
            <a:off x="4297680" y="448056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1" name="Shape 79"/>
          <p:cNvSpPr/>
          <p:nvPr/>
        </p:nvSpPr>
        <p:spPr>
          <a:xfrm>
            <a:off x="5852160" y="4480560"/>
            <a:ext cx="132588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2" name="Shape 80"/>
          <p:cNvSpPr/>
          <p:nvPr/>
        </p:nvSpPr>
        <p:spPr>
          <a:xfrm>
            <a:off x="7223760" y="448056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3" name="Shape 81"/>
          <p:cNvSpPr/>
          <p:nvPr/>
        </p:nvSpPr>
        <p:spPr>
          <a:xfrm>
            <a:off x="8869680" y="448056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4" name="Text 82"/>
          <p:cNvSpPr/>
          <p:nvPr/>
        </p:nvSpPr>
        <p:spPr>
          <a:xfrm>
            <a:off x="274320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Pernambut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83464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188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4389120" y="4480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189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5943600" y="4480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4E"/>
                </a:solidFill>
              </a:rPr>
              <a:t>100.5%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31520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103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96112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86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82880" y="5074920"/>
            <a:ext cx="2514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2743200" y="507492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4297680" y="5074920"/>
            <a:ext cx="1508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91"/>
          <p:cNvSpPr/>
          <p:nvPr/>
        </p:nvSpPr>
        <p:spPr>
          <a:xfrm>
            <a:off x="5852160" y="5074920"/>
            <a:ext cx="13258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Shape 92"/>
          <p:cNvSpPr/>
          <p:nvPr/>
        </p:nvSpPr>
        <p:spPr>
          <a:xfrm>
            <a:off x="7223760" y="507492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8869680" y="5074920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27432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Vellore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2834640" y="5074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104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389120" y="5074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75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5943600" y="5074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A4E"/>
                </a:solidFill>
              </a:rPr>
              <a:t>72.1%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7315200" y="5074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36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961120" y="5074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38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82880" y="5669280"/>
            <a:ext cx="25146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743200" y="566928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297680" y="5669280"/>
            <a:ext cx="150876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852160" y="5669280"/>
            <a:ext cx="132588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223760" y="566928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869680" y="5669280"/>
            <a:ext cx="1600200" cy="5486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8" name="Text 106"/>
          <p:cNvSpPr/>
          <p:nvPr/>
        </p:nvSpPr>
        <p:spPr>
          <a:xfrm>
            <a:off x="274320" y="5669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Vellore Corp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2834640" y="5669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596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4389120" y="5669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66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5943600" y="5669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3025"/>
                </a:solidFill>
              </a:rPr>
              <a:t>11.1%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7315200" y="5669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24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8961120" y="5669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40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CORONARY HEART DISEASE — Block-wise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District Total: 884 Expected · 741 Confirmed · 475 Medical · 263 Surgery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RHD · CLUB FOOT · CLEFT LIP — Block-wise Confirmed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Compared across 8 blocks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1124712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DEAFNESS &amp; NTD — Critical Detection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Expected vs Confirmed — lowest detection rates in the programme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</a:rPr>
              <a:t>Congenital Deafness  (11.4% detection)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17320"/>
          <a:ext cx="55778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</a:rPr>
              <a:t>Neural Tube Defect  (3.1% detection)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126480" y="1417320"/>
          <a:ext cx="55778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9144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18288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27432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36576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5720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4864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400800"/>
            <a:ext cx="12161520" cy="9144"/>
          </a:xfrm>
          <a:prstGeom prst="rect">
            <a:avLst/>
          </a:prstGeom>
          <a:solidFill>
            <a:srgbClr val="E69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-1371600"/>
            <a:ext cx="5486400" cy="9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b="1" dirty="0">
                <a:solidFill>
                  <a:srgbClr val="E69500"/>
                </a:solidFill>
              </a:rPr>
              <a:t>2</a:t>
            </a:r>
            <a:endParaRPr lang="en-US" sz="40000" dirty="0"/>
          </a:p>
        </p:txBody>
      </p:sp>
      <p:sp>
        <p:nvSpPr>
          <p:cNvPr id="26" name="Text 24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A2B4A"/>
                </a:solidFill>
              </a:rPr>
              <a:t>SECTION 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1945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2B4A"/>
                </a:solidFill>
              </a:rPr>
              <a:t>AWC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1A2B4A"/>
                </a:solidFill>
              </a:rPr>
              <a:t>Screening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B4A"/>
                </a:solidFill>
              </a:rPr>
              <a:t>Blindness &amp;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2B4A"/>
                </a:solidFill>
              </a:rPr>
              <a:t>Hearing Impairment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1828800" cy="457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BLINDNESS — AWC SCREENING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SECTION 02 — Cases identified at AWC vs RBSK confirmed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68580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188720"/>
            <a:ext cx="42976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188720"/>
            <a:ext cx="429768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325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A800"/>
                </a:solidFill>
              </a:rPr>
              <a:t>7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768096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Total AWC Identified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3017520"/>
            <a:ext cx="42976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0" y="3017520"/>
            <a:ext cx="4297680" cy="914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B4A"/>
                </a:solidFill>
              </a:rPr>
              <a:t>12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768096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RBSK Confirmed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4846320"/>
            <a:ext cx="42976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6" name="Shape 13"/>
          <p:cNvSpPr/>
          <p:nvPr/>
        </p:nvSpPr>
        <p:spPr>
          <a:xfrm>
            <a:off x="7498080" y="4846320"/>
            <a:ext cx="4297680" cy="91440"/>
          </a:xfrm>
          <a:prstGeom prst="rect">
            <a:avLst/>
          </a:prstGeom>
          <a:solidFill>
            <a:srgbClr val="0A7B8C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0" y="4983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7B8C"/>
                </a:solidFill>
              </a:rPr>
              <a:t>58%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7680960" y="5852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AWC Capture 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HEARING IMPAIRMENT — AWC SCREENING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Cases identified at AWC vs RBSK confirmed by block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777240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188720"/>
            <a:ext cx="347472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0" y="1188720"/>
            <a:ext cx="3474720" cy="91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0" y="1325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A800"/>
                </a:solidFill>
              </a:rPr>
              <a:t>62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59536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AWC Identified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0" y="3017520"/>
            <a:ext cx="347472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0" y="3017520"/>
            <a:ext cx="3474720" cy="914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2B4A"/>
                </a:solidFill>
              </a:rPr>
              <a:t>106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85953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RBSK Confirmed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412480" y="4846320"/>
            <a:ext cx="347472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6" name="Shape 13"/>
          <p:cNvSpPr/>
          <p:nvPr/>
        </p:nvSpPr>
        <p:spPr>
          <a:xfrm>
            <a:off x="8412480" y="4846320"/>
            <a:ext cx="3474720" cy="91440"/>
          </a:xfrm>
          <a:prstGeom prst="rect">
            <a:avLst/>
          </a:prstGeom>
          <a:solidFill>
            <a:srgbClr val="0A7B8C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4983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7B8C"/>
                </a:solidFill>
              </a:rPr>
              <a:t>58%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8595360" y="5852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</a:rPr>
              <a:t>AWC Capture 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SCREENING OVERVIEW — RBSK 2021–2026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800"/>
                </a:solidFill>
              </a:rPr>
              <a:t>District 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286000" cy="10058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800"/>
                </a:solidFill>
              </a:rPr>
              <a:t>2,162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Expected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2286000" cy="10058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051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800"/>
                </a:solidFill>
              </a:rPr>
              <a:t>1,208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Confirmed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005840"/>
            <a:ext cx="2286000" cy="10058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051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800"/>
                </a:solidFill>
              </a:rPr>
              <a:t>800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Medical Mgmt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1005840"/>
            <a:ext cx="2286000" cy="10058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1051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800"/>
                </a:solidFill>
              </a:rPr>
              <a:t>403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980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Surgery Done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84080" y="1005840"/>
            <a:ext cx="2286000" cy="100584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0" y="1051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800"/>
                </a:solidFill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8755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Pending Surgery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194560"/>
            <a:ext cx="5486400" cy="36576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BLINDNESS · AWC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2560320" cy="11887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</a:rPr>
              <a:t>7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Identified at AWC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2651760"/>
            <a:ext cx="2560320" cy="11887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</a:rPr>
              <a:t>12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2004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RBSK Confirmed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194560"/>
            <a:ext cx="5669280" cy="36576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HEARING IMPAIRMENT · AWC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2651760"/>
            <a:ext cx="2651760" cy="11887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</a:rPr>
              <a:t>62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Identified at AWC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52560" y="2651760"/>
            <a:ext cx="2651760" cy="118872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</a:rPr>
              <a:t>106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923544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RBSK Confirmed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97764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</a:rPr>
              <a:t>All figures from RBSK 2021–2026 block-wise data and AWC screening data for Vellore District.</a:t>
            </a:r>
            <a:endParaRPr lang="en-US" sz="9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274320" y="4343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9" name="Chart 1" descr=""/>
          <p:cNvGraphicFramePr/>
          <p:nvPr/>
        </p:nvGraphicFramePr>
        <p:xfrm>
          <a:off x="4389120" y="4343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0" name="Chart 2" descr=""/>
          <p:cNvGraphicFramePr/>
          <p:nvPr/>
        </p:nvGraphicFramePr>
        <p:xfrm>
          <a:off x="8229600" y="4343400"/>
          <a:ext cx="3657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1" name="Text 36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B4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5A800"/>
                </a:solidFill>
              </a:rPr>
              <a:t>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SUMMARY &amp; NEXT STEPS — Vellore District RBSK 2021–2026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486400" cy="2377440"/>
          </a:xfrm>
          <a:prstGeom prst="rect">
            <a:avLst/>
          </a:prstGeom>
          <a:solidFill>
            <a:srgbClr val="243B5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822960" cy="2377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25880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4A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</a:rPr>
              <a:t>Close the Detection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2,162 cases expected but only 1,208 confirmed. Strengthen screening coverage and confirmatory diagnostics — especially for Congenital Deafness (393 expected, 45 confirmed) and NTD (393 expected, 12 confirmed).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86400" cy="2377440"/>
          </a:xfrm>
          <a:prstGeom prst="rect">
            <a:avLst/>
          </a:prstGeom>
          <a:solidFill>
            <a:srgbClr val="243B5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280160"/>
            <a:ext cx="822960" cy="2377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325880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4A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132320" y="1417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</a:rPr>
              <a:t>Complete Remaining Surgeries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19659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408 children needing surgery, 403 are done. 5 remain — 3 for CHD and 2 for Cleft Lip / Palate. Fast-track these pending cases immediately.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5486400" cy="2377440"/>
          </a:xfrm>
          <a:prstGeom prst="rect">
            <a:avLst/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931920"/>
            <a:ext cx="822960" cy="2377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977640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4A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</a:rPr>
              <a:t>Focus on Vellore Corporation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6177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Corporation has the widest shortfall — 66 confirmed against 596 expected across all conditions. Direct additional screening camps and follow-up support here.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486400" cy="2377440"/>
          </a:xfrm>
          <a:prstGeom prst="rect">
            <a:avLst/>
          </a:prstGeom>
          <a:solidFill>
            <a:srgbClr val="243B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3931920"/>
            <a:ext cx="822960" cy="2377440"/>
          </a:xfrm>
          <a:prstGeom prst="rect">
            <a:avLst/>
          </a:prstGeom>
          <a:solidFill>
            <a:srgbClr val="F5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3977640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4A"/>
                </a:solidFill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32320" y="4069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800"/>
                </a:solidFill>
              </a:rPr>
              <a:t>Strengthen AWC-Level Screening &amp; Referral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46177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AWC identification trails RBSK confirmation for blindness (7 vs 12) and hearing (62 vs 106) with wide block divergence. Align AWC screening and cross-referral with RBSK teams.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2026-07-22T09:19:58Z</dcterms:created>
  <dcterms:modified xsi:type="dcterms:W3CDTF">2026-07-22T09:19:58Z</dcterms:modified>
</cp:coreProperties>
</file>