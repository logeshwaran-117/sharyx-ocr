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4399" y="51434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6099" y="1239547"/>
            <a:ext cx="11250930" cy="180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rgbClr val="11111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90699" y="3328983"/>
            <a:ext cx="14706600" cy="5057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6299" y="9544112"/>
            <a:ext cx="27305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99999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239374" y="0"/>
            <a:ext cx="8048625" cy="10287000"/>
            <a:chOff x="10239374" y="0"/>
            <a:chExt cx="8048625" cy="10287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39374" y="0"/>
              <a:ext cx="8048624" cy="10286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39374" y="0"/>
              <a:ext cx="8048624" cy="102869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14399" y="51434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6099" y="5365028"/>
            <a:ext cx="2371090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70" b="1">
                <a:solidFill>
                  <a:srgbClr val="3C5980"/>
                </a:solidFill>
                <a:latin typeface="Arial"/>
                <a:cs typeface="Arial"/>
              </a:rPr>
              <a:t>VE</a:t>
            </a:r>
            <a:r>
              <a:rPr dirty="0" sz="1650" spc="-1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spc="-110" b="1">
                <a:solidFill>
                  <a:srgbClr val="3C5980"/>
                </a:solidFill>
                <a:latin typeface="Arial"/>
                <a:cs typeface="Arial"/>
              </a:rPr>
              <a:t>L</a:t>
            </a:r>
            <a:r>
              <a:rPr dirty="0" sz="1650" spc="-21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3C5980"/>
                </a:solidFill>
                <a:latin typeface="Arial"/>
                <a:cs typeface="Arial"/>
              </a:rPr>
              <a:t>LORE</a:t>
            </a:r>
            <a:r>
              <a:rPr dirty="0" sz="1650" spc="48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spc="-45" b="1">
                <a:solidFill>
                  <a:srgbClr val="3C5980"/>
                </a:solidFill>
                <a:latin typeface="Arial"/>
                <a:cs typeface="Arial"/>
              </a:rPr>
              <a:t>D</a:t>
            </a:r>
            <a:r>
              <a:rPr dirty="0" sz="1650" spc="-229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spc="-100" b="1">
                <a:solidFill>
                  <a:srgbClr val="3C5980"/>
                </a:solidFill>
                <a:latin typeface="Arial"/>
                <a:cs typeface="Arial"/>
              </a:rPr>
              <a:t>I</a:t>
            </a:r>
            <a:r>
              <a:rPr dirty="0" sz="1650" spc="-11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spc="10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650" spc="-11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650" spc="114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6099" y="5654913"/>
            <a:ext cx="8815070" cy="228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8890"/>
              </a:lnSpc>
              <a:spcBef>
                <a:spcPts val="95"/>
              </a:spcBef>
            </a:pPr>
            <a:r>
              <a:rPr dirty="0" sz="8250" spc="-450" b="1">
                <a:solidFill>
                  <a:srgbClr val="111111"/>
                </a:solidFill>
                <a:latin typeface="Arial"/>
                <a:cs typeface="Arial"/>
              </a:rPr>
              <a:t>Suspected</a:t>
            </a:r>
            <a:r>
              <a:rPr dirty="0" sz="8250" spc="-10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250" spc="-330" b="1">
                <a:solidFill>
                  <a:srgbClr val="111111"/>
                </a:solidFill>
                <a:latin typeface="Arial"/>
                <a:cs typeface="Arial"/>
              </a:rPr>
              <a:t>Measles</a:t>
            </a:r>
            <a:endParaRPr sz="8250">
              <a:latin typeface="Arial"/>
              <a:cs typeface="Arial"/>
            </a:endParaRPr>
          </a:p>
          <a:p>
            <a:pPr marL="12700">
              <a:lnSpc>
                <a:spcPts val="8890"/>
              </a:lnSpc>
            </a:pPr>
            <a:r>
              <a:rPr dirty="0" sz="8250" spc="-390" b="1">
                <a:solidFill>
                  <a:srgbClr val="111111"/>
                </a:solidFill>
                <a:latin typeface="Arial"/>
                <a:cs typeface="Arial"/>
              </a:rPr>
              <a:t>Case</a:t>
            </a:r>
            <a:r>
              <a:rPr dirty="0" sz="8250" spc="-12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250" spc="-765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8250" spc="-400" b="1">
                <a:solidFill>
                  <a:srgbClr val="111111"/>
                </a:solidFill>
                <a:latin typeface="Arial"/>
                <a:cs typeface="Arial"/>
              </a:rPr>
              <a:t>n</a:t>
            </a:r>
            <a:r>
              <a:rPr dirty="0" sz="8250" spc="-370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8250" spc="-20" b="1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dirty="0" sz="8250" spc="-735" b="1">
                <a:solidFill>
                  <a:srgbClr val="111111"/>
                </a:solidFill>
                <a:latin typeface="Arial"/>
                <a:cs typeface="Arial"/>
              </a:rPr>
              <a:t>y</a:t>
            </a:r>
            <a:r>
              <a:rPr dirty="0" sz="8250" spc="-575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r>
              <a:rPr dirty="0" sz="8250" spc="-135" b="1">
                <a:solidFill>
                  <a:srgbClr val="111111"/>
                </a:solidFill>
                <a:latin typeface="Arial"/>
                <a:cs typeface="Arial"/>
              </a:rPr>
              <a:t>i</a:t>
            </a:r>
            <a:r>
              <a:rPr dirty="0" sz="8250" spc="-180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endParaRPr sz="82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28799" y="9105899"/>
            <a:ext cx="733425" cy="28575"/>
          </a:xfrm>
          <a:custGeom>
            <a:avLst/>
            <a:gdLst/>
            <a:ahLst/>
            <a:cxnLst/>
            <a:rect l="l" t="t" r="r" b="b"/>
            <a:pathLst>
              <a:path w="733425" h="28575">
                <a:moveTo>
                  <a:pt x="733424" y="28574"/>
                </a:moveTo>
                <a:lnTo>
                  <a:pt x="0" y="28574"/>
                </a:lnTo>
                <a:lnTo>
                  <a:pt x="0" y="0"/>
                </a:lnTo>
                <a:lnTo>
                  <a:pt x="733424" y="0"/>
                </a:lnTo>
                <a:lnTo>
                  <a:pt x="733424" y="28574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16099" y="8130474"/>
            <a:ext cx="8997315" cy="11042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January</a:t>
            </a:r>
            <a:r>
              <a:rPr dirty="0" sz="2450" spc="-9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540">
                <a:solidFill>
                  <a:srgbClr val="545454"/>
                </a:solidFill>
                <a:latin typeface="Microsoft Sans Serif"/>
                <a:cs typeface="Microsoft Sans Serif"/>
              </a:rPr>
              <a:t>–</a:t>
            </a:r>
            <a:r>
              <a:rPr dirty="0" sz="2450" spc="-1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July</a:t>
            </a:r>
            <a:r>
              <a:rPr dirty="0" sz="2450" spc="-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50">
                <a:solidFill>
                  <a:srgbClr val="545454"/>
                </a:solidFill>
                <a:latin typeface="Microsoft Sans Serif"/>
                <a:cs typeface="Microsoft Sans Serif"/>
              </a:rPr>
              <a:t>2026</a:t>
            </a:r>
            <a:r>
              <a:rPr dirty="0" sz="2450" spc="6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|</a:t>
            </a:r>
            <a:r>
              <a:rPr dirty="0" sz="2450" spc="100">
                <a:solidFill>
                  <a:srgbClr val="545454"/>
                </a:solidFill>
                <a:latin typeface="Microsoft Sans Serif"/>
                <a:cs typeface="Microsoft Sans Serif"/>
              </a:rPr>
              <a:t> 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73</a:t>
            </a:r>
            <a:r>
              <a:rPr dirty="0" sz="24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4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2450" spc="60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|</a:t>
            </a:r>
            <a:r>
              <a:rPr dirty="0" sz="2450" spc="100">
                <a:solidFill>
                  <a:srgbClr val="545454"/>
                </a:solidFill>
                <a:latin typeface="Microsoft Sans Serif"/>
                <a:cs typeface="Microsoft Sans Serif"/>
              </a:rPr>
              <a:t>  </a:t>
            </a:r>
            <a:r>
              <a:rPr dirty="0" sz="2450">
                <a:solidFill>
                  <a:srgbClr val="545454"/>
                </a:solidFill>
                <a:latin typeface="Microsoft Sans Serif"/>
                <a:cs typeface="Microsoft Sans Serif"/>
              </a:rPr>
              <a:t>35</a:t>
            </a:r>
            <a:r>
              <a:rPr dirty="0" sz="245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75">
                <a:solidFill>
                  <a:srgbClr val="545454"/>
                </a:solidFill>
                <a:latin typeface="Microsoft Sans Serif"/>
                <a:cs typeface="Microsoft Sans Serif"/>
              </a:rPr>
              <a:t>PHCs</a:t>
            </a:r>
            <a:r>
              <a:rPr dirty="0" sz="24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165">
                <a:solidFill>
                  <a:srgbClr val="545454"/>
                </a:solidFill>
                <a:latin typeface="Microsoft Sans Serif"/>
                <a:cs typeface="Microsoft Sans Serif"/>
              </a:rPr>
              <a:t>/</a:t>
            </a:r>
            <a:r>
              <a:rPr dirty="0" sz="24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2450" spc="-10">
                <a:solidFill>
                  <a:srgbClr val="545454"/>
                </a:solidFill>
                <a:latin typeface="Microsoft Sans Serif"/>
                <a:cs typeface="Microsoft Sans Serif"/>
              </a:rPr>
              <a:t>UPHCs</a:t>
            </a:r>
            <a:endParaRPr sz="24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017905">
              <a:lnSpc>
                <a:spcPct val="100000"/>
              </a:lnSpc>
            </a:pPr>
            <a:r>
              <a:rPr dirty="0" sz="1550" spc="-110">
                <a:solidFill>
                  <a:srgbClr val="999999"/>
                </a:solidFill>
                <a:latin typeface="Microsoft Sans Serif"/>
                <a:cs typeface="Microsoft Sans Serif"/>
              </a:rPr>
              <a:t>H</a:t>
            </a:r>
            <a:r>
              <a:rPr dirty="0" sz="1550" spc="-19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80">
                <a:solidFill>
                  <a:srgbClr val="999999"/>
                </a:solidFill>
                <a:latin typeface="Microsoft Sans Serif"/>
                <a:cs typeface="Microsoft Sans Serif"/>
              </a:rPr>
              <a:t>SC</a:t>
            </a:r>
            <a:r>
              <a:rPr dirty="0" sz="1500" spc="8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500" spc="-1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55">
                <a:solidFill>
                  <a:srgbClr val="999999"/>
                </a:solidFill>
                <a:latin typeface="Microsoft Sans Serif"/>
                <a:cs typeface="Microsoft Sans Serif"/>
              </a:rPr>
              <a:t>LE</a:t>
            </a:r>
            <a:r>
              <a:rPr dirty="0" sz="1550" spc="-2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45">
                <a:solidFill>
                  <a:srgbClr val="999999"/>
                </a:solidFill>
                <a:latin typeface="Microsoft Sans Serif"/>
                <a:cs typeface="Microsoft Sans Serif"/>
              </a:rPr>
              <a:t>VE</a:t>
            </a:r>
            <a:r>
              <a:rPr dirty="0" sz="1550" spc="-2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550" spc="30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30">
                <a:solidFill>
                  <a:srgbClr val="999999"/>
                </a:solidFill>
                <a:latin typeface="Microsoft Sans Serif"/>
                <a:cs typeface="Microsoft Sans Serif"/>
              </a:rPr>
              <a:t>SU</a:t>
            </a:r>
            <a:r>
              <a:rPr dirty="0" sz="1550" spc="-19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50">
                <a:solidFill>
                  <a:srgbClr val="999999"/>
                </a:solidFill>
                <a:latin typeface="Microsoft Sans Serif"/>
                <a:cs typeface="Microsoft Sans Serif"/>
              </a:rPr>
              <a:t>RVE</a:t>
            </a:r>
            <a:r>
              <a:rPr dirty="0" sz="1550" spc="-2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65">
                <a:solidFill>
                  <a:srgbClr val="999999"/>
                </a:solidFill>
                <a:latin typeface="Microsoft Sans Serif"/>
                <a:cs typeface="Microsoft Sans Serif"/>
              </a:rPr>
              <a:t>I</a:t>
            </a:r>
            <a:r>
              <a:rPr dirty="0" sz="1550" spc="-1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60">
                <a:solidFill>
                  <a:srgbClr val="999999"/>
                </a:solidFill>
                <a:latin typeface="Microsoft Sans Serif"/>
                <a:cs typeface="Microsoft Sans Serif"/>
              </a:rPr>
              <a:t>LLAN</a:t>
            </a:r>
            <a:r>
              <a:rPr dirty="0" sz="1550" spc="-20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>
                <a:solidFill>
                  <a:srgbClr val="999999"/>
                </a:solidFill>
                <a:latin typeface="Microsoft Sans Serif"/>
                <a:cs typeface="Microsoft Sans Serif"/>
              </a:rPr>
              <a:t>CE</a:t>
            </a:r>
            <a:r>
              <a:rPr dirty="0" sz="1550" spc="3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120">
                <a:solidFill>
                  <a:srgbClr val="999999"/>
                </a:solidFill>
                <a:latin typeface="Microsoft Sans Serif"/>
                <a:cs typeface="Microsoft Sans Serif"/>
              </a:rPr>
              <a:t>RE</a:t>
            </a:r>
            <a:r>
              <a:rPr dirty="0" sz="1550" spc="-2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550" spc="-20">
                <a:solidFill>
                  <a:srgbClr val="999999"/>
                </a:solidFill>
                <a:latin typeface="Microsoft Sans Serif"/>
                <a:cs typeface="Microsoft Sans Serif"/>
              </a:rPr>
              <a:t>PORT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92347" y="415092"/>
            <a:ext cx="3181350" cy="60071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750570">
              <a:lnSpc>
                <a:spcPct val="100000"/>
              </a:lnSpc>
              <a:spcBef>
                <a:spcPts val="855"/>
              </a:spcBef>
            </a:pP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2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3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2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r>
              <a:rPr dirty="0" sz="1350" spc="3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50" b="1">
                <a:solidFill>
                  <a:srgbClr val="3C5980"/>
                </a:solidFill>
                <a:latin typeface="Arial"/>
                <a:cs typeface="Arial"/>
              </a:rPr>
              <a:t>UNI</a:t>
            </a:r>
            <a:r>
              <a:rPr dirty="0" sz="1350" spc="-13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5" b="1">
                <a:solidFill>
                  <a:srgbClr val="3C5980"/>
                </a:solidFill>
                <a:latin typeface="Arial"/>
                <a:cs typeface="Arial"/>
              </a:rPr>
              <a:t>T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9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799" y="7286624"/>
            <a:ext cx="14630400" cy="1123950"/>
            <a:chOff x="1828799" y="7286624"/>
            <a:chExt cx="14630400" cy="1123950"/>
          </a:xfrm>
        </p:grpSpPr>
        <p:sp>
          <p:nvSpPr>
            <p:cNvPr id="6" name="object 6"/>
            <p:cNvSpPr/>
            <p:nvPr/>
          </p:nvSpPr>
          <p:spPr>
            <a:xfrm>
              <a:off x="1828799" y="7286624"/>
              <a:ext cx="14630400" cy="1123950"/>
            </a:xfrm>
            <a:custGeom>
              <a:avLst/>
              <a:gdLst/>
              <a:ahLst/>
              <a:cxnLst/>
              <a:rect l="l" t="t" r="r" b="b"/>
              <a:pathLst>
                <a:path w="14630400" h="1123950">
                  <a:moveTo>
                    <a:pt x="14630398" y="1123949"/>
                  </a:moveTo>
                  <a:lnTo>
                    <a:pt x="0" y="112394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1123949"/>
                  </a:lnTo>
                  <a:close/>
                </a:path>
              </a:pathLst>
            </a:custGeom>
            <a:solidFill>
              <a:srgbClr val="EBF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8799" y="7286624"/>
              <a:ext cx="38100" cy="1123950"/>
            </a:xfrm>
            <a:custGeom>
              <a:avLst/>
              <a:gdLst/>
              <a:ahLst/>
              <a:cxnLst/>
              <a:rect l="l" t="t" r="r" b="b"/>
              <a:pathLst>
                <a:path w="38100" h="1123950">
                  <a:moveTo>
                    <a:pt x="38099" y="1123949"/>
                  </a:moveTo>
                  <a:lnTo>
                    <a:pt x="0" y="11239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2394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16099" y="1239547"/>
            <a:ext cx="8348980" cy="1804035"/>
          </a:xfrm>
          <a:prstGeom prst="rect">
            <a:avLst/>
          </a:prstGeom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z="5950" spc="-220" b="1">
                <a:solidFill>
                  <a:srgbClr val="111111"/>
                </a:solidFill>
                <a:latin typeface="Arial"/>
                <a:cs typeface="Arial"/>
              </a:rPr>
              <a:t>E</a:t>
            </a:r>
            <a:r>
              <a:rPr dirty="0" sz="5950" spc="-520" b="1">
                <a:solidFill>
                  <a:srgbClr val="111111"/>
                </a:solidFill>
                <a:latin typeface="Arial"/>
                <a:cs typeface="Arial"/>
              </a:rPr>
              <a:t>x</a:t>
            </a:r>
            <a:r>
              <a:rPr dirty="0" sz="5950" spc="-305" b="1">
                <a:solidFill>
                  <a:srgbClr val="111111"/>
                </a:solidFill>
                <a:latin typeface="Arial"/>
                <a:cs typeface="Arial"/>
              </a:rPr>
              <a:t>e</a:t>
            </a:r>
            <a:r>
              <a:rPr dirty="0" sz="5950" spc="-300" b="1">
                <a:solidFill>
                  <a:srgbClr val="111111"/>
                </a:solidFill>
                <a:latin typeface="Arial"/>
                <a:cs typeface="Arial"/>
              </a:rPr>
              <a:t>c</a:t>
            </a:r>
            <a:r>
              <a:rPr dirty="0" sz="5950" spc="-165" b="1">
                <a:solidFill>
                  <a:srgbClr val="111111"/>
                </a:solidFill>
                <a:latin typeface="Arial"/>
                <a:cs typeface="Arial"/>
              </a:rPr>
              <a:t>u</a:t>
            </a:r>
            <a:r>
              <a:rPr dirty="0" sz="5950" spc="-310" b="1">
                <a:solidFill>
                  <a:srgbClr val="111111"/>
                </a:solidFill>
                <a:latin typeface="Arial"/>
                <a:cs typeface="Arial"/>
              </a:rPr>
              <a:t>t</a:t>
            </a:r>
            <a:r>
              <a:rPr dirty="0" sz="5950" spc="-15" b="1">
                <a:solidFill>
                  <a:srgbClr val="111111"/>
                </a:solidFill>
                <a:latin typeface="Arial"/>
                <a:cs typeface="Arial"/>
              </a:rPr>
              <a:t>i</a:t>
            </a:r>
            <a:r>
              <a:rPr dirty="0" sz="5950" spc="-535" b="1">
                <a:solidFill>
                  <a:srgbClr val="111111"/>
                </a:solidFill>
                <a:latin typeface="Arial"/>
                <a:cs typeface="Arial"/>
              </a:rPr>
              <a:t>v</a:t>
            </a:r>
            <a:r>
              <a:rPr dirty="0" sz="5950" spc="-114" b="1">
                <a:solidFill>
                  <a:srgbClr val="111111"/>
                </a:solidFill>
                <a:latin typeface="Arial"/>
                <a:cs typeface="Arial"/>
              </a:rPr>
              <a:t>e</a:t>
            </a:r>
            <a:r>
              <a:rPr dirty="0" sz="5950" spc="-6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950" spc="-300" b="1">
                <a:solidFill>
                  <a:srgbClr val="111111"/>
                </a:solidFill>
                <a:latin typeface="Arial"/>
                <a:cs typeface="Arial"/>
              </a:rPr>
              <a:t>Summary</a:t>
            </a:r>
            <a:endParaRPr sz="5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30">
                <a:solidFill>
                  <a:srgbClr val="666666"/>
                </a:solidFill>
                <a:latin typeface="Microsoft Sans Serif"/>
                <a:cs typeface="Microsoft Sans Serif"/>
              </a:rPr>
              <a:t>Key</a:t>
            </a:r>
            <a:r>
              <a:rPr dirty="0" sz="2300" spc="-1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epidemiological</a:t>
            </a:r>
            <a:r>
              <a:rPr dirty="0" sz="2300" spc="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indicators</a:t>
            </a:r>
            <a:r>
              <a:rPr dirty="0" sz="230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230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District,</a:t>
            </a:r>
            <a:r>
              <a:rPr dirty="0" sz="2300" spc="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Jan</a:t>
            </a:r>
            <a:r>
              <a:rPr dirty="0" sz="2300" spc="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15">
                <a:solidFill>
                  <a:srgbClr val="666666"/>
                </a:solidFill>
                <a:latin typeface="Microsoft Sans Serif"/>
                <a:cs typeface="Microsoft Sans Serif"/>
              </a:rPr>
              <a:t>–</a:t>
            </a:r>
            <a:r>
              <a:rPr dirty="0" sz="2300" spc="-1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Jul</a:t>
            </a:r>
            <a:r>
              <a:rPr dirty="0" sz="2300" spc="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6899" y="7368364"/>
            <a:ext cx="14592300" cy="803275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980"/>
              </a:spcBef>
            </a:pPr>
            <a:r>
              <a:rPr dirty="0" sz="2050" spc="-60" b="1">
                <a:solidFill>
                  <a:srgbClr val="3C5980"/>
                </a:solidFill>
                <a:latin typeface="Arial"/>
                <a:cs typeface="Arial"/>
              </a:rPr>
              <a:t>Peak</a:t>
            </a:r>
            <a:r>
              <a:rPr dirty="0" sz="2050" spc="-20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90" b="1">
                <a:solidFill>
                  <a:srgbClr val="3C5980"/>
                </a:solidFill>
                <a:latin typeface="Arial"/>
                <a:cs typeface="Arial"/>
              </a:rPr>
              <a:t>month</a:t>
            </a:r>
            <a:r>
              <a:rPr dirty="0" sz="2000" spc="-90" b="1">
                <a:solidFill>
                  <a:srgbClr val="3C5980"/>
                </a:solidFill>
                <a:latin typeface="Arial"/>
                <a:cs typeface="Arial"/>
              </a:rPr>
              <a:t>:</a:t>
            </a:r>
            <a:r>
              <a:rPr dirty="0" sz="2000" spc="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3C5980"/>
                </a:solidFill>
                <a:latin typeface="Arial"/>
                <a:cs typeface="Arial"/>
              </a:rPr>
              <a:t>March</a:t>
            </a:r>
            <a:r>
              <a:rPr dirty="0" sz="2050" spc="-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90" b="1">
                <a:solidFill>
                  <a:srgbClr val="3C5980"/>
                </a:solidFill>
                <a:latin typeface="Arial"/>
                <a:cs typeface="Arial"/>
              </a:rPr>
              <a:t>2026</a:t>
            </a:r>
            <a:r>
              <a:rPr dirty="0" sz="2000" spc="-1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2000" spc="-30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-160" b="1">
                <a:solidFill>
                  <a:srgbClr val="3C5980"/>
                </a:solidFill>
                <a:latin typeface="Arial"/>
                <a:cs typeface="Arial"/>
              </a:rPr>
              <a:t>17</a:t>
            </a:r>
            <a:r>
              <a:rPr dirty="0" sz="2000" spc="-12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6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2050" spc="-14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55" b="1">
                <a:solidFill>
                  <a:srgbClr val="3C5980"/>
                </a:solidFill>
                <a:latin typeface="Arial"/>
                <a:cs typeface="Arial"/>
              </a:rPr>
              <a:t>(23.3%</a:t>
            </a:r>
            <a:r>
              <a:rPr dirty="0" sz="2000" spc="-8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3C5980"/>
                </a:solidFill>
                <a:latin typeface="Arial"/>
                <a:cs typeface="Arial"/>
              </a:rPr>
              <a:t>of</a:t>
            </a:r>
            <a:r>
              <a:rPr dirty="0" sz="2050" spc="-1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3C5980"/>
                </a:solidFill>
                <a:latin typeface="Arial"/>
                <a:cs typeface="Arial"/>
              </a:rPr>
              <a:t>total</a:t>
            </a:r>
            <a:r>
              <a:rPr dirty="0" sz="2000" spc="-10" b="1">
                <a:solidFill>
                  <a:srgbClr val="3C598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65125">
              <a:lnSpc>
                <a:spcPct val="100000"/>
              </a:lnSpc>
              <a:spcBef>
                <a:spcPts val="740"/>
              </a:spcBef>
            </a:pP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Primary</a:t>
            </a:r>
            <a:r>
              <a:rPr dirty="0" sz="1700" spc="-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70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source</a:t>
            </a:r>
            <a:r>
              <a:rPr dirty="0" sz="1650">
                <a:solidFill>
                  <a:srgbClr val="545454"/>
                </a:solidFill>
                <a:latin typeface="Microsoft Sans Serif"/>
                <a:cs typeface="Microsoft Sans Serif"/>
              </a:rPr>
              <a:t>:</a:t>
            </a:r>
            <a:r>
              <a:rPr dirty="0" sz="16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40">
                <a:solidFill>
                  <a:srgbClr val="545454"/>
                </a:solidFill>
                <a:latin typeface="Microsoft Sans Serif"/>
                <a:cs typeface="Microsoft Sans Serif"/>
              </a:rPr>
              <a:t>CMC</a:t>
            </a:r>
            <a:r>
              <a:rPr dirty="0" sz="170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545454"/>
                </a:solidFill>
                <a:latin typeface="Microsoft Sans Serif"/>
                <a:cs typeface="Microsoft Sans Serif"/>
              </a:rPr>
              <a:t>Vellore</a:t>
            </a:r>
            <a:r>
              <a:rPr dirty="0" sz="170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545454"/>
                </a:solidFill>
                <a:latin typeface="Microsoft Sans Serif"/>
                <a:cs typeface="Microsoft Sans Serif"/>
              </a:rPr>
              <a:t>(42.5%)</a:t>
            </a:r>
            <a:r>
              <a:rPr dirty="0" sz="1650" spc="1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followed</a:t>
            </a:r>
            <a:r>
              <a:rPr dirty="0" sz="1700" spc="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by</a:t>
            </a:r>
            <a:r>
              <a:rPr dirty="0" sz="1700" spc="-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75">
                <a:solidFill>
                  <a:srgbClr val="545454"/>
                </a:solidFill>
                <a:latin typeface="Microsoft Sans Serif"/>
                <a:cs typeface="Microsoft Sans Serif"/>
              </a:rPr>
              <a:t>GVMCH</a:t>
            </a:r>
            <a:r>
              <a:rPr dirty="0" sz="170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545454"/>
                </a:solidFill>
                <a:latin typeface="Microsoft Sans Serif"/>
                <a:cs typeface="Microsoft Sans Serif"/>
              </a:rPr>
              <a:t>Vellore</a:t>
            </a:r>
            <a:r>
              <a:rPr dirty="0" sz="170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Microsoft Sans Serif"/>
                <a:cs typeface="Microsoft Sans Serif"/>
              </a:rPr>
              <a:t>(21.9%)</a:t>
            </a:r>
            <a:endParaRPr sz="16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5167" y="3505200"/>
            <a:ext cx="3520440" cy="3492500"/>
            <a:chOff x="1725167" y="3505200"/>
            <a:chExt cx="3520440" cy="3492500"/>
          </a:xfrm>
        </p:grpSpPr>
        <p:sp>
          <p:nvSpPr>
            <p:cNvPr id="11" name="object 11"/>
            <p:cNvSpPr/>
            <p:nvPr/>
          </p:nvSpPr>
          <p:spPr>
            <a:xfrm>
              <a:off x="1725155" y="3505199"/>
              <a:ext cx="3520440" cy="3492500"/>
            </a:xfrm>
            <a:custGeom>
              <a:avLst/>
              <a:gdLst/>
              <a:ahLst/>
              <a:cxnLst/>
              <a:rect l="l" t="t" r="r" b="b"/>
              <a:pathLst>
                <a:path w="3520440" h="3492500">
                  <a:moveTo>
                    <a:pt x="3520440" y="95262"/>
                  </a:moveTo>
                  <a:lnTo>
                    <a:pt x="3418332" y="95262"/>
                  </a:lnTo>
                  <a:lnTo>
                    <a:pt x="3418332" y="3362337"/>
                  </a:lnTo>
                  <a:lnTo>
                    <a:pt x="3520440" y="3362337"/>
                  </a:lnTo>
                  <a:lnTo>
                    <a:pt x="3520440" y="95262"/>
                  </a:lnTo>
                  <a:close/>
                </a:path>
                <a:path w="3520440" h="3492500">
                  <a:moveTo>
                    <a:pt x="352044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3362960"/>
                  </a:lnTo>
                  <a:lnTo>
                    <a:pt x="0" y="3492500"/>
                  </a:lnTo>
                  <a:lnTo>
                    <a:pt x="3520440" y="3492500"/>
                  </a:lnTo>
                  <a:lnTo>
                    <a:pt x="3520440" y="3362960"/>
                  </a:lnTo>
                  <a:lnTo>
                    <a:pt x="103632" y="3362960"/>
                  </a:lnTo>
                  <a:lnTo>
                    <a:pt x="103632" y="95250"/>
                  </a:lnTo>
                  <a:lnTo>
                    <a:pt x="3520440" y="95250"/>
                  </a:lnTo>
                  <a:lnTo>
                    <a:pt x="352044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33562" y="3595686"/>
              <a:ext cx="3305175" cy="3276600"/>
            </a:xfrm>
            <a:custGeom>
              <a:avLst/>
              <a:gdLst/>
              <a:ahLst/>
              <a:cxnLst/>
              <a:rect l="l" t="t" r="r" b="b"/>
              <a:pathLst>
                <a:path w="3305175" h="3276600">
                  <a:moveTo>
                    <a:pt x="0" y="0"/>
                  </a:moveTo>
                  <a:lnTo>
                    <a:pt x="3305174" y="0"/>
                  </a:lnTo>
                  <a:lnTo>
                    <a:pt x="3305174" y="3276599"/>
                  </a:lnTo>
                  <a:lnTo>
                    <a:pt x="0" y="327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828799" y="3590924"/>
            <a:ext cx="3314700" cy="32861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0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3000"/>
              </a:spcBef>
            </a:pPr>
            <a:r>
              <a:rPr dirty="0" sz="7650" spc="180" b="1">
                <a:solidFill>
                  <a:srgbClr val="3C5980"/>
                </a:solidFill>
                <a:latin typeface="Arial"/>
                <a:cs typeface="Arial"/>
              </a:rPr>
              <a:t>73</a:t>
            </a:r>
            <a:endParaRPr sz="76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20"/>
              </a:spcBef>
            </a:pPr>
            <a:r>
              <a:rPr dirty="0" sz="2050" spc="-90" b="1">
                <a:solidFill>
                  <a:srgbClr val="111111"/>
                </a:solidFill>
                <a:latin typeface="Arial"/>
                <a:cs typeface="Arial"/>
              </a:rPr>
              <a:t>Total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Suspected</a:t>
            </a:r>
            <a:endParaRPr sz="20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315"/>
              </a:spcBef>
            </a:pP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endParaRPr sz="20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1040"/>
              </a:spcBef>
            </a:pP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Jan</a:t>
            </a:r>
            <a:r>
              <a:rPr dirty="0" sz="1700" spc="-1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390">
                <a:solidFill>
                  <a:srgbClr val="999999"/>
                </a:solidFill>
                <a:latin typeface="Microsoft Sans Serif"/>
                <a:cs typeface="Microsoft Sans Serif"/>
              </a:rPr>
              <a:t>–</a:t>
            </a:r>
            <a:r>
              <a:rPr dirty="0" sz="1650" spc="-1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Jul</a:t>
            </a:r>
            <a:r>
              <a:rPr dirty="0" sz="1700" spc="4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38324" y="3600449"/>
            <a:ext cx="3295650" cy="38100"/>
          </a:xfrm>
          <a:custGeom>
            <a:avLst/>
            <a:gdLst/>
            <a:ahLst/>
            <a:cxnLst/>
            <a:rect l="l" t="t" r="r" b="b"/>
            <a:pathLst>
              <a:path w="3295650" h="38100">
                <a:moveTo>
                  <a:pt x="3295649" y="38099"/>
                </a:moveTo>
                <a:lnTo>
                  <a:pt x="0" y="38099"/>
                </a:lnTo>
                <a:lnTo>
                  <a:pt x="0" y="0"/>
                </a:lnTo>
                <a:lnTo>
                  <a:pt x="3295649" y="0"/>
                </a:lnTo>
                <a:lnTo>
                  <a:pt x="3295649" y="3809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5498591" y="3505200"/>
            <a:ext cx="3520440" cy="3492500"/>
            <a:chOff x="5498591" y="3505200"/>
            <a:chExt cx="3520440" cy="3492500"/>
          </a:xfrm>
        </p:grpSpPr>
        <p:sp>
          <p:nvSpPr>
            <p:cNvPr id="16" name="object 16"/>
            <p:cNvSpPr/>
            <p:nvPr/>
          </p:nvSpPr>
          <p:spPr>
            <a:xfrm>
              <a:off x="5498579" y="3505199"/>
              <a:ext cx="3520440" cy="3492500"/>
            </a:xfrm>
            <a:custGeom>
              <a:avLst/>
              <a:gdLst/>
              <a:ahLst/>
              <a:cxnLst/>
              <a:rect l="l" t="t" r="r" b="b"/>
              <a:pathLst>
                <a:path w="3520440" h="3492500">
                  <a:moveTo>
                    <a:pt x="3520440" y="95262"/>
                  </a:moveTo>
                  <a:lnTo>
                    <a:pt x="3416808" y="95262"/>
                  </a:lnTo>
                  <a:lnTo>
                    <a:pt x="3416808" y="3362337"/>
                  </a:lnTo>
                  <a:lnTo>
                    <a:pt x="3520440" y="3362337"/>
                  </a:lnTo>
                  <a:lnTo>
                    <a:pt x="3520440" y="95262"/>
                  </a:lnTo>
                  <a:close/>
                </a:path>
                <a:path w="3520440" h="3492500">
                  <a:moveTo>
                    <a:pt x="352044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3362960"/>
                  </a:lnTo>
                  <a:lnTo>
                    <a:pt x="0" y="3492500"/>
                  </a:lnTo>
                  <a:lnTo>
                    <a:pt x="3520440" y="3492500"/>
                  </a:lnTo>
                  <a:lnTo>
                    <a:pt x="3520440" y="3362960"/>
                  </a:lnTo>
                  <a:lnTo>
                    <a:pt x="102108" y="3362960"/>
                  </a:lnTo>
                  <a:lnTo>
                    <a:pt x="102108" y="95250"/>
                  </a:lnTo>
                  <a:lnTo>
                    <a:pt x="3520440" y="95250"/>
                  </a:lnTo>
                  <a:lnTo>
                    <a:pt x="352044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05462" y="3595686"/>
              <a:ext cx="3305175" cy="3276600"/>
            </a:xfrm>
            <a:custGeom>
              <a:avLst/>
              <a:gdLst/>
              <a:ahLst/>
              <a:cxnLst/>
              <a:rect l="l" t="t" r="r" b="b"/>
              <a:pathLst>
                <a:path w="3305175" h="3276600">
                  <a:moveTo>
                    <a:pt x="0" y="0"/>
                  </a:moveTo>
                  <a:lnTo>
                    <a:pt x="3305174" y="0"/>
                  </a:lnTo>
                  <a:lnTo>
                    <a:pt x="3305174" y="3276599"/>
                  </a:lnTo>
                  <a:lnTo>
                    <a:pt x="0" y="327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00699" y="3590924"/>
            <a:ext cx="3314700" cy="32861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735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3050"/>
              </a:spcBef>
            </a:pPr>
            <a:r>
              <a:rPr dirty="0" sz="7600" spc="415" b="1">
                <a:solidFill>
                  <a:srgbClr val="98C1D9"/>
                </a:solidFill>
                <a:latin typeface="Arial"/>
                <a:cs typeface="Arial"/>
              </a:rPr>
              <a:t>35</a:t>
            </a:r>
            <a:endParaRPr sz="7600">
              <a:latin typeface="Arial"/>
              <a:cs typeface="Arial"/>
            </a:endParaRPr>
          </a:p>
          <a:p>
            <a:pPr marL="466725" marR="1177290">
              <a:lnSpc>
                <a:spcPct val="112799"/>
              </a:lnSpc>
              <a:spcBef>
                <a:spcPts val="315"/>
              </a:spcBef>
            </a:pPr>
            <a:r>
              <a:rPr dirty="0" sz="2050" spc="-120" b="1">
                <a:solidFill>
                  <a:srgbClr val="111111"/>
                </a:solidFill>
                <a:latin typeface="Arial"/>
                <a:cs typeface="Arial"/>
              </a:rPr>
              <a:t>PHCs</a:t>
            </a:r>
            <a:r>
              <a:rPr dirty="0" sz="205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225" b="1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195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0" b="1">
                <a:solidFill>
                  <a:srgbClr val="111111"/>
                </a:solidFill>
                <a:latin typeface="Arial"/>
                <a:cs typeface="Arial"/>
              </a:rPr>
              <a:t>UPHCs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Affected</a:t>
            </a:r>
            <a:endParaRPr sz="20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1040"/>
              </a:spcBef>
            </a:pP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Across</a:t>
            </a:r>
            <a:r>
              <a:rPr dirty="0" sz="1700" spc="-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Vellore</a:t>
            </a:r>
            <a:r>
              <a:rPr dirty="0" sz="1700" spc="-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District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10224" y="3600449"/>
            <a:ext cx="3295650" cy="38100"/>
          </a:xfrm>
          <a:custGeom>
            <a:avLst/>
            <a:gdLst/>
            <a:ahLst/>
            <a:cxnLst/>
            <a:rect l="l" t="t" r="r" b="b"/>
            <a:pathLst>
              <a:path w="3295650" h="38100">
                <a:moveTo>
                  <a:pt x="3295649" y="38099"/>
                </a:moveTo>
                <a:lnTo>
                  <a:pt x="0" y="38099"/>
                </a:lnTo>
                <a:lnTo>
                  <a:pt x="0" y="0"/>
                </a:lnTo>
                <a:lnTo>
                  <a:pt x="3295649" y="0"/>
                </a:lnTo>
                <a:lnTo>
                  <a:pt x="3295649" y="38099"/>
                </a:lnTo>
                <a:close/>
              </a:path>
            </a:pathLst>
          </a:custGeom>
          <a:solidFill>
            <a:srgbClr val="98C1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9268967" y="3505200"/>
            <a:ext cx="3520440" cy="3492500"/>
            <a:chOff x="9268967" y="3505200"/>
            <a:chExt cx="3520440" cy="3492500"/>
          </a:xfrm>
        </p:grpSpPr>
        <p:sp>
          <p:nvSpPr>
            <p:cNvPr id="21" name="object 21"/>
            <p:cNvSpPr/>
            <p:nvPr/>
          </p:nvSpPr>
          <p:spPr>
            <a:xfrm>
              <a:off x="9268955" y="3505199"/>
              <a:ext cx="3520440" cy="3492500"/>
            </a:xfrm>
            <a:custGeom>
              <a:avLst/>
              <a:gdLst/>
              <a:ahLst/>
              <a:cxnLst/>
              <a:rect l="l" t="t" r="r" b="b"/>
              <a:pathLst>
                <a:path w="3520440" h="3492500">
                  <a:moveTo>
                    <a:pt x="3520440" y="95262"/>
                  </a:moveTo>
                  <a:lnTo>
                    <a:pt x="3418332" y="95262"/>
                  </a:lnTo>
                  <a:lnTo>
                    <a:pt x="3418332" y="3362337"/>
                  </a:lnTo>
                  <a:lnTo>
                    <a:pt x="3520440" y="3362337"/>
                  </a:lnTo>
                  <a:lnTo>
                    <a:pt x="3520440" y="95262"/>
                  </a:lnTo>
                  <a:close/>
                </a:path>
                <a:path w="3520440" h="3492500">
                  <a:moveTo>
                    <a:pt x="352044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3362960"/>
                  </a:lnTo>
                  <a:lnTo>
                    <a:pt x="0" y="3492500"/>
                  </a:lnTo>
                  <a:lnTo>
                    <a:pt x="3520440" y="3492500"/>
                  </a:lnTo>
                  <a:lnTo>
                    <a:pt x="3520440" y="3362960"/>
                  </a:lnTo>
                  <a:lnTo>
                    <a:pt x="103632" y="3362960"/>
                  </a:lnTo>
                  <a:lnTo>
                    <a:pt x="103632" y="95250"/>
                  </a:lnTo>
                  <a:lnTo>
                    <a:pt x="3520440" y="95250"/>
                  </a:lnTo>
                  <a:lnTo>
                    <a:pt x="352044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377361" y="3595686"/>
              <a:ext cx="3305175" cy="3276600"/>
            </a:xfrm>
            <a:custGeom>
              <a:avLst/>
              <a:gdLst/>
              <a:ahLst/>
              <a:cxnLst/>
              <a:rect l="l" t="t" r="r" b="b"/>
              <a:pathLst>
                <a:path w="3305175" h="3276600">
                  <a:moveTo>
                    <a:pt x="0" y="0"/>
                  </a:moveTo>
                  <a:lnTo>
                    <a:pt x="3305174" y="0"/>
                  </a:lnTo>
                  <a:lnTo>
                    <a:pt x="3305174" y="3276599"/>
                  </a:lnTo>
                  <a:lnTo>
                    <a:pt x="0" y="327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372599" y="3590924"/>
            <a:ext cx="3314700" cy="32861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0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3000"/>
              </a:spcBef>
            </a:pPr>
            <a:r>
              <a:rPr dirty="0" sz="7650" spc="500" b="1">
                <a:solidFill>
                  <a:srgbClr val="ED6B4D"/>
                </a:solidFill>
                <a:latin typeface="Arial"/>
                <a:cs typeface="Arial"/>
              </a:rPr>
              <a:t>38%</a:t>
            </a:r>
            <a:endParaRPr sz="76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20"/>
              </a:spcBef>
            </a:pPr>
            <a:r>
              <a:rPr dirty="0" sz="2050" spc="-80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r>
              <a:rPr dirty="0" sz="205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Under</a:t>
            </a:r>
            <a:r>
              <a:rPr dirty="0" sz="205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Age</a:t>
            </a:r>
            <a:r>
              <a:rPr dirty="0" sz="2050" spc="-1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40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endParaRPr sz="195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1040"/>
              </a:spcBef>
            </a:pP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28</a:t>
            </a:r>
            <a:r>
              <a:rPr dirty="0" sz="1650" spc="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73</a:t>
            </a:r>
            <a:r>
              <a:rPr dirty="0" sz="1650" spc="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cases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382124" y="3600449"/>
            <a:ext cx="3295650" cy="38100"/>
          </a:xfrm>
          <a:custGeom>
            <a:avLst/>
            <a:gdLst/>
            <a:ahLst/>
            <a:cxnLst/>
            <a:rect l="l" t="t" r="r" b="b"/>
            <a:pathLst>
              <a:path w="3295650" h="38100">
                <a:moveTo>
                  <a:pt x="3295649" y="38099"/>
                </a:moveTo>
                <a:lnTo>
                  <a:pt x="0" y="38099"/>
                </a:lnTo>
                <a:lnTo>
                  <a:pt x="0" y="0"/>
                </a:lnTo>
                <a:lnTo>
                  <a:pt x="3295649" y="0"/>
                </a:lnTo>
                <a:lnTo>
                  <a:pt x="3295649" y="38099"/>
                </a:lnTo>
                <a:close/>
              </a:path>
            </a:pathLst>
          </a:custGeom>
          <a:solidFill>
            <a:srgbClr val="ED6B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3042391" y="3505200"/>
            <a:ext cx="3520440" cy="3492500"/>
            <a:chOff x="13042391" y="3505200"/>
            <a:chExt cx="3520440" cy="3492500"/>
          </a:xfrm>
        </p:grpSpPr>
        <p:sp>
          <p:nvSpPr>
            <p:cNvPr id="26" name="object 26"/>
            <p:cNvSpPr/>
            <p:nvPr/>
          </p:nvSpPr>
          <p:spPr>
            <a:xfrm>
              <a:off x="13042379" y="3505199"/>
              <a:ext cx="3520440" cy="3492500"/>
            </a:xfrm>
            <a:custGeom>
              <a:avLst/>
              <a:gdLst/>
              <a:ahLst/>
              <a:cxnLst/>
              <a:rect l="l" t="t" r="r" b="b"/>
              <a:pathLst>
                <a:path w="3520440" h="3492500">
                  <a:moveTo>
                    <a:pt x="3520440" y="95262"/>
                  </a:moveTo>
                  <a:lnTo>
                    <a:pt x="3416808" y="95262"/>
                  </a:lnTo>
                  <a:lnTo>
                    <a:pt x="3416808" y="3362337"/>
                  </a:lnTo>
                  <a:lnTo>
                    <a:pt x="3520440" y="3362337"/>
                  </a:lnTo>
                  <a:lnTo>
                    <a:pt x="3520440" y="95262"/>
                  </a:lnTo>
                  <a:close/>
                </a:path>
                <a:path w="3520440" h="3492500">
                  <a:moveTo>
                    <a:pt x="352044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3362960"/>
                  </a:lnTo>
                  <a:lnTo>
                    <a:pt x="0" y="3492500"/>
                  </a:lnTo>
                  <a:lnTo>
                    <a:pt x="3520440" y="3492500"/>
                  </a:lnTo>
                  <a:lnTo>
                    <a:pt x="3520440" y="3362960"/>
                  </a:lnTo>
                  <a:lnTo>
                    <a:pt x="102108" y="3362960"/>
                  </a:lnTo>
                  <a:lnTo>
                    <a:pt x="102108" y="95250"/>
                  </a:lnTo>
                  <a:lnTo>
                    <a:pt x="3520440" y="95250"/>
                  </a:lnTo>
                  <a:lnTo>
                    <a:pt x="352044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149261" y="3595686"/>
              <a:ext cx="3305175" cy="3276600"/>
            </a:xfrm>
            <a:custGeom>
              <a:avLst/>
              <a:gdLst/>
              <a:ahLst/>
              <a:cxnLst/>
              <a:rect l="l" t="t" r="r" b="b"/>
              <a:pathLst>
                <a:path w="3305175" h="3276600">
                  <a:moveTo>
                    <a:pt x="0" y="0"/>
                  </a:moveTo>
                  <a:lnTo>
                    <a:pt x="3305174" y="0"/>
                  </a:lnTo>
                  <a:lnTo>
                    <a:pt x="3305174" y="3276599"/>
                  </a:lnTo>
                  <a:lnTo>
                    <a:pt x="0" y="3276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3144498" y="3590924"/>
            <a:ext cx="3314700" cy="32861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81000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3000"/>
              </a:spcBef>
            </a:pPr>
            <a:r>
              <a:rPr dirty="0" sz="7650" spc="455" b="1">
                <a:solidFill>
                  <a:srgbClr val="3C5980"/>
                </a:solidFill>
                <a:latin typeface="Arial"/>
                <a:cs typeface="Arial"/>
              </a:rPr>
              <a:t>62%</a:t>
            </a:r>
            <a:endParaRPr sz="765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620"/>
              </a:spcBef>
            </a:pP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Completely</a:t>
            </a:r>
            <a:endParaRPr sz="205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315"/>
              </a:spcBef>
            </a:pP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Immunised</a:t>
            </a:r>
            <a:endParaRPr sz="2050">
              <a:latin typeface="Arial"/>
              <a:cs typeface="Arial"/>
            </a:endParaRPr>
          </a:p>
          <a:p>
            <a:pPr marL="466090">
              <a:lnSpc>
                <a:spcPct val="100000"/>
              </a:lnSpc>
              <a:spcBef>
                <a:spcPts val="1040"/>
              </a:spcBef>
            </a:pP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45</a:t>
            </a:r>
            <a:r>
              <a:rPr dirty="0" sz="1650" spc="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1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73</a:t>
            </a:r>
            <a:r>
              <a:rPr dirty="0" sz="1650" spc="4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cases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154023" y="3600449"/>
            <a:ext cx="3295650" cy="38100"/>
          </a:xfrm>
          <a:custGeom>
            <a:avLst/>
            <a:gdLst/>
            <a:ahLst/>
            <a:cxnLst/>
            <a:rect l="l" t="t" r="r" b="b"/>
            <a:pathLst>
              <a:path w="3295650" h="38100">
                <a:moveTo>
                  <a:pt x="3295649" y="38099"/>
                </a:moveTo>
                <a:lnTo>
                  <a:pt x="0" y="38099"/>
                </a:lnTo>
                <a:lnTo>
                  <a:pt x="0" y="0"/>
                </a:lnTo>
                <a:lnTo>
                  <a:pt x="3295649" y="0"/>
                </a:lnTo>
                <a:lnTo>
                  <a:pt x="3295649" y="3809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901699" y="9559511"/>
            <a:ext cx="240029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55" b="1">
                <a:solidFill>
                  <a:srgbClr val="999999"/>
                </a:solidFill>
                <a:latin typeface="Arial"/>
                <a:cs typeface="Arial"/>
              </a:rPr>
              <a:t>02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415"/>
              <a:t>S</a:t>
            </a:r>
            <a:r>
              <a:rPr dirty="0" spc="-245"/>
              <a:t>u</a:t>
            </a:r>
            <a:r>
              <a:rPr dirty="0" spc="-305"/>
              <a:t>r</a:t>
            </a:r>
            <a:r>
              <a:rPr dirty="0" spc="-615"/>
              <a:t>v</a:t>
            </a:r>
            <a:r>
              <a:rPr dirty="0" spc="-385"/>
              <a:t>e</a:t>
            </a:r>
            <a:r>
              <a:rPr dirty="0" spc="-95"/>
              <a:t>i</a:t>
            </a:r>
            <a:r>
              <a:rPr dirty="0" spc="-45"/>
              <a:t>ll</a:t>
            </a:r>
            <a:r>
              <a:rPr dirty="0" spc="-235"/>
              <a:t>a</a:t>
            </a:r>
            <a:r>
              <a:rPr dirty="0" spc="-245"/>
              <a:t>n</a:t>
            </a:r>
            <a:r>
              <a:rPr dirty="0" spc="-380"/>
              <a:t>c</a:t>
            </a:r>
            <a:r>
              <a:rPr dirty="0" spc="-195"/>
              <a:t>e</a:t>
            </a:r>
            <a:r>
              <a:rPr dirty="0" spc="-540"/>
              <a:t> </a:t>
            </a:r>
            <a:r>
              <a:rPr dirty="0" spc="-385"/>
              <a:t>Background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100" b="0">
                <a:solidFill>
                  <a:srgbClr val="666666"/>
                </a:solidFill>
                <a:latin typeface="Microsoft Sans Serif"/>
                <a:cs typeface="Microsoft Sans Serif"/>
              </a:rPr>
              <a:t>VPD</a:t>
            </a:r>
            <a:r>
              <a:rPr dirty="0" sz="2300" spc="-5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surveillance</a:t>
            </a:r>
            <a:r>
              <a:rPr dirty="0" sz="2300" spc="-6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in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2300" spc="-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District</a:t>
            </a:r>
            <a:r>
              <a:rPr dirty="0" sz="2300" spc="-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data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source</a:t>
            </a:r>
            <a:r>
              <a:rPr dirty="0" sz="2300" spc="-4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scope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8799" y="3971923"/>
            <a:ext cx="6858000" cy="19050"/>
          </a:xfrm>
          <a:custGeom>
            <a:avLst/>
            <a:gdLst/>
            <a:ahLst/>
            <a:cxnLst/>
            <a:rect l="l" t="t" r="r" b="b"/>
            <a:pathLst>
              <a:path w="6858000" h="19050">
                <a:moveTo>
                  <a:pt x="6857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190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6099" y="3535874"/>
            <a:ext cx="1214120" cy="305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85" b="1">
                <a:solidFill>
                  <a:srgbClr val="3C5980"/>
                </a:solidFill>
                <a:latin typeface="Arial"/>
                <a:cs typeface="Arial"/>
              </a:rPr>
              <a:t>CONTEXT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099" y="4058332"/>
            <a:ext cx="6656705" cy="1669414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200" spc="-25" b="1">
                <a:solidFill>
                  <a:srgbClr val="111111"/>
                </a:solidFill>
                <a:latin typeface="Arial"/>
                <a:cs typeface="Arial"/>
              </a:rPr>
              <a:t>Measles</a:t>
            </a:r>
            <a:r>
              <a:rPr dirty="0" sz="2300" spc="-25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200" spc="-105" b="1">
                <a:solidFill>
                  <a:srgbClr val="111111"/>
                </a:solidFill>
                <a:latin typeface="Arial"/>
                <a:cs typeface="Arial"/>
              </a:rPr>
              <a:t>Rubella</a:t>
            </a:r>
            <a:r>
              <a:rPr dirty="0" sz="220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Surveillance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09"/>
              </a:spcBef>
            </a:pP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measles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reported</a:t>
            </a:r>
            <a:r>
              <a:rPr dirty="0" sz="185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the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State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95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Surveillance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Unit</a:t>
            </a:r>
            <a:r>
              <a:rPr dirty="0" sz="1850" spc="-8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under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the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Vaccine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Preventable</a:t>
            </a:r>
            <a:r>
              <a:rPr dirty="0" sz="1850" spc="-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Disease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40">
                <a:solidFill>
                  <a:srgbClr val="666666"/>
                </a:solidFill>
                <a:latin typeface="Microsoft Sans Serif"/>
                <a:cs typeface="Microsoft Sans Serif"/>
              </a:rPr>
              <a:t>(</a:t>
            </a:r>
            <a:r>
              <a:rPr dirty="0" sz="1850" spc="-40">
                <a:solidFill>
                  <a:srgbClr val="666666"/>
                </a:solidFill>
                <a:latin typeface="Microsoft Sans Serif"/>
                <a:cs typeface="Microsoft Sans Serif"/>
              </a:rPr>
              <a:t>VPD</a:t>
            </a:r>
            <a:r>
              <a:rPr dirty="0" sz="1800" spc="-4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8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programme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, 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Tamil</a:t>
            </a:r>
            <a:r>
              <a:rPr dirty="0" sz="185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Nadu</a:t>
            </a:r>
            <a:r>
              <a:rPr dirty="0" sz="1800" spc="-20">
                <a:solidFill>
                  <a:srgbClr val="666666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099" y="5839506"/>
            <a:ext cx="6737984" cy="1316990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2200" spc="-75" b="1">
                <a:solidFill>
                  <a:srgbClr val="111111"/>
                </a:solidFill>
                <a:latin typeface="Arial"/>
                <a:cs typeface="Arial"/>
              </a:rPr>
              <a:t>Case</a:t>
            </a:r>
            <a:r>
              <a:rPr dirty="0" sz="2200" spc="-1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0" b="1">
                <a:solidFill>
                  <a:srgbClr val="111111"/>
                </a:solidFill>
                <a:latin typeface="Arial"/>
                <a:cs typeface="Arial"/>
              </a:rPr>
              <a:t>Investigation</a:t>
            </a:r>
            <a:r>
              <a:rPr dirty="0" sz="220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25" b="1">
                <a:solidFill>
                  <a:srgbClr val="111111"/>
                </a:solidFill>
                <a:latin typeface="Arial"/>
                <a:cs typeface="Arial"/>
              </a:rPr>
              <a:t>Form</a:t>
            </a:r>
            <a:r>
              <a:rPr dirty="0" sz="2200" spc="-1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CIF</a:t>
            </a:r>
            <a:r>
              <a:rPr dirty="0" sz="2300" spc="-10" b="1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09"/>
              </a:spcBef>
            </a:pP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Each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case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recorded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using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standardised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70">
                <a:solidFill>
                  <a:srgbClr val="666666"/>
                </a:solidFill>
                <a:latin typeface="Microsoft Sans Serif"/>
                <a:cs typeface="Microsoft Sans Serif"/>
              </a:rPr>
              <a:t>CIF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capturing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demographic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clinical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-9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epidemiological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details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6099" y="7279768"/>
            <a:ext cx="6243320" cy="1296035"/>
          </a:xfrm>
          <a:prstGeom prst="rect">
            <a:avLst/>
          </a:prstGeom>
        </p:spPr>
        <p:txBody>
          <a:bodyPr wrap="square" lIns="0" tIns="174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2200" spc="-90" b="1">
                <a:solidFill>
                  <a:srgbClr val="111111"/>
                </a:solidFill>
                <a:latin typeface="Arial"/>
                <a:cs typeface="Arial"/>
              </a:rPr>
              <a:t>Unique</a:t>
            </a:r>
            <a:r>
              <a:rPr dirty="0" sz="220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55" b="1">
                <a:solidFill>
                  <a:srgbClr val="111111"/>
                </a:solidFill>
                <a:latin typeface="Arial"/>
                <a:cs typeface="Arial"/>
              </a:rPr>
              <a:t>EPID</a:t>
            </a:r>
            <a:r>
              <a:rPr dirty="0" sz="2200" spc="-1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Identifier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25000"/>
              </a:lnSpc>
              <a:spcBef>
                <a:spcPts val="530"/>
              </a:spcBef>
            </a:pP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Each</a:t>
            </a:r>
            <a:r>
              <a:rPr dirty="0" sz="185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case</a:t>
            </a:r>
            <a:r>
              <a:rPr dirty="0" sz="185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assigned</a:t>
            </a:r>
            <a:r>
              <a:rPr dirty="0" sz="18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 </a:t>
            </a:r>
            <a:r>
              <a:rPr dirty="0" sz="1800" spc="-40">
                <a:solidFill>
                  <a:srgbClr val="666666"/>
                </a:solidFill>
                <a:latin typeface="Microsoft Sans Serif"/>
                <a:cs typeface="Microsoft Sans Serif"/>
              </a:rPr>
              <a:t>15-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character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alphanumeric</a:t>
            </a:r>
            <a:r>
              <a:rPr dirty="0" sz="1850" spc="-5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25">
                <a:solidFill>
                  <a:srgbClr val="666666"/>
                </a:solidFill>
                <a:latin typeface="Microsoft Sans Serif"/>
                <a:cs typeface="Microsoft Sans Serif"/>
              </a:rPr>
              <a:t>EPID</a:t>
            </a:r>
            <a:r>
              <a:rPr dirty="0" sz="18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code 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(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format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:</a:t>
            </a:r>
            <a:r>
              <a:rPr dirty="0" sz="1800" spc="8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TN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60">
                <a:solidFill>
                  <a:srgbClr val="666666"/>
                </a:solidFill>
                <a:latin typeface="Microsoft Sans Serif"/>
                <a:cs typeface="Microsoft Sans Serif"/>
              </a:rPr>
              <a:t>VLR</a:t>
            </a:r>
            <a:r>
              <a:rPr dirty="0" sz="1800" spc="-6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00" spc="75">
                <a:solidFill>
                  <a:srgbClr val="666666"/>
                </a:solidFill>
                <a:latin typeface="Microsoft Sans Serif"/>
                <a:cs typeface="Microsoft Sans Serif"/>
              </a:rPr>
              <a:t>26-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XXX</a:t>
            </a:r>
            <a:r>
              <a:rPr dirty="0" sz="1800" spc="-3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1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185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85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deduplication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01199" y="3971923"/>
            <a:ext cx="6858000" cy="19050"/>
          </a:xfrm>
          <a:custGeom>
            <a:avLst/>
            <a:gdLst/>
            <a:ahLst/>
            <a:cxnLst/>
            <a:rect l="l" t="t" r="r" b="b"/>
            <a:pathLst>
              <a:path w="6858000" h="19050">
                <a:moveTo>
                  <a:pt x="6857999" y="19049"/>
                </a:moveTo>
                <a:lnTo>
                  <a:pt x="0" y="19049"/>
                </a:lnTo>
                <a:lnTo>
                  <a:pt x="0" y="0"/>
                </a:lnTo>
                <a:lnTo>
                  <a:pt x="6857999" y="0"/>
                </a:lnTo>
                <a:lnTo>
                  <a:pt x="6857999" y="190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88499" y="3535874"/>
            <a:ext cx="1569085" cy="3054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b="1">
                <a:solidFill>
                  <a:srgbClr val="3C5980"/>
                </a:solidFill>
                <a:latin typeface="Arial"/>
                <a:cs typeface="Arial"/>
              </a:rPr>
              <a:t>DATA</a:t>
            </a:r>
            <a:r>
              <a:rPr dirty="0" sz="1800" spc="1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3C5980"/>
                </a:solidFill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601199" y="427672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76224" y="276224"/>
                </a:moveTo>
                <a:lnTo>
                  <a:pt x="0" y="276224"/>
                </a:lnTo>
                <a:lnTo>
                  <a:pt x="0" y="0"/>
                </a:lnTo>
                <a:lnTo>
                  <a:pt x="276224" y="0"/>
                </a:lnTo>
                <a:lnTo>
                  <a:pt x="276224" y="276224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137081" y="4172341"/>
            <a:ext cx="3898265" cy="73596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Period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January</a:t>
            </a:r>
            <a:r>
              <a:rPr dirty="0" sz="1850" spc="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r>
              <a:rPr dirty="0" sz="1800" spc="114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409">
                <a:solidFill>
                  <a:srgbClr val="666666"/>
                </a:solidFill>
                <a:latin typeface="Microsoft Sans Serif"/>
                <a:cs typeface="Microsoft Sans Serif"/>
              </a:rPr>
              <a:t>–</a:t>
            </a:r>
            <a:r>
              <a:rPr dirty="0" sz="180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July</a:t>
            </a:r>
            <a:r>
              <a:rPr dirty="0" sz="1850" spc="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r>
              <a:rPr dirty="0" sz="1800" spc="114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(7</a:t>
            </a:r>
            <a:r>
              <a:rPr dirty="0" sz="1800" spc="10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months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01199" y="517207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76224" y="276224"/>
                </a:moveTo>
                <a:lnTo>
                  <a:pt x="0" y="276224"/>
                </a:lnTo>
                <a:lnTo>
                  <a:pt x="0" y="0"/>
                </a:lnTo>
                <a:lnTo>
                  <a:pt x="276224" y="0"/>
                </a:lnTo>
                <a:lnTo>
                  <a:pt x="276224" y="276224"/>
                </a:lnTo>
                <a:close/>
              </a:path>
            </a:pathLst>
          </a:custGeom>
          <a:solidFill>
            <a:srgbClr val="98C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137081" y="5078178"/>
            <a:ext cx="4603115" cy="71628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Coverage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35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90">
                <a:solidFill>
                  <a:srgbClr val="666666"/>
                </a:solidFill>
                <a:latin typeface="Microsoft Sans Serif"/>
                <a:cs typeface="Microsoft Sans Serif"/>
              </a:rPr>
              <a:t>PHC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130">
                <a:solidFill>
                  <a:srgbClr val="666666"/>
                </a:solidFill>
                <a:latin typeface="Microsoft Sans Serif"/>
                <a:cs typeface="Microsoft Sans Serif"/>
              </a:rPr>
              <a:t>/</a:t>
            </a:r>
            <a:r>
              <a:rPr dirty="0" sz="18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75">
                <a:solidFill>
                  <a:srgbClr val="666666"/>
                </a:solidFill>
                <a:latin typeface="Microsoft Sans Serif"/>
                <a:cs typeface="Microsoft Sans Serif"/>
              </a:rPr>
              <a:t>UPHC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areas</a:t>
            </a:r>
            <a:r>
              <a:rPr dirty="0" sz="18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across</a:t>
            </a:r>
            <a:r>
              <a:rPr dirty="0" sz="18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District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01199" y="6067423"/>
            <a:ext cx="276225" cy="266700"/>
          </a:xfrm>
          <a:custGeom>
            <a:avLst/>
            <a:gdLst/>
            <a:ahLst/>
            <a:cxnLst/>
            <a:rect l="l" t="t" r="r" b="b"/>
            <a:pathLst>
              <a:path w="276225" h="266700">
                <a:moveTo>
                  <a:pt x="2762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76224" y="0"/>
                </a:lnTo>
                <a:lnTo>
                  <a:pt x="276224" y="266699"/>
                </a:lnTo>
                <a:close/>
              </a:path>
            </a:pathLst>
          </a:custGeom>
          <a:solidFill>
            <a:srgbClr val="ED6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37081" y="5953515"/>
            <a:ext cx="6126480" cy="105918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050" spc="-90" b="1">
                <a:solidFill>
                  <a:srgbClr val="111111"/>
                </a:solidFill>
                <a:latin typeface="Arial"/>
                <a:cs typeface="Arial"/>
              </a:rPr>
              <a:t>Total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endParaRPr sz="2050">
              <a:latin typeface="Arial"/>
              <a:cs typeface="Arial"/>
            </a:endParaRPr>
          </a:p>
          <a:p>
            <a:pPr marL="12700" marR="5080">
              <a:lnSpc>
                <a:spcPct val="117100"/>
              </a:lnSpc>
              <a:spcBef>
                <a:spcPts val="60"/>
              </a:spcBef>
            </a:pP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73</a:t>
            </a:r>
            <a:r>
              <a:rPr dirty="0" sz="180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18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95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80">
                <a:solidFill>
                  <a:srgbClr val="666666"/>
                </a:solidFill>
                <a:latin typeface="Microsoft Sans Serif"/>
                <a:cs typeface="Microsoft Sans Serif"/>
              </a:rPr>
              <a:t>(</a:t>
            </a:r>
            <a:r>
              <a:rPr dirty="0" sz="1850" spc="-80">
                <a:solidFill>
                  <a:srgbClr val="666666"/>
                </a:solidFill>
                <a:latin typeface="Microsoft Sans Serif"/>
                <a:cs typeface="Microsoft Sans Serif"/>
              </a:rPr>
              <a:t>EPID</a:t>
            </a:r>
            <a:r>
              <a:rPr dirty="0" sz="1800" spc="-80">
                <a:solidFill>
                  <a:srgbClr val="666666"/>
                </a:solidFill>
                <a:latin typeface="Microsoft Sans Serif"/>
                <a:cs typeface="Microsoft Sans Serif"/>
              </a:rPr>
              <a:t>: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TN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60">
                <a:solidFill>
                  <a:srgbClr val="666666"/>
                </a:solidFill>
                <a:latin typeface="Microsoft Sans Serif"/>
                <a:cs typeface="Microsoft Sans Serif"/>
              </a:rPr>
              <a:t>VLR</a:t>
            </a:r>
            <a:r>
              <a:rPr dirty="0" sz="1800" spc="-6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00" spc="95">
                <a:solidFill>
                  <a:srgbClr val="666666"/>
                </a:solidFill>
                <a:latin typeface="Microsoft Sans Serif"/>
                <a:cs typeface="Microsoft Sans Serif"/>
              </a:rPr>
              <a:t>26-</a:t>
            </a:r>
            <a:r>
              <a:rPr dirty="0" sz="1800" spc="-30">
                <a:solidFill>
                  <a:srgbClr val="666666"/>
                </a:solidFill>
                <a:latin typeface="Microsoft Sans Serif"/>
                <a:cs typeface="Microsoft Sans Serif"/>
              </a:rPr>
              <a:t>001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TN</a:t>
            </a:r>
            <a:r>
              <a:rPr dirty="0" sz="180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VLR</a:t>
            </a:r>
            <a:r>
              <a:rPr dirty="0" sz="1800" spc="-2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00" spc="95">
                <a:solidFill>
                  <a:srgbClr val="666666"/>
                </a:solidFill>
                <a:latin typeface="Microsoft Sans Serif"/>
                <a:cs typeface="Microsoft Sans Serif"/>
              </a:rPr>
              <a:t>26-</a:t>
            </a:r>
            <a:r>
              <a:rPr dirty="0" sz="1800" spc="-20">
                <a:solidFill>
                  <a:srgbClr val="666666"/>
                </a:solidFill>
                <a:latin typeface="Microsoft Sans Serif"/>
                <a:cs typeface="Microsoft Sans Serif"/>
              </a:rPr>
              <a:t>110)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601199" y="7286623"/>
            <a:ext cx="276225" cy="266700"/>
          </a:xfrm>
          <a:custGeom>
            <a:avLst/>
            <a:gdLst/>
            <a:ahLst/>
            <a:cxnLst/>
            <a:rect l="l" t="t" r="r" b="b"/>
            <a:pathLst>
              <a:path w="276225" h="266700">
                <a:moveTo>
                  <a:pt x="276224" y="266699"/>
                </a:moveTo>
                <a:lnTo>
                  <a:pt x="0" y="266699"/>
                </a:lnTo>
                <a:lnTo>
                  <a:pt x="0" y="0"/>
                </a:lnTo>
                <a:lnTo>
                  <a:pt x="276224" y="0"/>
                </a:lnTo>
                <a:lnTo>
                  <a:pt x="276224" y="26669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137081" y="7172715"/>
            <a:ext cx="6261735" cy="73596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2050" spc="-90" b="1">
                <a:solidFill>
                  <a:srgbClr val="111111"/>
                </a:solidFill>
                <a:latin typeface="Arial"/>
                <a:cs typeface="Arial"/>
              </a:rPr>
              <a:t>Reporting</a:t>
            </a:r>
            <a:r>
              <a:rPr dirty="0" sz="2050" spc="-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Sources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CMC</a:t>
            </a:r>
            <a:r>
              <a:rPr dirty="0" sz="1850" spc="-10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1800" spc="-25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60">
                <a:solidFill>
                  <a:srgbClr val="666666"/>
                </a:solidFill>
                <a:latin typeface="Microsoft Sans Serif"/>
                <a:cs typeface="Microsoft Sans Serif"/>
              </a:rPr>
              <a:t>GVMCH</a:t>
            </a:r>
            <a:r>
              <a:rPr dirty="0" sz="1800" spc="-60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90">
                <a:solidFill>
                  <a:srgbClr val="666666"/>
                </a:solidFill>
                <a:latin typeface="Microsoft Sans Serif"/>
                <a:cs typeface="Microsoft Sans Serif"/>
              </a:rPr>
              <a:t>GPH</a:t>
            </a:r>
            <a:r>
              <a:rPr dirty="0" sz="1800" spc="-90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CHAD</a:t>
            </a:r>
            <a:r>
              <a:rPr dirty="0" sz="1800" spc="-65">
                <a:solidFill>
                  <a:srgbClr val="666666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local</a:t>
            </a:r>
            <a:r>
              <a:rPr dirty="0" sz="18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65">
                <a:solidFill>
                  <a:srgbClr val="666666"/>
                </a:solidFill>
                <a:latin typeface="Microsoft Sans Serif"/>
                <a:cs typeface="Microsoft Sans Serif"/>
              </a:rPr>
              <a:t>PHCs</a:t>
            </a:r>
            <a:r>
              <a:rPr dirty="0" sz="185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130">
                <a:solidFill>
                  <a:srgbClr val="666666"/>
                </a:solidFill>
                <a:latin typeface="Microsoft Sans Serif"/>
                <a:cs typeface="Microsoft Sans Serif"/>
              </a:rPr>
              <a:t>/</a:t>
            </a:r>
            <a:r>
              <a:rPr dirty="0" sz="1800" spc="-10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UPHCs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601199" y="8172448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76224" y="276224"/>
                </a:moveTo>
                <a:lnTo>
                  <a:pt x="0" y="276224"/>
                </a:lnTo>
                <a:lnTo>
                  <a:pt x="0" y="0"/>
                </a:lnTo>
                <a:lnTo>
                  <a:pt x="276224" y="0"/>
                </a:lnTo>
                <a:lnTo>
                  <a:pt x="276224" y="276224"/>
                </a:lnTo>
                <a:close/>
              </a:path>
            </a:pathLst>
          </a:custGeom>
          <a:solidFill>
            <a:srgbClr val="98C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137081" y="8078554"/>
            <a:ext cx="6106160" cy="716280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Coverage</a:t>
            </a:r>
            <a:r>
              <a:rPr dirty="0" sz="205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Metrics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I and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800" spc="-10">
                <a:solidFill>
                  <a:srgbClr val="666666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II</a:t>
            </a:r>
            <a:r>
              <a:rPr dirty="0" sz="1850" spc="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1850" spc="-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data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included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per</a:t>
            </a:r>
            <a:r>
              <a:rPr dirty="0" sz="1850" spc="-8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85">
                <a:solidFill>
                  <a:srgbClr val="666666"/>
                </a:solidFill>
                <a:latin typeface="Microsoft Sans Serif"/>
                <a:cs typeface="Microsoft Sans Serif"/>
              </a:rPr>
              <a:t>HSC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666666"/>
                </a:solidFill>
                <a:latin typeface="Microsoft Sans Serif"/>
                <a:cs typeface="Microsoft Sans Serif"/>
              </a:rPr>
              <a:t>sector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1699" y="9559511"/>
            <a:ext cx="244475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75" b="1">
                <a:solidFill>
                  <a:srgbClr val="999999"/>
                </a:solidFill>
                <a:latin typeface="Arial"/>
                <a:cs typeface="Arial"/>
              </a:rPr>
              <a:t>03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8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799" y="7715248"/>
            <a:ext cx="13354050" cy="1009650"/>
            <a:chOff x="1828799" y="7715248"/>
            <a:chExt cx="13354050" cy="1009650"/>
          </a:xfrm>
        </p:grpSpPr>
        <p:sp>
          <p:nvSpPr>
            <p:cNvPr id="6" name="object 6"/>
            <p:cNvSpPr/>
            <p:nvPr/>
          </p:nvSpPr>
          <p:spPr>
            <a:xfrm>
              <a:off x="1828799" y="7715248"/>
              <a:ext cx="13354050" cy="1009650"/>
            </a:xfrm>
            <a:custGeom>
              <a:avLst/>
              <a:gdLst/>
              <a:ahLst/>
              <a:cxnLst/>
              <a:rect l="l" t="t" r="r" b="b"/>
              <a:pathLst>
                <a:path w="13354050" h="1009650">
                  <a:moveTo>
                    <a:pt x="13354048" y="1009649"/>
                  </a:moveTo>
                  <a:lnTo>
                    <a:pt x="0" y="1009649"/>
                  </a:lnTo>
                  <a:lnTo>
                    <a:pt x="0" y="0"/>
                  </a:lnTo>
                  <a:lnTo>
                    <a:pt x="13354048" y="0"/>
                  </a:lnTo>
                  <a:lnTo>
                    <a:pt x="13354048" y="1009649"/>
                  </a:lnTo>
                  <a:close/>
                </a:path>
              </a:pathLst>
            </a:custGeom>
            <a:solidFill>
              <a:srgbClr val="EBF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8799" y="7715248"/>
              <a:ext cx="38100" cy="1009650"/>
            </a:xfrm>
            <a:custGeom>
              <a:avLst/>
              <a:gdLst/>
              <a:ahLst/>
              <a:cxnLst/>
              <a:rect l="l" t="t" r="r" b="b"/>
              <a:pathLst>
                <a:path w="38100" h="1009650">
                  <a:moveTo>
                    <a:pt x="38099" y="1009649"/>
                  </a:moveTo>
                  <a:lnTo>
                    <a:pt x="0" y="10096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00964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828799" y="4057648"/>
            <a:ext cx="13716000" cy="2895600"/>
            <a:chOff x="1828799" y="4057648"/>
            <a:chExt cx="13716000" cy="2895600"/>
          </a:xfrm>
        </p:grpSpPr>
        <p:sp>
          <p:nvSpPr>
            <p:cNvPr id="9" name="object 9"/>
            <p:cNvSpPr/>
            <p:nvPr/>
          </p:nvSpPr>
          <p:spPr>
            <a:xfrm>
              <a:off x="1828799" y="6934198"/>
              <a:ext cx="13716000" cy="19050"/>
            </a:xfrm>
            <a:custGeom>
              <a:avLst/>
              <a:gdLst/>
              <a:ahLst/>
              <a:cxnLst/>
              <a:rect l="l" t="t" r="r" b="b"/>
              <a:pathLst>
                <a:path w="13716000" h="19050">
                  <a:moveTo>
                    <a:pt x="13715998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3715998" y="0"/>
                  </a:lnTo>
                  <a:lnTo>
                    <a:pt x="13715998" y="1904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28799" y="4057648"/>
              <a:ext cx="1504950" cy="847725"/>
            </a:xfrm>
            <a:custGeom>
              <a:avLst/>
              <a:gdLst/>
              <a:ahLst/>
              <a:cxnLst/>
              <a:rect l="l" t="t" r="r" b="b"/>
              <a:pathLst>
                <a:path w="1504950" h="847725">
                  <a:moveTo>
                    <a:pt x="0" y="847724"/>
                  </a:moveTo>
                  <a:lnTo>
                    <a:pt x="1504949" y="847724"/>
                  </a:lnTo>
                  <a:lnTo>
                    <a:pt x="1504949" y="0"/>
                  </a:lnTo>
                  <a:lnTo>
                    <a:pt x="0" y="0"/>
                  </a:lnTo>
                  <a:lnTo>
                    <a:pt x="0" y="8477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28799" y="4905373"/>
              <a:ext cx="1504950" cy="2028825"/>
            </a:xfrm>
            <a:custGeom>
              <a:avLst/>
              <a:gdLst/>
              <a:ahLst/>
              <a:cxnLst/>
              <a:rect l="l" t="t" r="r" b="b"/>
              <a:pathLst>
                <a:path w="1504950" h="2028825">
                  <a:moveTo>
                    <a:pt x="1504949" y="2028824"/>
                  </a:moveTo>
                  <a:lnTo>
                    <a:pt x="0" y="2028824"/>
                  </a:lnTo>
                  <a:lnTo>
                    <a:pt x="0" y="0"/>
                  </a:lnTo>
                  <a:lnTo>
                    <a:pt x="1504949" y="0"/>
                  </a:lnTo>
                  <a:lnTo>
                    <a:pt x="1504949" y="202882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867149" y="4057648"/>
              <a:ext cx="1504950" cy="1695450"/>
            </a:xfrm>
            <a:custGeom>
              <a:avLst/>
              <a:gdLst/>
              <a:ahLst/>
              <a:cxnLst/>
              <a:rect l="l" t="t" r="r" b="b"/>
              <a:pathLst>
                <a:path w="1504950" h="1695450">
                  <a:moveTo>
                    <a:pt x="0" y="1695449"/>
                  </a:moveTo>
                  <a:lnTo>
                    <a:pt x="1504949" y="1695449"/>
                  </a:lnTo>
                  <a:lnTo>
                    <a:pt x="1504949" y="0"/>
                  </a:lnTo>
                  <a:lnTo>
                    <a:pt x="0" y="0"/>
                  </a:lnTo>
                  <a:lnTo>
                    <a:pt x="0" y="16954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67149" y="5753098"/>
              <a:ext cx="1504950" cy="1181100"/>
            </a:xfrm>
            <a:custGeom>
              <a:avLst/>
              <a:gdLst/>
              <a:ahLst/>
              <a:cxnLst/>
              <a:rect l="l" t="t" r="r" b="b"/>
              <a:pathLst>
                <a:path w="1504950" h="1181100">
                  <a:moveTo>
                    <a:pt x="1504949" y="1181099"/>
                  </a:moveTo>
                  <a:lnTo>
                    <a:pt x="0" y="1181099"/>
                  </a:lnTo>
                  <a:lnTo>
                    <a:pt x="0" y="0"/>
                  </a:lnTo>
                  <a:lnTo>
                    <a:pt x="1504949" y="0"/>
                  </a:lnTo>
                  <a:lnTo>
                    <a:pt x="1504949" y="118109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95974" y="4057648"/>
              <a:ext cx="1514475" cy="2876550"/>
            </a:xfrm>
            <a:custGeom>
              <a:avLst/>
              <a:gdLst/>
              <a:ahLst/>
              <a:cxnLst/>
              <a:rect l="l" t="t" r="r" b="b"/>
              <a:pathLst>
                <a:path w="1514475" h="2876550">
                  <a:moveTo>
                    <a:pt x="1514474" y="2876549"/>
                  </a:moveTo>
                  <a:lnTo>
                    <a:pt x="0" y="2876549"/>
                  </a:lnTo>
                  <a:lnTo>
                    <a:pt x="0" y="0"/>
                  </a:lnTo>
                  <a:lnTo>
                    <a:pt x="1514474" y="0"/>
                  </a:lnTo>
                  <a:lnTo>
                    <a:pt x="1514474" y="287654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34324" y="4057648"/>
              <a:ext cx="1504950" cy="676275"/>
            </a:xfrm>
            <a:custGeom>
              <a:avLst/>
              <a:gdLst/>
              <a:ahLst/>
              <a:cxnLst/>
              <a:rect l="l" t="t" r="r" b="b"/>
              <a:pathLst>
                <a:path w="1504950" h="676275">
                  <a:moveTo>
                    <a:pt x="0" y="676274"/>
                  </a:moveTo>
                  <a:lnTo>
                    <a:pt x="1504949" y="676274"/>
                  </a:lnTo>
                  <a:lnTo>
                    <a:pt x="1504949" y="0"/>
                  </a:lnTo>
                  <a:lnTo>
                    <a:pt x="0" y="0"/>
                  </a:lnTo>
                  <a:lnTo>
                    <a:pt x="0" y="6762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934324" y="4733923"/>
              <a:ext cx="1504950" cy="2200275"/>
            </a:xfrm>
            <a:custGeom>
              <a:avLst/>
              <a:gdLst/>
              <a:ahLst/>
              <a:cxnLst/>
              <a:rect l="l" t="t" r="r" b="b"/>
              <a:pathLst>
                <a:path w="1504950" h="2200275">
                  <a:moveTo>
                    <a:pt x="1504949" y="2200274"/>
                  </a:moveTo>
                  <a:lnTo>
                    <a:pt x="0" y="2200274"/>
                  </a:lnTo>
                  <a:lnTo>
                    <a:pt x="0" y="0"/>
                  </a:lnTo>
                  <a:lnTo>
                    <a:pt x="1504949" y="0"/>
                  </a:lnTo>
                  <a:lnTo>
                    <a:pt x="1504949" y="22002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963149" y="4057648"/>
              <a:ext cx="1514475" cy="1857375"/>
            </a:xfrm>
            <a:custGeom>
              <a:avLst/>
              <a:gdLst/>
              <a:ahLst/>
              <a:cxnLst/>
              <a:rect l="l" t="t" r="r" b="b"/>
              <a:pathLst>
                <a:path w="1514475" h="1857375">
                  <a:moveTo>
                    <a:pt x="0" y="1857374"/>
                  </a:moveTo>
                  <a:lnTo>
                    <a:pt x="1514474" y="1857374"/>
                  </a:lnTo>
                  <a:lnTo>
                    <a:pt x="1514474" y="0"/>
                  </a:lnTo>
                  <a:lnTo>
                    <a:pt x="0" y="0"/>
                  </a:lnTo>
                  <a:lnTo>
                    <a:pt x="0" y="1857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963149" y="5915023"/>
              <a:ext cx="1514475" cy="1019175"/>
            </a:xfrm>
            <a:custGeom>
              <a:avLst/>
              <a:gdLst/>
              <a:ahLst/>
              <a:cxnLst/>
              <a:rect l="l" t="t" r="r" b="b"/>
              <a:pathLst>
                <a:path w="1514475" h="1019175">
                  <a:moveTo>
                    <a:pt x="1514474" y="1019174"/>
                  </a:moveTo>
                  <a:lnTo>
                    <a:pt x="0" y="1019174"/>
                  </a:lnTo>
                  <a:lnTo>
                    <a:pt x="0" y="0"/>
                  </a:lnTo>
                  <a:lnTo>
                    <a:pt x="1514474" y="0"/>
                  </a:lnTo>
                  <a:lnTo>
                    <a:pt x="1514474" y="10191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001499" y="4057648"/>
              <a:ext cx="1504950" cy="676275"/>
            </a:xfrm>
            <a:custGeom>
              <a:avLst/>
              <a:gdLst/>
              <a:ahLst/>
              <a:cxnLst/>
              <a:rect l="l" t="t" r="r" b="b"/>
              <a:pathLst>
                <a:path w="1504950" h="676275">
                  <a:moveTo>
                    <a:pt x="0" y="676274"/>
                  </a:moveTo>
                  <a:lnTo>
                    <a:pt x="1504949" y="676274"/>
                  </a:lnTo>
                  <a:lnTo>
                    <a:pt x="1504949" y="0"/>
                  </a:lnTo>
                  <a:lnTo>
                    <a:pt x="0" y="0"/>
                  </a:lnTo>
                  <a:lnTo>
                    <a:pt x="0" y="6762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001499" y="4733923"/>
              <a:ext cx="1504950" cy="2200275"/>
            </a:xfrm>
            <a:custGeom>
              <a:avLst/>
              <a:gdLst/>
              <a:ahLst/>
              <a:cxnLst/>
              <a:rect l="l" t="t" r="r" b="b"/>
              <a:pathLst>
                <a:path w="1504950" h="2200275">
                  <a:moveTo>
                    <a:pt x="1504949" y="2200274"/>
                  </a:moveTo>
                  <a:lnTo>
                    <a:pt x="0" y="2200274"/>
                  </a:lnTo>
                  <a:lnTo>
                    <a:pt x="0" y="0"/>
                  </a:lnTo>
                  <a:lnTo>
                    <a:pt x="1504949" y="0"/>
                  </a:lnTo>
                  <a:lnTo>
                    <a:pt x="1504949" y="22002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4039849" y="4057648"/>
              <a:ext cx="1504950" cy="2028825"/>
            </a:xfrm>
            <a:custGeom>
              <a:avLst/>
              <a:gdLst/>
              <a:ahLst/>
              <a:cxnLst/>
              <a:rect l="l" t="t" r="r" b="b"/>
              <a:pathLst>
                <a:path w="1504950" h="2028825">
                  <a:moveTo>
                    <a:pt x="0" y="2028824"/>
                  </a:moveTo>
                  <a:lnTo>
                    <a:pt x="1504949" y="2028824"/>
                  </a:lnTo>
                  <a:lnTo>
                    <a:pt x="1504949" y="0"/>
                  </a:lnTo>
                  <a:lnTo>
                    <a:pt x="0" y="0"/>
                  </a:lnTo>
                  <a:lnTo>
                    <a:pt x="0" y="20288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4039849" y="6086473"/>
              <a:ext cx="1504950" cy="847725"/>
            </a:xfrm>
            <a:custGeom>
              <a:avLst/>
              <a:gdLst/>
              <a:ahLst/>
              <a:cxnLst/>
              <a:rect l="l" t="t" r="r" b="b"/>
              <a:pathLst>
                <a:path w="1504950" h="847725">
                  <a:moveTo>
                    <a:pt x="1504949" y="847724"/>
                  </a:moveTo>
                  <a:lnTo>
                    <a:pt x="0" y="847724"/>
                  </a:lnTo>
                  <a:lnTo>
                    <a:pt x="0" y="0"/>
                  </a:lnTo>
                  <a:lnTo>
                    <a:pt x="1504949" y="0"/>
                  </a:lnTo>
                  <a:lnTo>
                    <a:pt x="1504949" y="84772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1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dirty="0" spc="-185"/>
              <a:t>Monthly</a:t>
            </a:r>
            <a:r>
              <a:rPr dirty="0" spc="-775"/>
              <a:t> </a:t>
            </a:r>
            <a:r>
              <a:rPr dirty="0" spc="-250"/>
              <a:t>Case</a:t>
            </a:r>
            <a:r>
              <a:rPr dirty="0" spc="-620"/>
              <a:t> </a:t>
            </a:r>
            <a:r>
              <a:rPr dirty="0" spc="-310"/>
              <a:t>Distribution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measles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7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month</a:t>
            </a:r>
            <a:r>
              <a:rPr dirty="0" sz="2300" spc="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January</a:t>
            </a:r>
            <a:r>
              <a:rPr dirty="0" sz="2300" spc="-8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-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July</a:t>
            </a:r>
            <a:r>
              <a:rPr dirty="0" sz="2300" spc="-7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r>
              <a:rPr dirty="0" sz="2300" spc="-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(Total:</a:t>
            </a:r>
            <a:r>
              <a:rPr dirty="0" sz="2300" spc="1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5" b="0">
                <a:solidFill>
                  <a:srgbClr val="666666"/>
                </a:solidFill>
                <a:latin typeface="Microsoft Sans Serif"/>
                <a:cs typeface="Microsoft Sans Serif"/>
              </a:rPr>
              <a:t>73)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1699" y="9559511"/>
            <a:ext cx="250190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100" b="1">
                <a:solidFill>
                  <a:srgbClr val="999999"/>
                </a:solidFill>
                <a:latin typeface="Arial"/>
                <a:cs typeface="Arial"/>
              </a:rPr>
              <a:t>04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24806" y="3563386"/>
            <a:ext cx="316230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105" b="1">
                <a:solidFill>
                  <a:srgbClr val="111111"/>
                </a:solidFill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25069" y="3563386"/>
            <a:ext cx="189230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50" b="1">
                <a:solidFill>
                  <a:srgbClr val="111111"/>
                </a:solidFill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8232" y="3566333"/>
            <a:ext cx="313690" cy="3714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-90" b="1">
                <a:solidFill>
                  <a:srgbClr val="3C5980"/>
                </a:solidFill>
                <a:latin typeface="Arial"/>
                <a:cs typeface="Arial"/>
              </a:rPr>
              <a:t>17</a:t>
            </a:r>
            <a:endParaRPr sz="22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26164" y="3563386"/>
            <a:ext cx="323850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75" b="1">
                <a:solidFill>
                  <a:srgbClr val="111111"/>
                </a:solidFill>
                <a:latin typeface="Arial"/>
                <a:cs typeface="Arial"/>
              </a:rPr>
              <a:t>13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19283" y="3563386"/>
            <a:ext cx="206375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75" b="1">
                <a:solidFill>
                  <a:srgbClr val="111111"/>
                </a:solidFill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95125" y="3563386"/>
            <a:ext cx="323850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75" b="1">
                <a:solidFill>
                  <a:srgbClr val="111111"/>
                </a:solidFill>
                <a:latin typeface="Arial"/>
                <a:cs typeface="Arial"/>
              </a:rPr>
              <a:t>13</a:t>
            </a:r>
            <a:endParaRPr sz="23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91963" y="3563386"/>
            <a:ext cx="198120" cy="375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10" b="1">
                <a:solidFill>
                  <a:srgbClr val="111111"/>
                </a:solidFill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90576" y="7100739"/>
            <a:ext cx="382905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25" b="1">
                <a:solidFill>
                  <a:srgbClr val="666666"/>
                </a:solidFill>
                <a:latin typeface="Arial"/>
                <a:cs typeface="Arial"/>
              </a:rPr>
              <a:t>Jan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5503" y="7100739"/>
            <a:ext cx="387350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25" b="1">
                <a:solidFill>
                  <a:srgbClr val="666666"/>
                </a:solidFill>
                <a:latin typeface="Arial"/>
                <a:cs typeface="Arial"/>
              </a:rPr>
              <a:t>Feb</a:t>
            </a:r>
            <a:endParaRPr sz="1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6291" y="7098578"/>
            <a:ext cx="414655" cy="2819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650" spc="-25" b="1">
                <a:solidFill>
                  <a:srgbClr val="3C5980"/>
                </a:solidFill>
                <a:latin typeface="Arial"/>
                <a:cs typeface="Arial"/>
              </a:rPr>
              <a:t>Mar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94463" y="7100739"/>
            <a:ext cx="387350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25" b="1">
                <a:solidFill>
                  <a:srgbClr val="666666"/>
                </a:solidFill>
                <a:latin typeface="Arial"/>
                <a:cs typeface="Arial"/>
              </a:rPr>
              <a:t>Apr</a:t>
            </a:r>
            <a:endParaRPr sz="1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97542" y="7100739"/>
            <a:ext cx="455930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25" b="1">
                <a:solidFill>
                  <a:srgbClr val="666666"/>
                </a:solidFill>
                <a:latin typeface="Arial"/>
                <a:cs typeface="Arial"/>
              </a:rPr>
              <a:t>May</a:t>
            </a:r>
            <a:endParaRPr sz="1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558811" y="7100739"/>
            <a:ext cx="391160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25" b="1">
                <a:solidFill>
                  <a:srgbClr val="666666"/>
                </a:solidFill>
                <a:latin typeface="Arial"/>
                <a:cs typeface="Arial"/>
              </a:rPr>
              <a:t>Jun</a:t>
            </a:r>
            <a:endParaRPr sz="1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628711" y="7100739"/>
            <a:ext cx="313055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-30" b="1">
                <a:solidFill>
                  <a:srgbClr val="666666"/>
                </a:solidFill>
                <a:latin typeface="Arial"/>
                <a:cs typeface="Arial"/>
              </a:rPr>
              <a:t>Jul</a:t>
            </a:r>
            <a:endParaRPr sz="1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66899" y="7760806"/>
            <a:ext cx="13315950" cy="78232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890"/>
              </a:spcBef>
            </a:pPr>
            <a:r>
              <a:rPr dirty="0" sz="2050" spc="-55" b="1">
                <a:solidFill>
                  <a:srgbClr val="3C5980"/>
                </a:solidFill>
                <a:latin typeface="Arial"/>
                <a:cs typeface="Arial"/>
              </a:rPr>
              <a:t>March</a:t>
            </a:r>
            <a:r>
              <a:rPr dirty="0" sz="2050" spc="-8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90" b="1">
                <a:solidFill>
                  <a:srgbClr val="3C5980"/>
                </a:solidFill>
                <a:latin typeface="Arial"/>
                <a:cs typeface="Arial"/>
              </a:rPr>
              <a:t>2026</a:t>
            </a:r>
            <a:r>
              <a:rPr dirty="0" sz="2000" spc="-1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70" b="1">
                <a:solidFill>
                  <a:srgbClr val="3C5980"/>
                </a:solidFill>
                <a:latin typeface="Arial"/>
                <a:cs typeface="Arial"/>
              </a:rPr>
              <a:t>recorded</a:t>
            </a:r>
            <a:r>
              <a:rPr dirty="0" sz="2050" spc="-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35" b="1">
                <a:solidFill>
                  <a:srgbClr val="3C5980"/>
                </a:solidFill>
                <a:latin typeface="Arial"/>
                <a:cs typeface="Arial"/>
              </a:rPr>
              <a:t>the</a:t>
            </a:r>
            <a:r>
              <a:rPr dirty="0" sz="2050" spc="-13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65" b="1">
                <a:solidFill>
                  <a:srgbClr val="3C5980"/>
                </a:solidFill>
                <a:latin typeface="Arial"/>
                <a:cs typeface="Arial"/>
              </a:rPr>
              <a:t>highest</a:t>
            </a:r>
            <a:r>
              <a:rPr dirty="0" sz="20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80" b="1">
                <a:solidFill>
                  <a:srgbClr val="3C5980"/>
                </a:solidFill>
                <a:latin typeface="Arial"/>
                <a:cs typeface="Arial"/>
              </a:rPr>
              <a:t>burden </a:t>
            </a:r>
            <a:r>
              <a:rPr dirty="0" sz="2000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2000" spc="-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-160" b="1">
                <a:solidFill>
                  <a:srgbClr val="3C5980"/>
                </a:solidFill>
                <a:latin typeface="Arial"/>
                <a:cs typeface="Arial"/>
              </a:rPr>
              <a:t>17</a:t>
            </a:r>
            <a:r>
              <a:rPr dirty="0" sz="2000" spc="-12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6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2000" spc="-60" b="1">
                <a:solidFill>
                  <a:srgbClr val="3C5980"/>
                </a:solidFill>
                <a:latin typeface="Arial"/>
                <a:cs typeface="Arial"/>
              </a:rPr>
              <a:t>,</a:t>
            </a:r>
            <a:r>
              <a:rPr dirty="0" sz="2000" spc="-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70" b="1">
                <a:solidFill>
                  <a:srgbClr val="3C5980"/>
                </a:solidFill>
                <a:latin typeface="Arial"/>
                <a:cs typeface="Arial"/>
              </a:rPr>
              <a:t>representing</a:t>
            </a:r>
            <a:r>
              <a:rPr dirty="0" sz="2050" spc="-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60" b="1">
                <a:solidFill>
                  <a:srgbClr val="3C5980"/>
                </a:solidFill>
                <a:latin typeface="Arial"/>
                <a:cs typeface="Arial"/>
              </a:rPr>
              <a:t>23.3%</a:t>
            </a:r>
            <a:r>
              <a:rPr dirty="0" sz="2000" spc="-8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3C5980"/>
                </a:solidFill>
                <a:latin typeface="Arial"/>
                <a:cs typeface="Arial"/>
              </a:rPr>
              <a:t>of</a:t>
            </a:r>
            <a:r>
              <a:rPr dirty="0" sz="2050" spc="-16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95" b="1">
                <a:solidFill>
                  <a:srgbClr val="3C5980"/>
                </a:solidFill>
                <a:latin typeface="Arial"/>
                <a:cs typeface="Arial"/>
              </a:rPr>
              <a:t>all</a:t>
            </a:r>
            <a:r>
              <a:rPr dirty="0" sz="2050" spc="-1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endParaRPr sz="2050">
              <a:latin typeface="Arial"/>
              <a:cs typeface="Arial"/>
            </a:endParaRPr>
          </a:p>
          <a:p>
            <a:pPr marL="365125">
              <a:lnSpc>
                <a:spcPct val="100000"/>
              </a:lnSpc>
              <a:spcBef>
                <a:spcPts val="665"/>
              </a:spcBef>
            </a:pP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A</a:t>
            </a:r>
            <a:r>
              <a:rPr dirty="0" sz="1700" spc="-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second</a:t>
            </a:r>
            <a:r>
              <a:rPr dirty="0" sz="170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rise</a:t>
            </a:r>
            <a:r>
              <a:rPr dirty="0" sz="170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in</a:t>
            </a:r>
            <a:r>
              <a:rPr dirty="0" sz="170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June</a:t>
            </a:r>
            <a:r>
              <a:rPr dirty="0" sz="170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45">
                <a:solidFill>
                  <a:srgbClr val="545454"/>
                </a:solidFill>
                <a:latin typeface="Microsoft Sans Serif"/>
                <a:cs typeface="Microsoft Sans Serif"/>
              </a:rPr>
              <a:t>(13</a:t>
            </a:r>
            <a:r>
              <a:rPr dirty="0" sz="165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650">
                <a:solidFill>
                  <a:srgbClr val="545454"/>
                </a:solidFill>
                <a:latin typeface="Microsoft Sans Serif"/>
                <a:cs typeface="Microsoft Sans Serif"/>
              </a:rPr>
              <a:t>)</a:t>
            </a:r>
            <a:r>
              <a:rPr dirty="0" sz="165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suggests</a:t>
            </a:r>
            <a:r>
              <a:rPr dirty="0" sz="170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continued</a:t>
            </a:r>
            <a:r>
              <a:rPr dirty="0" sz="170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1700" spc="-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transmission</a:t>
            </a:r>
            <a:r>
              <a:rPr dirty="0" sz="1700" spc="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through</a:t>
            </a:r>
            <a:r>
              <a:rPr dirty="0" sz="170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mid</a:t>
            </a:r>
            <a:r>
              <a:rPr dirty="0" sz="165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650" spc="-20">
                <a:solidFill>
                  <a:srgbClr val="545454"/>
                </a:solidFill>
                <a:latin typeface="Microsoft Sans Serif"/>
                <a:cs typeface="Microsoft Sans Serif"/>
              </a:rPr>
              <a:t>2026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8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14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5500" spc="-370"/>
              <a:t>PHC</a:t>
            </a:r>
            <a:r>
              <a:rPr dirty="0" sz="5800" spc="-370">
                <a:latin typeface="Tahoma"/>
                <a:cs typeface="Tahoma"/>
              </a:rPr>
              <a:t>-</a:t>
            </a:r>
            <a:r>
              <a:rPr dirty="0" sz="5500" spc="-475"/>
              <a:t>w</a:t>
            </a:r>
            <a:r>
              <a:rPr dirty="0" sz="5500" spc="25"/>
              <a:t>i</a:t>
            </a:r>
            <a:r>
              <a:rPr dirty="0" sz="5500" spc="-245"/>
              <a:t>s</a:t>
            </a:r>
            <a:r>
              <a:rPr dirty="0" sz="5500" spc="-65"/>
              <a:t>e</a:t>
            </a:r>
            <a:r>
              <a:rPr dirty="0" sz="5500" spc="-575"/>
              <a:t> </a:t>
            </a:r>
            <a:r>
              <a:rPr dirty="0" sz="5500" spc="-250"/>
              <a:t>Case</a:t>
            </a:r>
            <a:r>
              <a:rPr dirty="0" sz="5500" spc="-570"/>
              <a:t> </a:t>
            </a:r>
            <a:r>
              <a:rPr dirty="0" sz="5500" spc="-290"/>
              <a:t>Distribution</a:t>
            </a:r>
            <a:endParaRPr sz="5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15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Top</a:t>
            </a:r>
            <a:r>
              <a:rPr dirty="0" sz="2150" spc="-7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75" b="0">
                <a:solidFill>
                  <a:srgbClr val="666666"/>
                </a:solidFill>
                <a:latin typeface="Microsoft Sans Serif"/>
                <a:cs typeface="Microsoft Sans Serif"/>
              </a:rPr>
              <a:t>10</a:t>
            </a:r>
            <a:r>
              <a:rPr dirty="0" sz="215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0" b="0">
                <a:solidFill>
                  <a:srgbClr val="666666"/>
                </a:solidFill>
                <a:latin typeface="Microsoft Sans Serif"/>
                <a:cs typeface="Microsoft Sans Serif"/>
              </a:rPr>
              <a:t>PHC</a:t>
            </a:r>
            <a:r>
              <a:rPr dirty="0" sz="2150" spc="-4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150" b="0">
                <a:solidFill>
                  <a:srgbClr val="666666"/>
                </a:solidFill>
                <a:latin typeface="Microsoft Sans Serif"/>
                <a:cs typeface="Microsoft Sans Serif"/>
              </a:rPr>
              <a:t>/</a:t>
            </a:r>
            <a:r>
              <a:rPr dirty="0" sz="2150" spc="-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85" b="0">
                <a:solidFill>
                  <a:srgbClr val="666666"/>
                </a:solidFill>
                <a:latin typeface="Microsoft Sans Serif"/>
                <a:cs typeface="Microsoft Sans Serif"/>
              </a:rPr>
              <a:t>UPHC</a:t>
            </a:r>
            <a:r>
              <a:rPr dirty="0" sz="2150" spc="-4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areas</a:t>
            </a:r>
            <a:r>
              <a:rPr dirty="0" sz="2150" spc="-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2150" spc="-8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150" spc="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case</a:t>
            </a:r>
            <a:r>
              <a:rPr dirty="0" sz="2150" spc="-3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load</a:t>
            </a:r>
            <a:r>
              <a:rPr dirty="0" sz="215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944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150" spc="-2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Jan</a:t>
            </a:r>
            <a:r>
              <a:rPr dirty="0" sz="2150" spc="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215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b="0">
                <a:solidFill>
                  <a:srgbClr val="666666"/>
                </a:solidFill>
                <a:latin typeface="Microsoft Sans Serif"/>
                <a:cs typeface="Microsoft Sans Serif"/>
              </a:rPr>
              <a:t>Jul</a:t>
            </a:r>
            <a:r>
              <a:rPr dirty="0" sz="2150" spc="10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15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1162" y="3299973"/>
            <a:ext cx="138747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95" b="1">
                <a:solidFill>
                  <a:srgbClr val="111111"/>
                </a:solidFill>
                <a:latin typeface="Arial"/>
                <a:cs typeface="Arial"/>
              </a:rPr>
              <a:t>Kaspa</a:t>
            </a:r>
            <a:r>
              <a:rPr dirty="0" sz="1900" spc="-85" b="1">
                <a:solidFill>
                  <a:srgbClr val="111111"/>
                </a:solidFill>
                <a:latin typeface="Arial"/>
                <a:cs typeface="Arial"/>
              </a:rPr>
              <a:t> UPHC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91149" y="3314698"/>
            <a:ext cx="9515475" cy="323850"/>
          </a:xfrm>
          <a:custGeom>
            <a:avLst/>
            <a:gdLst/>
            <a:ahLst/>
            <a:cxnLst/>
            <a:rect l="l" t="t" r="r" b="b"/>
            <a:pathLst>
              <a:path w="9515475" h="323850">
                <a:moveTo>
                  <a:pt x="9515474" y="323849"/>
                </a:moveTo>
                <a:lnTo>
                  <a:pt x="0" y="323849"/>
                </a:lnTo>
                <a:lnTo>
                  <a:pt x="0" y="0"/>
                </a:lnTo>
                <a:lnTo>
                  <a:pt x="9515474" y="0"/>
                </a:lnTo>
                <a:lnTo>
                  <a:pt x="9515474" y="3238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166278" y="3290424"/>
            <a:ext cx="170180" cy="3251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950" spc="-50" b="1">
                <a:solidFill>
                  <a:srgbClr val="3C5980"/>
                </a:solidFill>
                <a:latin typeface="Comic Sans MS"/>
                <a:cs typeface="Comic Sans MS"/>
              </a:rPr>
              <a:t>7</a:t>
            </a:r>
            <a:endParaRPr sz="1950">
              <a:latin typeface="Comic Sans MS"/>
              <a:cs typeface="Comic Sans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2408" y="3776223"/>
            <a:ext cx="213614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00" spc="-75" b="1">
                <a:solidFill>
                  <a:srgbClr val="111111"/>
                </a:solidFill>
                <a:latin typeface="Arial"/>
                <a:cs typeface="Arial"/>
              </a:rPr>
              <a:t>Sathuvachari</a:t>
            </a:r>
            <a:r>
              <a:rPr dirty="0" sz="1900" spc="-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00" spc="-70" b="1">
                <a:solidFill>
                  <a:srgbClr val="111111"/>
                </a:solidFill>
                <a:latin typeface="Arial"/>
                <a:cs typeface="Arial"/>
              </a:rPr>
              <a:t>UPHC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91149" y="3790948"/>
            <a:ext cx="9515475" cy="333375"/>
            <a:chOff x="5391149" y="3790948"/>
            <a:chExt cx="9515475" cy="333375"/>
          </a:xfrm>
        </p:grpSpPr>
        <p:sp>
          <p:nvSpPr>
            <p:cNvPr id="11" name="object 11"/>
            <p:cNvSpPr/>
            <p:nvPr/>
          </p:nvSpPr>
          <p:spPr>
            <a:xfrm>
              <a:off x="12182473" y="3790948"/>
              <a:ext cx="2724150" cy="333375"/>
            </a:xfrm>
            <a:custGeom>
              <a:avLst/>
              <a:gdLst/>
              <a:ahLst/>
              <a:cxnLst/>
              <a:rect l="l" t="t" r="r" b="b"/>
              <a:pathLst>
                <a:path w="2724150" h="333375">
                  <a:moveTo>
                    <a:pt x="0" y="333374"/>
                  </a:moveTo>
                  <a:lnTo>
                    <a:pt x="2724149" y="333374"/>
                  </a:lnTo>
                  <a:lnTo>
                    <a:pt x="27241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91149" y="3790948"/>
              <a:ext cx="6791325" cy="333375"/>
            </a:xfrm>
            <a:custGeom>
              <a:avLst/>
              <a:gdLst/>
              <a:ahLst/>
              <a:cxnLst/>
              <a:rect l="l" t="t" r="r" b="b"/>
              <a:pathLst>
                <a:path w="6791325" h="333375">
                  <a:moveTo>
                    <a:pt x="67913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6791324" y="0"/>
                  </a:lnTo>
                  <a:lnTo>
                    <a:pt x="6791324" y="333374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166278" y="3773645"/>
            <a:ext cx="17526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45" b="1">
                <a:solidFill>
                  <a:srgbClr val="111111"/>
                </a:solidFill>
                <a:latin typeface="Arial"/>
                <a:cs typeface="Arial"/>
              </a:rPr>
              <a:t>5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58170" y="4264586"/>
            <a:ext cx="1278255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Latheri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91149" y="4276723"/>
            <a:ext cx="9515475" cy="323850"/>
            <a:chOff x="5391149" y="4276723"/>
            <a:chExt cx="9515475" cy="323850"/>
          </a:xfrm>
        </p:grpSpPr>
        <p:sp>
          <p:nvSpPr>
            <p:cNvPr id="16" name="object 16"/>
            <p:cNvSpPr/>
            <p:nvPr/>
          </p:nvSpPr>
          <p:spPr>
            <a:xfrm>
              <a:off x="9477374" y="4276723"/>
              <a:ext cx="5429250" cy="323850"/>
            </a:xfrm>
            <a:custGeom>
              <a:avLst/>
              <a:gdLst/>
              <a:ahLst/>
              <a:cxnLst/>
              <a:rect l="l" t="t" r="r" b="b"/>
              <a:pathLst>
                <a:path w="5429250" h="323850">
                  <a:moveTo>
                    <a:pt x="0" y="323849"/>
                  </a:moveTo>
                  <a:lnTo>
                    <a:pt x="5429249" y="323849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238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91149" y="4276723"/>
              <a:ext cx="4086225" cy="323850"/>
            </a:xfrm>
            <a:custGeom>
              <a:avLst/>
              <a:gdLst/>
              <a:ahLst/>
              <a:cxnLst/>
              <a:rect l="l" t="t" r="r" b="b"/>
              <a:pathLst>
                <a:path w="4086225" h="323850">
                  <a:moveTo>
                    <a:pt x="40862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2384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5166278" y="4249895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72531" y="4740836"/>
            <a:ext cx="1863725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Pernambut</a:t>
            </a:r>
            <a:r>
              <a:rPr dirty="0" sz="1850" spc="-1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UPHC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91149" y="4752973"/>
            <a:ext cx="9515475" cy="333375"/>
            <a:chOff x="5391149" y="4752973"/>
            <a:chExt cx="9515475" cy="333375"/>
          </a:xfrm>
        </p:grpSpPr>
        <p:sp>
          <p:nvSpPr>
            <p:cNvPr id="21" name="object 21"/>
            <p:cNvSpPr/>
            <p:nvPr/>
          </p:nvSpPr>
          <p:spPr>
            <a:xfrm>
              <a:off x="9477374" y="4752973"/>
              <a:ext cx="5429250" cy="333375"/>
            </a:xfrm>
            <a:custGeom>
              <a:avLst/>
              <a:gdLst/>
              <a:ahLst/>
              <a:cxnLst/>
              <a:rect l="l" t="t" r="r" b="b"/>
              <a:pathLst>
                <a:path w="5429250" h="333375">
                  <a:moveTo>
                    <a:pt x="0" y="333374"/>
                  </a:moveTo>
                  <a:lnTo>
                    <a:pt x="5429249" y="333374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391149" y="4752973"/>
              <a:ext cx="4086225" cy="333375"/>
            </a:xfrm>
            <a:custGeom>
              <a:avLst/>
              <a:gdLst/>
              <a:ahLst/>
              <a:cxnLst/>
              <a:rect l="l" t="t" r="r" b="b"/>
              <a:pathLst>
                <a:path w="4086225" h="333375">
                  <a:moveTo>
                    <a:pt x="40862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333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5166278" y="4735669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11698" y="5217086"/>
            <a:ext cx="1624330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Pallikonda</a:t>
            </a: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91149" y="5229223"/>
            <a:ext cx="9515475" cy="333375"/>
            <a:chOff x="5391149" y="5229223"/>
            <a:chExt cx="9515475" cy="333375"/>
          </a:xfrm>
        </p:grpSpPr>
        <p:sp>
          <p:nvSpPr>
            <p:cNvPr id="26" name="object 26"/>
            <p:cNvSpPr/>
            <p:nvPr/>
          </p:nvSpPr>
          <p:spPr>
            <a:xfrm>
              <a:off x="9477374" y="5229223"/>
              <a:ext cx="5429250" cy="333375"/>
            </a:xfrm>
            <a:custGeom>
              <a:avLst/>
              <a:gdLst/>
              <a:ahLst/>
              <a:cxnLst/>
              <a:rect l="l" t="t" r="r" b="b"/>
              <a:pathLst>
                <a:path w="5429250" h="333375">
                  <a:moveTo>
                    <a:pt x="0" y="333374"/>
                  </a:moveTo>
                  <a:lnTo>
                    <a:pt x="5429249" y="333374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391149" y="5229223"/>
              <a:ext cx="4086225" cy="333375"/>
            </a:xfrm>
            <a:custGeom>
              <a:avLst/>
              <a:gdLst/>
              <a:ahLst/>
              <a:cxnLst/>
              <a:rect l="l" t="t" r="r" b="b"/>
              <a:pathLst>
                <a:path w="4086225" h="333375">
                  <a:moveTo>
                    <a:pt x="40862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333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5166278" y="5211919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52601" y="5702861"/>
            <a:ext cx="1783714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Thorapadi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UPHC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91149" y="5714998"/>
            <a:ext cx="9515475" cy="323850"/>
            <a:chOff x="5391149" y="5714998"/>
            <a:chExt cx="9515475" cy="323850"/>
          </a:xfrm>
        </p:grpSpPr>
        <p:sp>
          <p:nvSpPr>
            <p:cNvPr id="31" name="object 31"/>
            <p:cNvSpPr/>
            <p:nvPr/>
          </p:nvSpPr>
          <p:spPr>
            <a:xfrm>
              <a:off x="9477374" y="5714998"/>
              <a:ext cx="5429250" cy="323850"/>
            </a:xfrm>
            <a:custGeom>
              <a:avLst/>
              <a:gdLst/>
              <a:ahLst/>
              <a:cxnLst/>
              <a:rect l="l" t="t" r="r" b="b"/>
              <a:pathLst>
                <a:path w="5429250" h="323850">
                  <a:moveTo>
                    <a:pt x="0" y="323849"/>
                  </a:moveTo>
                  <a:lnTo>
                    <a:pt x="5429249" y="323849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238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391149" y="5714998"/>
              <a:ext cx="4086225" cy="323850"/>
            </a:xfrm>
            <a:custGeom>
              <a:avLst/>
              <a:gdLst/>
              <a:ahLst/>
              <a:cxnLst/>
              <a:rect l="l" t="t" r="r" b="b"/>
              <a:pathLst>
                <a:path w="4086225" h="323850">
                  <a:moveTo>
                    <a:pt x="40862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2384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5166278" y="5688169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20640" y="6179111"/>
            <a:ext cx="1515745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Kallapadi</a:t>
            </a:r>
            <a:r>
              <a:rPr dirty="0" sz="1850" spc="-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391149" y="6191248"/>
            <a:ext cx="9515475" cy="333375"/>
            <a:chOff x="5391149" y="6191248"/>
            <a:chExt cx="9515475" cy="333375"/>
          </a:xfrm>
        </p:grpSpPr>
        <p:sp>
          <p:nvSpPr>
            <p:cNvPr id="36" name="object 36"/>
            <p:cNvSpPr/>
            <p:nvPr/>
          </p:nvSpPr>
          <p:spPr>
            <a:xfrm>
              <a:off x="9477374" y="6191248"/>
              <a:ext cx="5429250" cy="333375"/>
            </a:xfrm>
            <a:custGeom>
              <a:avLst/>
              <a:gdLst/>
              <a:ahLst/>
              <a:cxnLst/>
              <a:rect l="l" t="t" r="r" b="b"/>
              <a:pathLst>
                <a:path w="5429250" h="333375">
                  <a:moveTo>
                    <a:pt x="0" y="333374"/>
                  </a:moveTo>
                  <a:lnTo>
                    <a:pt x="5429249" y="333374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391149" y="6191248"/>
              <a:ext cx="4086225" cy="333375"/>
            </a:xfrm>
            <a:custGeom>
              <a:avLst/>
              <a:gdLst/>
              <a:ahLst/>
              <a:cxnLst/>
              <a:rect l="l" t="t" r="r" b="b"/>
              <a:pathLst>
                <a:path w="4086225" h="333375">
                  <a:moveTo>
                    <a:pt x="40862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333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15166278" y="6173944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74875" y="6655361"/>
            <a:ext cx="2161540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Goodanagaram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391149" y="6667497"/>
            <a:ext cx="9515475" cy="333375"/>
            <a:chOff x="5391149" y="6667497"/>
            <a:chExt cx="9515475" cy="333375"/>
          </a:xfrm>
        </p:grpSpPr>
        <p:sp>
          <p:nvSpPr>
            <p:cNvPr id="41" name="object 41"/>
            <p:cNvSpPr/>
            <p:nvPr/>
          </p:nvSpPr>
          <p:spPr>
            <a:xfrm>
              <a:off x="9477374" y="6667497"/>
              <a:ext cx="5429250" cy="333375"/>
            </a:xfrm>
            <a:custGeom>
              <a:avLst/>
              <a:gdLst/>
              <a:ahLst/>
              <a:cxnLst/>
              <a:rect l="l" t="t" r="r" b="b"/>
              <a:pathLst>
                <a:path w="5429250" h="333375">
                  <a:moveTo>
                    <a:pt x="0" y="333374"/>
                  </a:moveTo>
                  <a:lnTo>
                    <a:pt x="5429249" y="333374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391149" y="6667497"/>
              <a:ext cx="4086225" cy="333375"/>
            </a:xfrm>
            <a:custGeom>
              <a:avLst/>
              <a:gdLst/>
              <a:ahLst/>
              <a:cxnLst/>
              <a:rect l="l" t="t" r="r" b="b"/>
              <a:pathLst>
                <a:path w="4086225" h="333375">
                  <a:moveTo>
                    <a:pt x="40862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333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5166278" y="6650194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35846" y="7141136"/>
            <a:ext cx="1300480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Ussoor</a:t>
            </a: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 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91149" y="7153272"/>
            <a:ext cx="9515475" cy="323850"/>
            <a:chOff x="5391149" y="7153272"/>
            <a:chExt cx="9515475" cy="323850"/>
          </a:xfrm>
        </p:grpSpPr>
        <p:sp>
          <p:nvSpPr>
            <p:cNvPr id="46" name="object 46"/>
            <p:cNvSpPr/>
            <p:nvPr/>
          </p:nvSpPr>
          <p:spPr>
            <a:xfrm>
              <a:off x="9477374" y="7153272"/>
              <a:ext cx="5429250" cy="323850"/>
            </a:xfrm>
            <a:custGeom>
              <a:avLst/>
              <a:gdLst/>
              <a:ahLst/>
              <a:cxnLst/>
              <a:rect l="l" t="t" r="r" b="b"/>
              <a:pathLst>
                <a:path w="5429250" h="323850">
                  <a:moveTo>
                    <a:pt x="0" y="323849"/>
                  </a:moveTo>
                  <a:lnTo>
                    <a:pt x="5429249" y="323849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238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391149" y="7153272"/>
              <a:ext cx="4086225" cy="323850"/>
            </a:xfrm>
            <a:custGeom>
              <a:avLst/>
              <a:gdLst/>
              <a:ahLst/>
              <a:cxnLst/>
              <a:rect l="l" t="t" r="r" b="b"/>
              <a:pathLst>
                <a:path w="4086225" h="323850">
                  <a:moveTo>
                    <a:pt x="40862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2384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5166278" y="7126444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75942" y="7617386"/>
            <a:ext cx="1960245" cy="3105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Konavattam</a:t>
            </a:r>
            <a:r>
              <a:rPr dirty="0" sz="1850" spc="-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UPHC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391149" y="7629522"/>
            <a:ext cx="9515475" cy="333375"/>
            <a:chOff x="5391149" y="7629522"/>
            <a:chExt cx="9515475" cy="333375"/>
          </a:xfrm>
        </p:grpSpPr>
        <p:sp>
          <p:nvSpPr>
            <p:cNvPr id="51" name="object 51"/>
            <p:cNvSpPr/>
            <p:nvPr/>
          </p:nvSpPr>
          <p:spPr>
            <a:xfrm>
              <a:off x="9477374" y="7629522"/>
              <a:ext cx="5429250" cy="333375"/>
            </a:xfrm>
            <a:custGeom>
              <a:avLst/>
              <a:gdLst/>
              <a:ahLst/>
              <a:cxnLst/>
              <a:rect l="l" t="t" r="r" b="b"/>
              <a:pathLst>
                <a:path w="5429250" h="333375">
                  <a:moveTo>
                    <a:pt x="0" y="333374"/>
                  </a:moveTo>
                  <a:lnTo>
                    <a:pt x="5429249" y="333374"/>
                  </a:lnTo>
                  <a:lnTo>
                    <a:pt x="5429249" y="0"/>
                  </a:lnTo>
                  <a:lnTo>
                    <a:pt x="0" y="0"/>
                  </a:lnTo>
                  <a:lnTo>
                    <a:pt x="0" y="3333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391149" y="7629522"/>
              <a:ext cx="4086225" cy="333375"/>
            </a:xfrm>
            <a:custGeom>
              <a:avLst/>
              <a:gdLst/>
              <a:ahLst/>
              <a:cxnLst/>
              <a:rect l="l" t="t" r="r" b="b"/>
              <a:pathLst>
                <a:path w="4086225" h="333375">
                  <a:moveTo>
                    <a:pt x="4086224" y="333374"/>
                  </a:moveTo>
                  <a:lnTo>
                    <a:pt x="0" y="333374"/>
                  </a:lnTo>
                  <a:lnTo>
                    <a:pt x="0" y="0"/>
                  </a:lnTo>
                  <a:lnTo>
                    <a:pt x="4086224" y="0"/>
                  </a:lnTo>
                  <a:lnTo>
                    <a:pt x="4086224" y="3333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15166278" y="7612219"/>
            <a:ext cx="181610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90" b="1">
                <a:solidFill>
                  <a:srgbClr val="111111"/>
                </a:solidFill>
                <a:latin typeface="Arial"/>
                <a:cs typeface="Arial"/>
              </a:rPr>
              <a:t>3</a:t>
            </a:r>
            <a:endParaRPr sz="19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1699" y="9559511"/>
            <a:ext cx="240029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60" b="1">
                <a:solidFill>
                  <a:srgbClr val="999999"/>
                </a:solidFill>
                <a:latin typeface="Arial"/>
                <a:cs typeface="Arial"/>
              </a:rPr>
              <a:t>05</a:t>
            </a:r>
            <a:endParaRPr sz="13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816099" y="8219395"/>
            <a:ext cx="743458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25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additional</a:t>
            </a:r>
            <a:r>
              <a:rPr dirty="0" sz="1700" spc="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70">
                <a:solidFill>
                  <a:srgbClr val="999999"/>
                </a:solidFill>
                <a:latin typeface="Microsoft Sans Serif"/>
                <a:cs typeface="Microsoft Sans Serif"/>
              </a:rPr>
              <a:t>PHCs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13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650" spc="-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70">
                <a:solidFill>
                  <a:srgbClr val="999999"/>
                </a:solidFill>
                <a:latin typeface="Microsoft Sans Serif"/>
                <a:cs typeface="Microsoft Sans Serif"/>
              </a:rPr>
              <a:t>UPHCs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reported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1–2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cases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each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.</a:t>
            </a:r>
            <a:r>
              <a:rPr dirty="0" sz="1650" spc="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999999"/>
                </a:solidFill>
                <a:latin typeface="Microsoft Sans Serif"/>
                <a:cs typeface="Microsoft Sans Serif"/>
              </a:rPr>
              <a:t>Total</a:t>
            </a:r>
            <a:r>
              <a:rPr dirty="0" sz="1700" spc="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70">
                <a:solidFill>
                  <a:srgbClr val="999999"/>
                </a:solidFill>
                <a:latin typeface="Microsoft Sans Serif"/>
                <a:cs typeface="Microsoft Sans Serif"/>
              </a:rPr>
              <a:t>PHCs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affected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:</a:t>
            </a:r>
            <a:r>
              <a:rPr dirty="0" sz="1650" spc="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25">
                <a:solidFill>
                  <a:srgbClr val="999999"/>
                </a:solidFill>
                <a:latin typeface="Microsoft Sans Serif"/>
                <a:cs typeface="Microsoft Sans Serif"/>
              </a:rPr>
              <a:t>35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8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099" y="1239547"/>
            <a:ext cx="6896100" cy="1804035"/>
          </a:xfrm>
          <a:prstGeom prst="rect">
            <a:avLst/>
          </a:prstGeom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z="5950" spc="-285" b="1">
                <a:solidFill>
                  <a:srgbClr val="111111"/>
                </a:solidFill>
                <a:latin typeface="Arial"/>
                <a:cs typeface="Arial"/>
              </a:rPr>
              <a:t>Gender</a:t>
            </a:r>
            <a:r>
              <a:rPr dirty="0" sz="5950" spc="-6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950" spc="-310" b="1">
                <a:solidFill>
                  <a:srgbClr val="111111"/>
                </a:solidFill>
                <a:latin typeface="Arial"/>
                <a:cs typeface="Arial"/>
              </a:rPr>
              <a:t>Distribution</a:t>
            </a:r>
            <a:endParaRPr sz="5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20">
                <a:solidFill>
                  <a:srgbClr val="666666"/>
                </a:solidFill>
                <a:latin typeface="Microsoft Sans Serif"/>
                <a:cs typeface="Microsoft Sans Serif"/>
              </a:rPr>
              <a:t>Sex-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wise</a:t>
            </a:r>
            <a:r>
              <a:rPr dirty="0" sz="230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breakdown</a:t>
            </a:r>
            <a:r>
              <a:rPr dirty="0" sz="230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95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-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73</a:t>
            </a:r>
            <a:r>
              <a:rPr dirty="0" sz="230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300" spc="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measles</a:t>
            </a:r>
            <a:r>
              <a:rPr dirty="0" sz="230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endParaRPr sz="23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832079" y="3505200"/>
            <a:ext cx="3731260" cy="3084830"/>
            <a:chOff x="12832079" y="3505200"/>
            <a:chExt cx="3731260" cy="3084830"/>
          </a:xfrm>
        </p:grpSpPr>
        <p:sp>
          <p:nvSpPr>
            <p:cNvPr id="7" name="object 7"/>
            <p:cNvSpPr/>
            <p:nvPr/>
          </p:nvSpPr>
          <p:spPr>
            <a:xfrm>
              <a:off x="12832067" y="3505199"/>
              <a:ext cx="3731260" cy="3084830"/>
            </a:xfrm>
            <a:custGeom>
              <a:avLst/>
              <a:gdLst/>
              <a:ahLst/>
              <a:cxnLst/>
              <a:rect l="l" t="t" r="r" b="b"/>
              <a:pathLst>
                <a:path w="3731259" h="3084829">
                  <a:moveTo>
                    <a:pt x="3730752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2952750"/>
                  </a:lnTo>
                  <a:lnTo>
                    <a:pt x="0" y="3084830"/>
                  </a:lnTo>
                  <a:lnTo>
                    <a:pt x="3730752" y="3084830"/>
                  </a:lnTo>
                  <a:lnTo>
                    <a:pt x="3730752" y="2952762"/>
                  </a:lnTo>
                  <a:lnTo>
                    <a:pt x="3730752" y="95262"/>
                  </a:lnTo>
                  <a:lnTo>
                    <a:pt x="3627120" y="95262"/>
                  </a:lnTo>
                  <a:lnTo>
                    <a:pt x="3627120" y="2952750"/>
                  </a:lnTo>
                  <a:lnTo>
                    <a:pt x="102870" y="2952750"/>
                  </a:lnTo>
                  <a:lnTo>
                    <a:pt x="102870" y="95250"/>
                  </a:lnTo>
                  <a:lnTo>
                    <a:pt x="3730752" y="95250"/>
                  </a:lnTo>
                  <a:lnTo>
                    <a:pt x="3730752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934948" y="3590922"/>
              <a:ext cx="3524250" cy="2876550"/>
            </a:xfrm>
            <a:custGeom>
              <a:avLst/>
              <a:gdLst/>
              <a:ahLst/>
              <a:cxnLst/>
              <a:rect l="l" t="t" r="r" b="b"/>
              <a:pathLst>
                <a:path w="3524250" h="2876550">
                  <a:moveTo>
                    <a:pt x="3524249" y="2876549"/>
                  </a:moveTo>
                  <a:lnTo>
                    <a:pt x="0" y="2876549"/>
                  </a:lnTo>
                  <a:lnTo>
                    <a:pt x="0" y="0"/>
                  </a:lnTo>
                  <a:lnTo>
                    <a:pt x="3524249" y="0"/>
                  </a:lnTo>
                  <a:lnTo>
                    <a:pt x="3524249" y="28765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939711" y="3595685"/>
              <a:ext cx="3514725" cy="2867025"/>
            </a:xfrm>
            <a:custGeom>
              <a:avLst/>
              <a:gdLst/>
              <a:ahLst/>
              <a:cxnLst/>
              <a:rect l="l" t="t" r="r" b="b"/>
              <a:pathLst>
                <a:path w="3514725" h="2867025">
                  <a:moveTo>
                    <a:pt x="0" y="0"/>
                  </a:moveTo>
                  <a:lnTo>
                    <a:pt x="3514724" y="0"/>
                  </a:lnTo>
                  <a:lnTo>
                    <a:pt x="3514724" y="2867024"/>
                  </a:lnTo>
                  <a:lnTo>
                    <a:pt x="0" y="28670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3402864" y="4050932"/>
            <a:ext cx="112649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75" b="1">
                <a:solidFill>
                  <a:srgbClr val="999999"/>
                </a:solidFill>
                <a:latin typeface="Arial"/>
                <a:cs typeface="Arial"/>
              </a:rPr>
              <a:t>SEX</a:t>
            </a:r>
            <a:r>
              <a:rPr dirty="0" sz="1500" spc="210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999999"/>
                </a:solidFill>
                <a:latin typeface="Arial"/>
                <a:cs typeface="Arial"/>
              </a:rPr>
              <a:t>RATI</a:t>
            </a:r>
            <a:r>
              <a:rPr dirty="0" sz="1500" spc="-175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1500" spc="-50" b="1">
                <a:solidFill>
                  <a:srgbClr val="999999"/>
                </a:solidFill>
                <a:latin typeface="Arial"/>
                <a:cs typeface="Arial"/>
              </a:rPr>
              <a:t>O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02864" y="4492231"/>
            <a:ext cx="2220595" cy="1473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4250" spc="-80" b="1">
                <a:solidFill>
                  <a:srgbClr val="111111"/>
                </a:solidFill>
                <a:latin typeface="Arial"/>
                <a:cs typeface="Arial"/>
              </a:rPr>
              <a:t>128</a:t>
            </a:r>
            <a:r>
              <a:rPr dirty="0" sz="4250" spc="-2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50" spc="-340" b="1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dirty="0" sz="4250" spc="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4250" spc="-25" b="1">
                <a:solidFill>
                  <a:srgbClr val="111111"/>
                </a:solidFill>
                <a:latin typeface="Arial"/>
                <a:cs typeface="Arial"/>
              </a:rPr>
              <a:t>100</a:t>
            </a:r>
            <a:endParaRPr sz="4250">
              <a:latin typeface="Arial"/>
              <a:cs typeface="Arial"/>
            </a:endParaRPr>
          </a:p>
          <a:p>
            <a:pPr marR="116205">
              <a:lnSpc>
                <a:spcPct val="118200"/>
              </a:lnSpc>
              <a:spcBef>
                <a:spcPts val="1025"/>
              </a:spcBef>
            </a:pP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Male</a:t>
            </a:r>
            <a:r>
              <a:rPr dirty="0" sz="1850" spc="-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60">
                <a:solidFill>
                  <a:srgbClr val="666666"/>
                </a:solidFill>
                <a:latin typeface="Microsoft Sans Serif"/>
                <a:cs typeface="Microsoft Sans Serif"/>
              </a:rPr>
              <a:t>Female</a:t>
            </a:r>
            <a:r>
              <a:rPr dirty="0" sz="1850" spc="-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ratio </a:t>
            </a:r>
            <a:r>
              <a:rPr dirty="0" sz="1850">
                <a:solidFill>
                  <a:srgbClr val="666666"/>
                </a:solidFill>
                <a:latin typeface="Microsoft Sans Serif"/>
                <a:cs typeface="Microsoft Sans Serif"/>
              </a:rPr>
              <a:t>among</a:t>
            </a:r>
            <a:r>
              <a:rPr dirty="0" sz="1850" spc="-1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934949" y="6772272"/>
            <a:ext cx="3524250" cy="3457575"/>
            <a:chOff x="12934949" y="6772272"/>
            <a:chExt cx="3524250" cy="3457575"/>
          </a:xfrm>
        </p:grpSpPr>
        <p:sp>
          <p:nvSpPr>
            <p:cNvPr id="13" name="object 13"/>
            <p:cNvSpPr/>
            <p:nvPr/>
          </p:nvSpPr>
          <p:spPr>
            <a:xfrm>
              <a:off x="12934949" y="6772272"/>
              <a:ext cx="3524250" cy="3457575"/>
            </a:xfrm>
            <a:custGeom>
              <a:avLst/>
              <a:gdLst/>
              <a:ahLst/>
              <a:cxnLst/>
              <a:rect l="l" t="t" r="r" b="b"/>
              <a:pathLst>
                <a:path w="3524250" h="3457575">
                  <a:moveTo>
                    <a:pt x="3524249" y="3457574"/>
                  </a:moveTo>
                  <a:lnTo>
                    <a:pt x="0" y="3457574"/>
                  </a:lnTo>
                  <a:lnTo>
                    <a:pt x="0" y="0"/>
                  </a:lnTo>
                  <a:lnTo>
                    <a:pt x="3524249" y="0"/>
                  </a:lnTo>
                  <a:lnTo>
                    <a:pt x="3524249" y="3457574"/>
                  </a:lnTo>
                  <a:close/>
                </a:path>
              </a:pathLst>
            </a:custGeom>
            <a:solidFill>
              <a:srgbClr val="EBF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934949" y="6772272"/>
              <a:ext cx="38100" cy="3457575"/>
            </a:xfrm>
            <a:custGeom>
              <a:avLst/>
              <a:gdLst/>
              <a:ahLst/>
              <a:cxnLst/>
              <a:rect l="l" t="t" r="r" b="b"/>
              <a:pathLst>
                <a:path w="38100" h="3457575">
                  <a:moveTo>
                    <a:pt x="38099" y="3457574"/>
                  </a:moveTo>
                  <a:lnTo>
                    <a:pt x="0" y="34575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457574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973049" y="7059270"/>
            <a:ext cx="3486150" cy="2668905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457834">
              <a:lnSpc>
                <a:spcPct val="100000"/>
              </a:lnSpc>
              <a:spcBef>
                <a:spcPts val="1315"/>
              </a:spcBef>
            </a:pPr>
            <a:r>
              <a:rPr dirty="0" sz="2050" spc="-10" b="1">
                <a:solidFill>
                  <a:srgbClr val="3C5980"/>
                </a:solidFill>
                <a:latin typeface="Arial"/>
                <a:cs typeface="Arial"/>
              </a:rPr>
              <a:t>Observation</a:t>
            </a:r>
            <a:endParaRPr sz="2050">
              <a:latin typeface="Arial"/>
              <a:cs typeface="Arial"/>
            </a:endParaRPr>
          </a:p>
          <a:p>
            <a:pPr marL="457834" marR="476884">
              <a:lnSpc>
                <a:spcPct val="124300"/>
              </a:lnSpc>
              <a:spcBef>
                <a:spcPts val="575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Male</a:t>
            </a:r>
            <a:r>
              <a:rPr dirty="0" sz="1850" spc="-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outnumber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female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by</a:t>
            </a: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28%.</a:t>
            </a:r>
            <a:r>
              <a:rPr dirty="0" sz="1800" spc="1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Both sexes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affected</a:t>
            </a:r>
            <a:r>
              <a:rPr dirty="0" sz="18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across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all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age</a:t>
            </a:r>
            <a:r>
              <a:rPr dirty="0" sz="1850" spc="-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groups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,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suggesting equal</a:t>
            </a:r>
            <a:r>
              <a:rPr dirty="0" sz="1850" spc="-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exposure</a:t>
            </a:r>
            <a:r>
              <a:rPr dirty="0" sz="1850" spc="-1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in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18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settings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25167" y="3505200"/>
            <a:ext cx="4846320" cy="6781800"/>
            <a:chOff x="1725167" y="3505200"/>
            <a:chExt cx="4846320" cy="6781800"/>
          </a:xfrm>
        </p:grpSpPr>
        <p:sp>
          <p:nvSpPr>
            <p:cNvPr id="17" name="object 17"/>
            <p:cNvSpPr/>
            <p:nvPr/>
          </p:nvSpPr>
          <p:spPr>
            <a:xfrm>
              <a:off x="1725155" y="3505199"/>
              <a:ext cx="4846320" cy="6781800"/>
            </a:xfrm>
            <a:custGeom>
              <a:avLst/>
              <a:gdLst/>
              <a:ahLst/>
              <a:cxnLst/>
              <a:rect l="l" t="t" r="r" b="b"/>
              <a:pathLst>
                <a:path w="4846320" h="6781800">
                  <a:moveTo>
                    <a:pt x="484632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6714490"/>
                  </a:lnTo>
                  <a:lnTo>
                    <a:pt x="0" y="6781800"/>
                  </a:lnTo>
                  <a:lnTo>
                    <a:pt x="4846320" y="6781800"/>
                  </a:lnTo>
                  <a:lnTo>
                    <a:pt x="4846320" y="6715125"/>
                  </a:lnTo>
                  <a:lnTo>
                    <a:pt x="4846320" y="6714490"/>
                  </a:lnTo>
                  <a:lnTo>
                    <a:pt x="4846320" y="95262"/>
                  </a:lnTo>
                  <a:lnTo>
                    <a:pt x="4742307" y="95262"/>
                  </a:lnTo>
                  <a:lnTo>
                    <a:pt x="4742307" y="6714490"/>
                  </a:lnTo>
                  <a:lnTo>
                    <a:pt x="103632" y="6714490"/>
                  </a:lnTo>
                  <a:lnTo>
                    <a:pt x="103632" y="95250"/>
                  </a:lnTo>
                  <a:lnTo>
                    <a:pt x="4846320" y="95250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28799" y="3590922"/>
              <a:ext cx="4638675" cy="6638925"/>
            </a:xfrm>
            <a:custGeom>
              <a:avLst/>
              <a:gdLst/>
              <a:ahLst/>
              <a:cxnLst/>
              <a:rect l="l" t="t" r="r" b="b"/>
              <a:pathLst>
                <a:path w="4638675" h="6638925">
                  <a:moveTo>
                    <a:pt x="4638674" y="6638924"/>
                  </a:moveTo>
                  <a:lnTo>
                    <a:pt x="0" y="6638924"/>
                  </a:lnTo>
                  <a:lnTo>
                    <a:pt x="0" y="0"/>
                  </a:lnTo>
                  <a:lnTo>
                    <a:pt x="4638674" y="0"/>
                  </a:lnTo>
                  <a:lnTo>
                    <a:pt x="4638674" y="6638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33562" y="3595685"/>
              <a:ext cx="4629150" cy="6629400"/>
            </a:xfrm>
            <a:custGeom>
              <a:avLst/>
              <a:gdLst/>
              <a:ahLst/>
              <a:cxnLst/>
              <a:rect l="l" t="t" r="r" b="b"/>
              <a:pathLst>
                <a:path w="4629150" h="6629400">
                  <a:moveTo>
                    <a:pt x="0" y="0"/>
                  </a:moveTo>
                  <a:lnTo>
                    <a:pt x="4629149" y="0"/>
                  </a:lnTo>
                  <a:lnTo>
                    <a:pt x="4629149" y="6629399"/>
                  </a:lnTo>
                  <a:lnTo>
                    <a:pt x="0" y="662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62449" y="7915272"/>
              <a:ext cx="1543050" cy="152400"/>
            </a:xfrm>
            <a:custGeom>
              <a:avLst/>
              <a:gdLst/>
              <a:ahLst/>
              <a:cxnLst/>
              <a:rect l="l" t="t" r="r" b="b"/>
              <a:pathLst>
                <a:path w="1543050" h="152400">
                  <a:moveTo>
                    <a:pt x="0" y="152399"/>
                  </a:moveTo>
                  <a:lnTo>
                    <a:pt x="1543049" y="152399"/>
                  </a:lnTo>
                  <a:lnTo>
                    <a:pt x="1543049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390774" y="7915272"/>
              <a:ext cx="1971675" cy="152400"/>
            </a:xfrm>
            <a:custGeom>
              <a:avLst/>
              <a:gdLst/>
              <a:ahLst/>
              <a:cxnLst/>
              <a:rect l="l" t="t" r="r" b="b"/>
              <a:pathLst>
                <a:path w="1971675" h="152400">
                  <a:moveTo>
                    <a:pt x="1971674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15239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2374205" y="4328964"/>
            <a:ext cx="658495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45" b="1">
                <a:solidFill>
                  <a:srgbClr val="999999"/>
                </a:solidFill>
                <a:latin typeface="Arial"/>
                <a:cs typeface="Arial"/>
              </a:rPr>
              <a:t>MALE</a:t>
            </a:r>
            <a:endParaRPr sz="1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74205" y="4314762"/>
            <a:ext cx="2774950" cy="3255010"/>
          </a:xfrm>
          <a:prstGeom prst="rect">
            <a:avLst/>
          </a:prstGeom>
        </p:spPr>
        <p:txBody>
          <a:bodyPr wrap="square" lIns="0" tIns="244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12100" spc="-994" b="1">
                <a:solidFill>
                  <a:srgbClr val="3C5980"/>
                </a:solidFill>
                <a:latin typeface="Arial"/>
                <a:cs typeface="Arial"/>
              </a:rPr>
              <a:t>4</a:t>
            </a:r>
            <a:r>
              <a:rPr dirty="0" sz="12100" spc="-360" b="1">
                <a:solidFill>
                  <a:srgbClr val="3C5980"/>
                </a:solidFill>
                <a:latin typeface="Arial"/>
                <a:cs typeface="Arial"/>
              </a:rPr>
              <a:t>1</a:t>
            </a:r>
            <a:endParaRPr sz="1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3800" spc="135" b="1">
                <a:solidFill>
                  <a:srgbClr val="111111"/>
                </a:solidFill>
                <a:latin typeface="Arial"/>
                <a:cs typeface="Arial"/>
              </a:rPr>
              <a:t>56.2%</a:t>
            </a: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000" spc="90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7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6666"/>
                </a:solidFill>
                <a:latin typeface="Microsoft Sans Serif"/>
                <a:cs typeface="Microsoft Sans Serif"/>
              </a:rPr>
              <a:t>total</a:t>
            </a:r>
            <a:r>
              <a:rPr dirty="0" sz="2000" spc="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00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38324" y="3600447"/>
            <a:ext cx="4619625" cy="47625"/>
          </a:xfrm>
          <a:custGeom>
            <a:avLst/>
            <a:gdLst/>
            <a:ahLst/>
            <a:cxnLst/>
            <a:rect l="l" t="t" r="r" b="b"/>
            <a:pathLst>
              <a:path w="4619625" h="47625">
                <a:moveTo>
                  <a:pt x="4619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619624" y="0"/>
                </a:lnTo>
                <a:lnTo>
                  <a:pt x="4619624" y="47624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7278623" y="3505200"/>
            <a:ext cx="4846320" cy="6781800"/>
            <a:chOff x="7278623" y="3505200"/>
            <a:chExt cx="4846320" cy="6781800"/>
          </a:xfrm>
        </p:grpSpPr>
        <p:sp>
          <p:nvSpPr>
            <p:cNvPr id="26" name="object 26"/>
            <p:cNvSpPr/>
            <p:nvPr/>
          </p:nvSpPr>
          <p:spPr>
            <a:xfrm>
              <a:off x="7278611" y="3505199"/>
              <a:ext cx="4846320" cy="6781800"/>
            </a:xfrm>
            <a:custGeom>
              <a:avLst/>
              <a:gdLst/>
              <a:ahLst/>
              <a:cxnLst/>
              <a:rect l="l" t="t" r="r" b="b"/>
              <a:pathLst>
                <a:path w="4846320" h="6781800">
                  <a:moveTo>
                    <a:pt x="484632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6714490"/>
                  </a:lnTo>
                  <a:lnTo>
                    <a:pt x="0" y="6781800"/>
                  </a:lnTo>
                  <a:lnTo>
                    <a:pt x="4846320" y="6781800"/>
                  </a:lnTo>
                  <a:lnTo>
                    <a:pt x="4846320" y="6715125"/>
                  </a:lnTo>
                  <a:lnTo>
                    <a:pt x="4846320" y="6714490"/>
                  </a:lnTo>
                  <a:lnTo>
                    <a:pt x="4846320" y="95262"/>
                  </a:lnTo>
                  <a:lnTo>
                    <a:pt x="4741926" y="95262"/>
                  </a:lnTo>
                  <a:lnTo>
                    <a:pt x="4741926" y="6714490"/>
                  </a:lnTo>
                  <a:lnTo>
                    <a:pt x="103251" y="6714490"/>
                  </a:lnTo>
                  <a:lnTo>
                    <a:pt x="103251" y="95250"/>
                  </a:lnTo>
                  <a:lnTo>
                    <a:pt x="4846320" y="95250"/>
                  </a:lnTo>
                  <a:lnTo>
                    <a:pt x="484632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381874" y="3590922"/>
              <a:ext cx="4638675" cy="6638925"/>
            </a:xfrm>
            <a:custGeom>
              <a:avLst/>
              <a:gdLst/>
              <a:ahLst/>
              <a:cxnLst/>
              <a:rect l="l" t="t" r="r" b="b"/>
              <a:pathLst>
                <a:path w="4638675" h="6638925">
                  <a:moveTo>
                    <a:pt x="4638674" y="6638924"/>
                  </a:moveTo>
                  <a:lnTo>
                    <a:pt x="0" y="6638924"/>
                  </a:lnTo>
                  <a:lnTo>
                    <a:pt x="0" y="0"/>
                  </a:lnTo>
                  <a:lnTo>
                    <a:pt x="4638674" y="0"/>
                  </a:lnTo>
                  <a:lnTo>
                    <a:pt x="4638674" y="6638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386637" y="3595685"/>
              <a:ext cx="4629150" cy="6629400"/>
            </a:xfrm>
            <a:custGeom>
              <a:avLst/>
              <a:gdLst/>
              <a:ahLst/>
              <a:cxnLst/>
              <a:rect l="l" t="t" r="r" b="b"/>
              <a:pathLst>
                <a:path w="4629150" h="6629400">
                  <a:moveTo>
                    <a:pt x="0" y="0"/>
                  </a:moveTo>
                  <a:lnTo>
                    <a:pt x="4629149" y="0"/>
                  </a:lnTo>
                  <a:lnTo>
                    <a:pt x="4629149" y="6629399"/>
                  </a:lnTo>
                  <a:lnTo>
                    <a:pt x="0" y="662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486899" y="7915272"/>
              <a:ext cx="1981200" cy="152400"/>
            </a:xfrm>
            <a:custGeom>
              <a:avLst/>
              <a:gdLst/>
              <a:ahLst/>
              <a:cxnLst/>
              <a:rect l="l" t="t" r="r" b="b"/>
              <a:pathLst>
                <a:path w="1981200" h="152400">
                  <a:moveTo>
                    <a:pt x="0" y="152399"/>
                  </a:moveTo>
                  <a:lnTo>
                    <a:pt x="1981199" y="152399"/>
                  </a:lnTo>
                  <a:lnTo>
                    <a:pt x="1981199" y="0"/>
                  </a:lnTo>
                  <a:lnTo>
                    <a:pt x="0" y="0"/>
                  </a:lnTo>
                  <a:lnTo>
                    <a:pt x="0" y="15239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943849" y="7915272"/>
              <a:ext cx="1543050" cy="152400"/>
            </a:xfrm>
            <a:custGeom>
              <a:avLst/>
              <a:gdLst/>
              <a:ahLst/>
              <a:cxnLst/>
              <a:rect l="l" t="t" r="r" b="b"/>
              <a:pathLst>
                <a:path w="1543050" h="152400">
                  <a:moveTo>
                    <a:pt x="1543049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543049" y="0"/>
                  </a:lnTo>
                  <a:lnTo>
                    <a:pt x="1543049" y="152399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927875" y="4328964"/>
            <a:ext cx="938530" cy="2794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50" spc="45" b="1">
                <a:solidFill>
                  <a:srgbClr val="999999"/>
                </a:solidFill>
                <a:latin typeface="Arial"/>
                <a:cs typeface="Arial"/>
              </a:rPr>
              <a:t>FEMALE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27875" y="4306712"/>
            <a:ext cx="2774950" cy="3263265"/>
          </a:xfrm>
          <a:prstGeom prst="rect">
            <a:avLst/>
          </a:prstGeom>
        </p:spPr>
        <p:txBody>
          <a:bodyPr wrap="square" lIns="0" tIns="2393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dirty="0" sz="12200" spc="655" b="1">
                <a:solidFill>
                  <a:srgbClr val="ED6B4D"/>
                </a:solidFill>
                <a:latin typeface="Arial"/>
                <a:cs typeface="Arial"/>
              </a:rPr>
              <a:t>32</a:t>
            </a:r>
            <a:endParaRPr sz="1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3800" spc="170" b="1">
                <a:solidFill>
                  <a:srgbClr val="111111"/>
                </a:solidFill>
                <a:latin typeface="Arial"/>
                <a:cs typeface="Arial"/>
              </a:rPr>
              <a:t>43.8%</a:t>
            </a:r>
            <a:endParaRPr sz="3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000" spc="90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7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6666"/>
                </a:solidFill>
                <a:latin typeface="Microsoft Sans Serif"/>
                <a:cs typeface="Microsoft Sans Serif"/>
              </a:rPr>
              <a:t>total</a:t>
            </a:r>
            <a:r>
              <a:rPr dirty="0" sz="2000" spc="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00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2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91399" y="3600447"/>
            <a:ext cx="4619625" cy="47625"/>
          </a:xfrm>
          <a:custGeom>
            <a:avLst/>
            <a:gdLst/>
            <a:ahLst/>
            <a:cxnLst/>
            <a:rect l="l" t="t" r="r" b="b"/>
            <a:pathLst>
              <a:path w="4619625" h="47625">
                <a:moveTo>
                  <a:pt x="4619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619624" y="0"/>
                </a:lnTo>
                <a:lnTo>
                  <a:pt x="4619624" y="47624"/>
                </a:lnTo>
                <a:close/>
              </a:path>
            </a:pathLst>
          </a:custGeom>
          <a:solidFill>
            <a:srgbClr val="ED6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901699" y="9518363"/>
            <a:ext cx="245110" cy="2355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350" spc="80" b="1">
                <a:solidFill>
                  <a:srgbClr val="999999"/>
                </a:solidFill>
                <a:latin typeface="Arial"/>
                <a:cs typeface="Arial"/>
              </a:rPr>
              <a:t>06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7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8799" y="3905247"/>
            <a:ext cx="8610600" cy="295275"/>
          </a:xfrm>
          <a:custGeom>
            <a:avLst/>
            <a:gdLst/>
            <a:ahLst/>
            <a:cxnLst/>
            <a:rect l="l" t="t" r="r" b="b"/>
            <a:pathLst>
              <a:path w="8610600" h="295275">
                <a:moveTo>
                  <a:pt x="8610599" y="295274"/>
                </a:moveTo>
                <a:lnTo>
                  <a:pt x="0" y="295274"/>
                </a:lnTo>
                <a:lnTo>
                  <a:pt x="0" y="0"/>
                </a:lnTo>
                <a:lnTo>
                  <a:pt x="8610599" y="0"/>
                </a:lnTo>
                <a:lnTo>
                  <a:pt x="8610599" y="295274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816099" y="1239547"/>
            <a:ext cx="8636000" cy="2568575"/>
          </a:xfrm>
          <a:prstGeom prst="rect">
            <a:avLst/>
          </a:prstGeom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z="5950" spc="-260" b="1">
                <a:solidFill>
                  <a:srgbClr val="111111"/>
                </a:solidFill>
                <a:latin typeface="Arial"/>
                <a:cs typeface="Arial"/>
              </a:rPr>
              <a:t>Age</a:t>
            </a:r>
            <a:r>
              <a:rPr dirty="0" sz="5950" spc="-6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950" spc="-390" b="1">
                <a:solidFill>
                  <a:srgbClr val="111111"/>
                </a:solidFill>
                <a:latin typeface="Arial"/>
                <a:cs typeface="Arial"/>
              </a:rPr>
              <a:t>Group</a:t>
            </a:r>
            <a:r>
              <a:rPr dirty="0" sz="5950" spc="-6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950" spc="-570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5950" spc="-254" b="1">
                <a:solidFill>
                  <a:srgbClr val="111111"/>
                </a:solidFill>
                <a:latin typeface="Arial"/>
                <a:cs typeface="Arial"/>
              </a:rPr>
              <a:t>n</a:t>
            </a:r>
            <a:r>
              <a:rPr dirty="0" sz="5950" spc="-245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5950" b="1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dirty="0" sz="5950" spc="-530" b="1">
                <a:solidFill>
                  <a:srgbClr val="111111"/>
                </a:solidFill>
                <a:latin typeface="Arial"/>
                <a:cs typeface="Arial"/>
              </a:rPr>
              <a:t>y</a:t>
            </a:r>
            <a:r>
              <a:rPr dirty="0" sz="5950" spc="-400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r>
              <a:rPr dirty="0" sz="5950" spc="-105" b="1">
                <a:solidFill>
                  <a:srgbClr val="111111"/>
                </a:solidFill>
                <a:latin typeface="Arial"/>
                <a:cs typeface="Arial"/>
              </a:rPr>
              <a:t>i</a:t>
            </a:r>
            <a:r>
              <a:rPr dirty="0" sz="5950" spc="-204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endParaRPr sz="5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Distribution</a:t>
            </a:r>
            <a:r>
              <a:rPr dirty="0" sz="2300" spc="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95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73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300" spc="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230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across</a:t>
            </a:r>
            <a:r>
              <a:rPr dirty="0" sz="230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five</a:t>
            </a:r>
            <a:r>
              <a:rPr dirty="0" sz="23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age</a:t>
            </a:r>
            <a:r>
              <a:rPr dirty="0" sz="23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categories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6440805" algn="l"/>
              </a:tabLst>
            </a:pP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Under</a:t>
            </a:r>
            <a:r>
              <a:rPr dirty="0" sz="2050" spc="-1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35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1950" spc="-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20" b="1">
                <a:solidFill>
                  <a:srgbClr val="111111"/>
                </a:solidFill>
                <a:latin typeface="Arial"/>
                <a:cs typeface="Arial"/>
              </a:rPr>
              <a:t>Year</a:t>
            </a:r>
            <a:r>
              <a:rPr dirty="0" sz="2050" b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2000" spc="85" b="1">
                <a:solidFill>
                  <a:srgbClr val="3C5980"/>
                </a:solidFill>
                <a:latin typeface="Arial"/>
                <a:cs typeface="Arial"/>
              </a:rPr>
              <a:t>28</a:t>
            </a:r>
            <a:r>
              <a:rPr dirty="0" sz="2000" spc="-11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1950" spc="-10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80" b="1">
                <a:solidFill>
                  <a:srgbClr val="3C5980"/>
                </a:solidFill>
                <a:latin typeface="Arial"/>
                <a:cs typeface="Arial"/>
              </a:rPr>
              <a:t>38.4%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28799" y="4819647"/>
            <a:ext cx="8610600" cy="285750"/>
            <a:chOff x="1828799" y="4819647"/>
            <a:chExt cx="8610600" cy="285750"/>
          </a:xfrm>
        </p:grpSpPr>
        <p:sp>
          <p:nvSpPr>
            <p:cNvPr id="8" name="object 8"/>
            <p:cNvSpPr/>
            <p:nvPr/>
          </p:nvSpPr>
          <p:spPr>
            <a:xfrm>
              <a:off x="7362824" y="4819647"/>
              <a:ext cx="3076575" cy="285750"/>
            </a:xfrm>
            <a:custGeom>
              <a:avLst/>
              <a:gdLst/>
              <a:ahLst/>
              <a:cxnLst/>
              <a:rect l="l" t="t" r="r" b="b"/>
              <a:pathLst>
                <a:path w="3076575" h="285750">
                  <a:moveTo>
                    <a:pt x="0" y="285749"/>
                  </a:moveTo>
                  <a:lnTo>
                    <a:pt x="3076574" y="285749"/>
                  </a:lnTo>
                  <a:lnTo>
                    <a:pt x="3076574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28799" y="4819647"/>
              <a:ext cx="5534025" cy="285750"/>
            </a:xfrm>
            <a:custGeom>
              <a:avLst/>
              <a:gdLst/>
              <a:ahLst/>
              <a:cxnLst/>
              <a:rect l="l" t="t" r="r" b="b"/>
              <a:pathLst>
                <a:path w="5534025" h="285750">
                  <a:moveTo>
                    <a:pt x="5534024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534024" y="0"/>
                  </a:lnTo>
                  <a:lnTo>
                    <a:pt x="5534024" y="28574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816099" y="4384860"/>
            <a:ext cx="1226185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5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1950" spc="-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60" b="1">
                <a:solidFill>
                  <a:srgbClr val="111111"/>
                </a:solidFill>
                <a:latin typeface="Arial"/>
                <a:cs typeface="Arial"/>
              </a:rPr>
              <a:t>–</a:t>
            </a:r>
            <a:r>
              <a:rPr dirty="0" sz="1950" spc="-1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95" b="1">
                <a:solidFill>
                  <a:srgbClr val="111111"/>
                </a:solidFill>
                <a:latin typeface="Arial"/>
                <a:cs typeface="Arial"/>
              </a:rPr>
              <a:t>5</a:t>
            </a:r>
            <a:r>
              <a:rPr dirty="0" sz="195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5" b="1">
                <a:solidFill>
                  <a:srgbClr val="111111"/>
                </a:solidFill>
                <a:latin typeface="Arial"/>
                <a:cs typeface="Arial"/>
              </a:rPr>
              <a:t>Years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24799" y="4392259"/>
            <a:ext cx="2127250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00" b="1">
                <a:solidFill>
                  <a:srgbClr val="3C5980"/>
                </a:solidFill>
                <a:latin typeface="Arial"/>
                <a:cs typeface="Arial"/>
              </a:rPr>
              <a:t>18</a:t>
            </a:r>
            <a:r>
              <a:rPr dirty="0" sz="2000" spc="-11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1950" spc="-10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3C5980"/>
                </a:solidFill>
                <a:latin typeface="Arial"/>
                <a:cs typeface="Arial"/>
              </a:rPr>
              <a:t>24.7%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28799" y="5734047"/>
            <a:ext cx="8610600" cy="285750"/>
            <a:chOff x="1828799" y="5734047"/>
            <a:chExt cx="8610600" cy="285750"/>
          </a:xfrm>
        </p:grpSpPr>
        <p:sp>
          <p:nvSpPr>
            <p:cNvPr id="13" name="object 13"/>
            <p:cNvSpPr/>
            <p:nvPr/>
          </p:nvSpPr>
          <p:spPr>
            <a:xfrm>
              <a:off x="7058024" y="5734047"/>
              <a:ext cx="3381375" cy="285750"/>
            </a:xfrm>
            <a:custGeom>
              <a:avLst/>
              <a:gdLst/>
              <a:ahLst/>
              <a:cxnLst/>
              <a:rect l="l" t="t" r="r" b="b"/>
              <a:pathLst>
                <a:path w="3381375" h="285750">
                  <a:moveTo>
                    <a:pt x="0" y="285749"/>
                  </a:moveTo>
                  <a:lnTo>
                    <a:pt x="3381374" y="285749"/>
                  </a:lnTo>
                  <a:lnTo>
                    <a:pt x="3381374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28799" y="5734047"/>
              <a:ext cx="5229225" cy="285750"/>
            </a:xfrm>
            <a:custGeom>
              <a:avLst/>
              <a:gdLst/>
              <a:ahLst/>
              <a:cxnLst/>
              <a:rect l="l" t="t" r="r" b="b"/>
              <a:pathLst>
                <a:path w="5229225" h="285750">
                  <a:moveTo>
                    <a:pt x="5229224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5229224" y="0"/>
                  </a:lnTo>
                  <a:lnTo>
                    <a:pt x="5229224" y="285749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16099" y="5299260"/>
            <a:ext cx="229870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70" b="1">
                <a:solidFill>
                  <a:srgbClr val="111111"/>
                </a:solidFill>
                <a:latin typeface="Arial"/>
                <a:cs typeface="Arial"/>
              </a:rPr>
              <a:t>16</a:t>
            </a:r>
            <a:r>
              <a:rPr dirty="0" sz="195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90" b="1">
                <a:solidFill>
                  <a:srgbClr val="111111"/>
                </a:solidFill>
                <a:latin typeface="Arial"/>
                <a:cs typeface="Arial"/>
              </a:rPr>
              <a:t>Years</a:t>
            </a:r>
            <a:r>
              <a:rPr dirty="0" sz="205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85" b="1">
                <a:solidFill>
                  <a:srgbClr val="111111"/>
                </a:solidFill>
                <a:latin typeface="Arial"/>
                <a:cs typeface="Arial"/>
              </a:rPr>
              <a:t>and 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Above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25990" y="5284533"/>
            <a:ext cx="2125980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-160" b="1">
                <a:solidFill>
                  <a:srgbClr val="ED6B4D"/>
                </a:solidFill>
                <a:latin typeface="Arial"/>
                <a:cs typeface="Arial"/>
              </a:rPr>
              <a:t>17</a:t>
            </a:r>
            <a:r>
              <a:rPr dirty="0" sz="2000" spc="-110" b="1">
                <a:solidFill>
                  <a:srgbClr val="ED6B4D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ED6B4D"/>
                </a:solidFill>
                <a:latin typeface="Arial"/>
                <a:cs typeface="Arial"/>
              </a:rPr>
              <a:t>cases</a:t>
            </a:r>
            <a:r>
              <a:rPr dirty="0" sz="2150" spc="-145" b="1">
                <a:solidFill>
                  <a:srgbClr val="ED6B4D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ED6B4D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ED6B4D"/>
                </a:solidFill>
                <a:latin typeface="Arial"/>
                <a:cs typeface="Arial"/>
              </a:rPr>
              <a:t> </a:t>
            </a:r>
            <a:r>
              <a:rPr dirty="0" sz="2000" spc="50" b="1">
                <a:solidFill>
                  <a:srgbClr val="ED6B4D"/>
                </a:solidFill>
                <a:latin typeface="Arial"/>
                <a:cs typeface="Arial"/>
              </a:rPr>
              <a:t>23.3%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28799" y="6638921"/>
            <a:ext cx="8610600" cy="295275"/>
            <a:chOff x="1828799" y="6638921"/>
            <a:chExt cx="8610600" cy="295275"/>
          </a:xfrm>
        </p:grpSpPr>
        <p:sp>
          <p:nvSpPr>
            <p:cNvPr id="18" name="object 18"/>
            <p:cNvSpPr/>
            <p:nvPr/>
          </p:nvSpPr>
          <p:spPr>
            <a:xfrm>
              <a:off x="3667124" y="6638921"/>
              <a:ext cx="6772275" cy="295275"/>
            </a:xfrm>
            <a:custGeom>
              <a:avLst/>
              <a:gdLst/>
              <a:ahLst/>
              <a:cxnLst/>
              <a:rect l="l" t="t" r="r" b="b"/>
              <a:pathLst>
                <a:path w="6772275" h="295275">
                  <a:moveTo>
                    <a:pt x="0" y="295274"/>
                  </a:moveTo>
                  <a:lnTo>
                    <a:pt x="6772274" y="295274"/>
                  </a:lnTo>
                  <a:lnTo>
                    <a:pt x="6772274" y="0"/>
                  </a:lnTo>
                  <a:lnTo>
                    <a:pt x="0" y="0"/>
                  </a:lnTo>
                  <a:lnTo>
                    <a:pt x="0" y="29527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28799" y="6638921"/>
              <a:ext cx="1838325" cy="295275"/>
            </a:xfrm>
            <a:custGeom>
              <a:avLst/>
              <a:gdLst/>
              <a:ahLst/>
              <a:cxnLst/>
              <a:rect l="l" t="t" r="r" b="b"/>
              <a:pathLst>
                <a:path w="1838325" h="295275">
                  <a:moveTo>
                    <a:pt x="1838324" y="295274"/>
                  </a:moveTo>
                  <a:lnTo>
                    <a:pt x="0" y="295274"/>
                  </a:lnTo>
                  <a:lnTo>
                    <a:pt x="0" y="0"/>
                  </a:lnTo>
                  <a:lnTo>
                    <a:pt x="1838324" y="0"/>
                  </a:lnTo>
                  <a:lnTo>
                    <a:pt x="1838324" y="29527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816099" y="6213660"/>
            <a:ext cx="139319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150" b="1">
                <a:solidFill>
                  <a:srgbClr val="111111"/>
                </a:solidFill>
                <a:latin typeface="Arial"/>
                <a:cs typeface="Arial"/>
              </a:rPr>
              <a:t>6</a:t>
            </a:r>
            <a:r>
              <a:rPr dirty="0" sz="195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60" b="1">
                <a:solidFill>
                  <a:srgbClr val="111111"/>
                </a:solidFill>
                <a:latin typeface="Arial"/>
                <a:cs typeface="Arial"/>
              </a:rPr>
              <a:t>–</a:t>
            </a:r>
            <a:r>
              <a:rPr dirty="0" sz="1950" spc="-1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50" b="1">
                <a:solidFill>
                  <a:srgbClr val="111111"/>
                </a:solidFill>
                <a:latin typeface="Arial"/>
                <a:cs typeface="Arial"/>
              </a:rPr>
              <a:t>10</a:t>
            </a:r>
            <a:r>
              <a:rPr dirty="0" sz="1950" spc="-1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5" b="1">
                <a:solidFill>
                  <a:srgbClr val="111111"/>
                </a:solidFill>
                <a:latin typeface="Arial"/>
                <a:cs typeface="Arial"/>
              </a:rPr>
              <a:t>Years</a:t>
            </a:r>
            <a:endParaRPr sz="2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59055" y="6198933"/>
            <a:ext cx="1892935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120" b="1">
                <a:solidFill>
                  <a:srgbClr val="545454"/>
                </a:solidFill>
                <a:latin typeface="Arial"/>
                <a:cs typeface="Arial"/>
              </a:rPr>
              <a:t>6</a:t>
            </a:r>
            <a:r>
              <a:rPr dirty="0" sz="2000" spc="-11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545454"/>
                </a:solidFill>
                <a:latin typeface="Arial"/>
                <a:cs typeface="Arial"/>
              </a:rPr>
              <a:t>cases</a:t>
            </a:r>
            <a:r>
              <a:rPr dirty="0" sz="2150" spc="-15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45454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spc="45" b="1">
                <a:solidFill>
                  <a:srgbClr val="545454"/>
                </a:solidFill>
                <a:latin typeface="Arial"/>
                <a:cs typeface="Arial"/>
              </a:rPr>
              <a:t>8.2%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28799" y="7553321"/>
            <a:ext cx="8610600" cy="285750"/>
            <a:chOff x="1828799" y="7553321"/>
            <a:chExt cx="8610600" cy="285750"/>
          </a:xfrm>
        </p:grpSpPr>
        <p:sp>
          <p:nvSpPr>
            <p:cNvPr id="23" name="object 23"/>
            <p:cNvSpPr/>
            <p:nvPr/>
          </p:nvSpPr>
          <p:spPr>
            <a:xfrm>
              <a:off x="3057524" y="7553321"/>
              <a:ext cx="7381875" cy="285750"/>
            </a:xfrm>
            <a:custGeom>
              <a:avLst/>
              <a:gdLst/>
              <a:ahLst/>
              <a:cxnLst/>
              <a:rect l="l" t="t" r="r" b="b"/>
              <a:pathLst>
                <a:path w="7381875" h="285750">
                  <a:moveTo>
                    <a:pt x="0" y="285749"/>
                  </a:moveTo>
                  <a:lnTo>
                    <a:pt x="7381874" y="285749"/>
                  </a:lnTo>
                  <a:lnTo>
                    <a:pt x="7381874" y="0"/>
                  </a:lnTo>
                  <a:lnTo>
                    <a:pt x="0" y="0"/>
                  </a:lnTo>
                  <a:lnTo>
                    <a:pt x="0" y="2857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828799" y="7553321"/>
              <a:ext cx="1228725" cy="285750"/>
            </a:xfrm>
            <a:custGeom>
              <a:avLst/>
              <a:gdLst/>
              <a:ahLst/>
              <a:cxnLst/>
              <a:rect l="l" t="t" r="r" b="b"/>
              <a:pathLst>
                <a:path w="1228725" h="285750">
                  <a:moveTo>
                    <a:pt x="1228724" y="285749"/>
                  </a:moveTo>
                  <a:lnTo>
                    <a:pt x="0" y="285749"/>
                  </a:lnTo>
                  <a:lnTo>
                    <a:pt x="0" y="0"/>
                  </a:lnTo>
                  <a:lnTo>
                    <a:pt x="1228724" y="0"/>
                  </a:lnTo>
                  <a:lnTo>
                    <a:pt x="1228724" y="28574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816099" y="7118536"/>
            <a:ext cx="143129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20" b="1">
                <a:solidFill>
                  <a:srgbClr val="111111"/>
                </a:solidFill>
                <a:latin typeface="Arial"/>
                <a:cs typeface="Arial"/>
              </a:rPr>
              <a:t>11</a:t>
            </a:r>
            <a:r>
              <a:rPr dirty="0" sz="1950" spc="-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60" b="1">
                <a:solidFill>
                  <a:srgbClr val="111111"/>
                </a:solidFill>
                <a:latin typeface="Arial"/>
                <a:cs typeface="Arial"/>
              </a:rPr>
              <a:t>–</a:t>
            </a:r>
            <a:r>
              <a:rPr dirty="0" sz="1950" spc="-1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105" b="1">
                <a:solidFill>
                  <a:srgbClr val="111111"/>
                </a:solidFill>
                <a:latin typeface="Arial"/>
                <a:cs typeface="Arial"/>
              </a:rPr>
              <a:t>15 </a:t>
            </a:r>
            <a:r>
              <a:rPr dirty="0" sz="2050" spc="-60" b="1">
                <a:solidFill>
                  <a:srgbClr val="111111"/>
                </a:solidFill>
                <a:latin typeface="Arial"/>
                <a:cs typeface="Arial"/>
              </a:rPr>
              <a:t>Years</a:t>
            </a:r>
            <a:endParaRPr sz="2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3371" y="7103808"/>
            <a:ext cx="1888489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175" b="1">
                <a:solidFill>
                  <a:srgbClr val="545454"/>
                </a:solidFill>
                <a:latin typeface="Arial"/>
                <a:cs typeface="Arial"/>
              </a:rPr>
              <a:t>4</a:t>
            </a:r>
            <a:r>
              <a:rPr dirty="0" sz="2000" spc="-114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545454"/>
                </a:solidFill>
                <a:latin typeface="Arial"/>
                <a:cs typeface="Arial"/>
              </a:rPr>
              <a:t>cases</a:t>
            </a:r>
            <a:r>
              <a:rPr dirty="0" sz="2150" spc="-150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45454"/>
                </a:solidFill>
                <a:latin typeface="Arial"/>
                <a:cs typeface="Arial"/>
              </a:rPr>
              <a:t>—</a:t>
            </a:r>
            <a:r>
              <a:rPr dirty="0" sz="2000" spc="-28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spc="30" b="1">
                <a:solidFill>
                  <a:srgbClr val="545454"/>
                </a:solidFill>
                <a:latin typeface="Arial"/>
                <a:cs typeface="Arial"/>
              </a:rPr>
              <a:t>5.5%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1429987" y="6498589"/>
            <a:ext cx="5133340" cy="2987040"/>
          </a:xfrm>
          <a:custGeom>
            <a:avLst/>
            <a:gdLst/>
            <a:ahLst/>
            <a:cxnLst/>
            <a:rect l="l" t="t" r="r" b="b"/>
            <a:pathLst>
              <a:path w="5133340" h="2987040">
                <a:moveTo>
                  <a:pt x="5132832" y="92722"/>
                </a:moveTo>
                <a:lnTo>
                  <a:pt x="5029200" y="92722"/>
                </a:lnTo>
                <a:lnTo>
                  <a:pt x="5029200" y="2854960"/>
                </a:lnTo>
                <a:lnTo>
                  <a:pt x="104775" y="2854960"/>
                </a:lnTo>
                <a:lnTo>
                  <a:pt x="104775" y="92722"/>
                </a:lnTo>
                <a:lnTo>
                  <a:pt x="0" y="92722"/>
                </a:lnTo>
                <a:lnTo>
                  <a:pt x="0" y="2854960"/>
                </a:lnTo>
                <a:lnTo>
                  <a:pt x="0" y="2987040"/>
                </a:lnTo>
                <a:lnTo>
                  <a:pt x="5132832" y="2987040"/>
                </a:lnTo>
                <a:lnTo>
                  <a:pt x="5132832" y="2854960"/>
                </a:lnTo>
                <a:lnTo>
                  <a:pt x="5132832" y="92722"/>
                </a:lnTo>
                <a:close/>
              </a:path>
              <a:path w="5133340" h="2987040">
                <a:moveTo>
                  <a:pt x="5132832" y="0"/>
                </a:moveTo>
                <a:lnTo>
                  <a:pt x="0" y="0"/>
                </a:lnTo>
                <a:lnTo>
                  <a:pt x="0" y="92710"/>
                </a:lnTo>
                <a:lnTo>
                  <a:pt x="5132832" y="92710"/>
                </a:lnTo>
                <a:lnTo>
                  <a:pt x="5132832" y="0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539536" y="6586534"/>
            <a:ext cx="4914900" cy="2771775"/>
          </a:xfrm>
          <a:prstGeom prst="rect">
            <a:avLst/>
          </a:prstGeom>
          <a:solidFill>
            <a:srgbClr val="FFFFFF"/>
          </a:solidFill>
          <a:ln w="9524">
            <a:solidFill>
              <a:srgbClr val="DFDFD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450">
              <a:latin typeface="Times New Roman"/>
              <a:cs typeface="Times New Roman"/>
            </a:endParaRPr>
          </a:p>
          <a:p>
            <a:pPr marL="464820">
              <a:lnSpc>
                <a:spcPct val="100000"/>
              </a:lnSpc>
            </a:pPr>
            <a:r>
              <a:rPr dirty="0" sz="1500" spc="-10" b="1">
                <a:solidFill>
                  <a:srgbClr val="ED6B4D"/>
                </a:solidFill>
                <a:latin typeface="Arial"/>
                <a:cs typeface="Arial"/>
              </a:rPr>
              <a:t>ALERT</a:t>
            </a:r>
            <a:endParaRPr sz="1500">
              <a:latin typeface="Arial"/>
              <a:cs typeface="Arial"/>
            </a:endParaRPr>
          </a:p>
          <a:p>
            <a:pPr marL="464820" marR="499109">
              <a:lnSpc>
                <a:spcPct val="126099"/>
              </a:lnSpc>
              <a:spcBef>
                <a:spcPts val="655"/>
              </a:spcBef>
            </a:pPr>
            <a:r>
              <a:rPr dirty="0" sz="1900" spc="-190">
                <a:solidFill>
                  <a:srgbClr val="111111"/>
                </a:solidFill>
                <a:latin typeface="Microsoft Sans Serif"/>
                <a:cs typeface="Microsoft Sans Serif"/>
              </a:rPr>
              <a:t>17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 adult</a:t>
            </a:r>
            <a:r>
              <a:rPr dirty="0" sz="1900" spc="-1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cases</a:t>
            </a:r>
            <a:r>
              <a:rPr dirty="0" sz="1900" spc="1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(age</a:t>
            </a:r>
            <a:r>
              <a:rPr dirty="0" sz="1900" spc="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111111"/>
                </a:solidFill>
                <a:latin typeface="Microsoft Sans Serif"/>
                <a:cs typeface="Microsoft Sans Serif"/>
              </a:rPr>
              <a:t>16+)</a:t>
            </a:r>
            <a:r>
              <a:rPr dirty="0" sz="1900" spc="16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detected</a:t>
            </a:r>
            <a:r>
              <a:rPr dirty="0" sz="1900" spc="5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760">
                <a:solidFill>
                  <a:srgbClr val="111111"/>
                </a:solidFill>
                <a:latin typeface="Microsoft Sans Serif"/>
                <a:cs typeface="Microsoft Sans Serif"/>
              </a:rPr>
              <a:t>—</a:t>
            </a:r>
            <a:r>
              <a:rPr dirty="0" sz="1900" spc="76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includes</a:t>
            </a:r>
            <a:r>
              <a:rPr dirty="0" sz="1900" spc="3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cases</a:t>
            </a:r>
            <a:r>
              <a:rPr dirty="0" sz="1900" spc="4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aged</a:t>
            </a:r>
            <a:r>
              <a:rPr dirty="0" sz="1900" spc="8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110">
                <a:solidFill>
                  <a:srgbClr val="111111"/>
                </a:solidFill>
                <a:latin typeface="Microsoft Sans Serif"/>
                <a:cs typeface="Microsoft Sans Serif"/>
              </a:rPr>
              <a:t>27–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50</a:t>
            </a:r>
            <a:r>
              <a:rPr dirty="0" sz="1900" spc="4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111111"/>
                </a:solidFill>
                <a:latin typeface="Microsoft Sans Serif"/>
                <a:cs typeface="Microsoft Sans Serif"/>
              </a:rPr>
              <a:t>years,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1900" spc="21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susceptibility</a:t>
            </a:r>
            <a:r>
              <a:rPr dirty="0" sz="1900" spc="10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gaps</a:t>
            </a:r>
            <a:r>
              <a:rPr dirty="0" sz="1900" spc="16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111111"/>
                </a:solidFill>
                <a:latin typeface="Microsoft Sans Serif"/>
                <a:cs typeface="Microsoft Sans Serif"/>
              </a:rPr>
              <a:t>in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 older</a:t>
            </a:r>
            <a:r>
              <a:rPr dirty="0" sz="1900" spc="65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111111"/>
                </a:solidFill>
                <a:latin typeface="Microsoft Sans Serif"/>
                <a:cs typeface="Microsoft Sans Serif"/>
              </a:rPr>
              <a:t>unvaccinated</a:t>
            </a:r>
            <a:r>
              <a:rPr dirty="0" sz="1900" spc="140">
                <a:solidFill>
                  <a:srgbClr val="111111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111111"/>
                </a:solidFill>
                <a:latin typeface="Microsoft Sans Serif"/>
                <a:cs typeface="Microsoft Sans Serif"/>
              </a:rPr>
              <a:t>cohorts.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1699" y="9559511"/>
            <a:ext cx="231140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25" b="1">
                <a:solidFill>
                  <a:srgbClr val="999999"/>
                </a:solidFill>
                <a:latin typeface="Arial"/>
                <a:cs typeface="Arial"/>
              </a:rPr>
              <a:t>07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534774" y="3486147"/>
            <a:ext cx="4924425" cy="2895600"/>
          </a:xfrm>
          <a:prstGeom prst="rect">
            <a:avLst/>
          </a:prstGeom>
          <a:solidFill>
            <a:srgbClr val="3C598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50">
              <a:latin typeface="Times New Roman"/>
              <a:cs typeface="Times New Roman"/>
            </a:endParaRPr>
          </a:p>
          <a:p>
            <a:pPr marL="460375">
              <a:lnSpc>
                <a:spcPct val="100000"/>
              </a:lnSpc>
            </a:pPr>
            <a:r>
              <a:rPr dirty="0" sz="1500" spc="75" b="1">
                <a:solidFill>
                  <a:srgbClr val="FEFEFE"/>
                </a:solidFill>
                <a:latin typeface="Arial"/>
                <a:cs typeface="Arial"/>
              </a:rPr>
              <a:t>KEY</a:t>
            </a:r>
            <a:r>
              <a:rPr dirty="0" sz="1500" spc="23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EFEFE"/>
                </a:solidFill>
                <a:latin typeface="Arial"/>
                <a:cs typeface="Arial"/>
              </a:rPr>
              <a:t>FI</a:t>
            </a:r>
            <a:r>
              <a:rPr dirty="0" sz="1500" spc="-16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EFEFE"/>
                </a:solidFill>
                <a:latin typeface="Arial"/>
                <a:cs typeface="Arial"/>
              </a:rPr>
              <a:t>NDI</a:t>
            </a:r>
            <a:r>
              <a:rPr dirty="0" sz="1500" spc="-16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EFEFE"/>
                </a:solidFill>
                <a:latin typeface="Arial"/>
                <a:cs typeface="Arial"/>
              </a:rPr>
              <a:t>NG</a:t>
            </a:r>
            <a:endParaRPr sz="1500">
              <a:latin typeface="Arial"/>
              <a:cs typeface="Arial"/>
            </a:endParaRPr>
          </a:p>
          <a:p>
            <a:pPr marL="460375">
              <a:lnSpc>
                <a:spcPct val="100000"/>
              </a:lnSpc>
              <a:spcBef>
                <a:spcPts val="275"/>
              </a:spcBef>
            </a:pPr>
            <a:r>
              <a:rPr dirty="0" sz="6100" spc="395" b="1">
                <a:solidFill>
                  <a:srgbClr val="FFFFFF"/>
                </a:solidFill>
                <a:latin typeface="Arial"/>
                <a:cs typeface="Arial"/>
              </a:rPr>
              <a:t>63%</a:t>
            </a:r>
            <a:endParaRPr sz="6100">
              <a:latin typeface="Arial"/>
              <a:cs typeface="Arial"/>
            </a:endParaRPr>
          </a:p>
          <a:p>
            <a:pPr marL="460375" marR="492125">
              <a:lnSpc>
                <a:spcPct val="115599"/>
              </a:lnSpc>
              <a:spcBef>
                <a:spcPts val="155"/>
              </a:spcBef>
            </a:pPr>
            <a:r>
              <a:rPr dirty="0" sz="2000" spc="9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FFFFFF"/>
                </a:solidFill>
                <a:latin typeface="Microsoft Sans Serif"/>
                <a:cs typeface="Microsoft Sans Serif"/>
              </a:rPr>
              <a:t>cases</a:t>
            </a:r>
            <a:r>
              <a:rPr dirty="0" sz="2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dirty="0" sz="20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FFFFFF"/>
                </a:solidFill>
                <a:latin typeface="Microsoft Sans Serif"/>
                <a:cs typeface="Microsoft Sans Serif"/>
              </a:rPr>
              <a:t>children</a:t>
            </a:r>
            <a:r>
              <a:rPr dirty="0" sz="2000" spc="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FFFFFF"/>
                </a:solidFill>
                <a:latin typeface="Microsoft Sans Serif"/>
                <a:cs typeface="Microsoft Sans Serif"/>
              </a:rPr>
              <a:t>under</a:t>
            </a:r>
            <a:r>
              <a:rPr dirty="0" sz="20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r>
              <a:rPr dirty="0" sz="195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Microsoft Sans Serif"/>
                <a:cs typeface="Microsoft Sans Serif"/>
              </a:rPr>
              <a:t>years </a:t>
            </a:r>
            <a:r>
              <a:rPr dirty="0" sz="2000" spc="9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>
                <a:solidFill>
                  <a:srgbClr val="FFFFFF"/>
                </a:solidFill>
                <a:latin typeface="Microsoft Sans Serif"/>
                <a:cs typeface="Microsoft Sans Serif"/>
              </a:rPr>
              <a:t>age</a:t>
            </a:r>
            <a:r>
              <a:rPr dirty="0" sz="20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 spc="70">
                <a:solidFill>
                  <a:srgbClr val="FFFFFF"/>
                </a:solidFill>
                <a:latin typeface="Microsoft Sans Serif"/>
                <a:cs typeface="Microsoft Sans Serif"/>
              </a:rPr>
              <a:t>(46</a:t>
            </a:r>
            <a:r>
              <a:rPr dirty="0" sz="195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20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950">
                <a:solidFill>
                  <a:srgbClr val="FFFFFF"/>
                </a:solidFill>
                <a:latin typeface="Microsoft Sans Serif"/>
                <a:cs typeface="Microsoft Sans Serif"/>
              </a:rPr>
              <a:t>73</a:t>
            </a:r>
            <a:r>
              <a:rPr dirty="0" sz="195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Microsoft Sans Serif"/>
                <a:cs typeface="Microsoft Sans Serif"/>
              </a:rPr>
              <a:t>cases</a:t>
            </a:r>
            <a:r>
              <a:rPr dirty="0" sz="1950" spc="-1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7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799" y="8743946"/>
            <a:ext cx="14630400" cy="1123950"/>
            <a:chOff x="1828799" y="8743946"/>
            <a:chExt cx="14630400" cy="1123950"/>
          </a:xfrm>
        </p:grpSpPr>
        <p:sp>
          <p:nvSpPr>
            <p:cNvPr id="6" name="object 6"/>
            <p:cNvSpPr/>
            <p:nvPr/>
          </p:nvSpPr>
          <p:spPr>
            <a:xfrm>
              <a:off x="1828799" y="8743946"/>
              <a:ext cx="14630400" cy="1123950"/>
            </a:xfrm>
            <a:custGeom>
              <a:avLst/>
              <a:gdLst/>
              <a:ahLst/>
              <a:cxnLst/>
              <a:rect l="l" t="t" r="r" b="b"/>
              <a:pathLst>
                <a:path w="14630400" h="1123950">
                  <a:moveTo>
                    <a:pt x="14630398" y="1123949"/>
                  </a:moveTo>
                  <a:lnTo>
                    <a:pt x="0" y="112394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1123949"/>
                  </a:lnTo>
                  <a:close/>
                </a:path>
              </a:pathLst>
            </a:custGeom>
            <a:solidFill>
              <a:srgbClr val="FFF2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8799" y="8743946"/>
              <a:ext cx="38100" cy="1123950"/>
            </a:xfrm>
            <a:custGeom>
              <a:avLst/>
              <a:gdLst/>
              <a:ahLst/>
              <a:cxnLst/>
              <a:rect l="l" t="t" r="r" b="b"/>
              <a:pathLst>
                <a:path w="38100" h="1123950">
                  <a:moveTo>
                    <a:pt x="38099" y="1123949"/>
                  </a:moveTo>
                  <a:lnTo>
                    <a:pt x="0" y="11239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1123949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816099" y="1239547"/>
            <a:ext cx="8698865" cy="1804035"/>
          </a:xfrm>
          <a:prstGeom prst="rect">
            <a:avLst/>
          </a:prstGeom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z="5950" spc="-300" b="1">
                <a:solidFill>
                  <a:srgbClr val="111111"/>
                </a:solidFill>
                <a:latin typeface="Arial"/>
                <a:cs typeface="Arial"/>
              </a:rPr>
              <a:t>Immunization</a:t>
            </a:r>
            <a:r>
              <a:rPr dirty="0" sz="5950" spc="-4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950" spc="-270" b="1">
                <a:solidFill>
                  <a:srgbClr val="111111"/>
                </a:solidFill>
                <a:latin typeface="Arial"/>
                <a:cs typeface="Arial"/>
              </a:rPr>
              <a:t>Status</a:t>
            </a:r>
            <a:endParaRPr sz="5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105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230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vaccine</a:t>
            </a:r>
            <a:r>
              <a:rPr dirty="0" sz="230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status</a:t>
            </a:r>
            <a:r>
              <a:rPr dirty="0" sz="2300" spc="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at</a:t>
            </a:r>
            <a:r>
              <a:rPr dirty="0" sz="23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time</a:t>
            </a:r>
            <a:r>
              <a:rPr dirty="0" sz="230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95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2300" spc="-5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case</a:t>
            </a:r>
            <a:r>
              <a:rPr dirty="0" sz="230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2300" spc="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73</a:t>
            </a:r>
            <a:r>
              <a:rPr dirty="0" sz="230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300" spc="5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6899" y="8897582"/>
            <a:ext cx="14592300" cy="730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125" marR="1224280">
              <a:lnSpc>
                <a:spcPct val="112799"/>
              </a:lnSpc>
              <a:spcBef>
                <a:spcPts val="100"/>
              </a:spcBef>
            </a:pPr>
            <a:r>
              <a:rPr dirty="0" sz="2050" spc="-80" b="1">
                <a:solidFill>
                  <a:srgbClr val="C25934"/>
                </a:solidFill>
                <a:latin typeface="Arial"/>
                <a:cs typeface="Arial"/>
              </a:rPr>
              <a:t>Concern</a:t>
            </a:r>
            <a:r>
              <a:rPr dirty="0" sz="2000" spc="-80" b="1">
                <a:solidFill>
                  <a:srgbClr val="C25934"/>
                </a:solidFill>
                <a:latin typeface="Arial"/>
                <a:cs typeface="Arial"/>
              </a:rPr>
              <a:t>:</a:t>
            </a:r>
            <a:r>
              <a:rPr dirty="0" sz="2000" spc="3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25934"/>
                </a:solidFill>
                <a:latin typeface="Arial"/>
                <a:cs typeface="Arial"/>
              </a:rPr>
              <a:t>61.6%</a:t>
            </a:r>
            <a:r>
              <a:rPr dirty="0" sz="2000" spc="-8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C25934"/>
                </a:solidFill>
                <a:latin typeface="Arial"/>
                <a:cs typeface="Arial"/>
              </a:rPr>
              <a:t>of</a:t>
            </a:r>
            <a:r>
              <a:rPr dirty="0" sz="2050" spc="-15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60" b="1">
                <a:solidFill>
                  <a:srgbClr val="C25934"/>
                </a:solidFill>
                <a:latin typeface="Arial"/>
                <a:cs typeface="Arial"/>
              </a:rPr>
              <a:t>cases</a:t>
            </a:r>
            <a:r>
              <a:rPr dirty="0" sz="2050" spc="-13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85" b="1">
                <a:solidFill>
                  <a:srgbClr val="C25934"/>
                </a:solidFill>
                <a:latin typeface="Arial"/>
                <a:cs typeface="Arial"/>
              </a:rPr>
              <a:t>had </a:t>
            </a:r>
            <a:r>
              <a:rPr dirty="0" sz="2050" spc="-65" b="1">
                <a:solidFill>
                  <a:srgbClr val="C25934"/>
                </a:solidFill>
                <a:latin typeface="Arial"/>
                <a:cs typeface="Arial"/>
              </a:rPr>
              <a:t>complete</a:t>
            </a:r>
            <a:r>
              <a:rPr dirty="0" sz="2050" spc="-13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C25934"/>
                </a:solidFill>
                <a:latin typeface="Arial"/>
                <a:cs typeface="Arial"/>
              </a:rPr>
              <a:t>immunization</a:t>
            </a:r>
            <a:r>
              <a:rPr dirty="0" sz="2050" spc="-8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C25934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C25934"/>
                </a:solidFill>
                <a:latin typeface="Arial"/>
                <a:cs typeface="Arial"/>
              </a:rPr>
              <a:t>requires</a:t>
            </a:r>
            <a:r>
              <a:rPr dirty="0" sz="2050" spc="-13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70" b="1">
                <a:solidFill>
                  <a:srgbClr val="C25934"/>
                </a:solidFill>
                <a:latin typeface="Arial"/>
                <a:cs typeface="Arial"/>
              </a:rPr>
              <a:t>investigation</a:t>
            </a:r>
            <a:r>
              <a:rPr dirty="0" sz="2050" spc="-8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b="1">
                <a:solidFill>
                  <a:srgbClr val="C25934"/>
                </a:solidFill>
                <a:latin typeface="Arial"/>
                <a:cs typeface="Arial"/>
              </a:rPr>
              <a:t>of</a:t>
            </a:r>
            <a:r>
              <a:rPr dirty="0" sz="2050" spc="-15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C25934"/>
                </a:solidFill>
                <a:latin typeface="Arial"/>
                <a:cs typeface="Arial"/>
              </a:rPr>
              <a:t>cold</a:t>
            </a:r>
            <a:r>
              <a:rPr dirty="0" sz="2050" spc="-8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70" b="1">
                <a:solidFill>
                  <a:srgbClr val="C25934"/>
                </a:solidFill>
                <a:latin typeface="Arial"/>
                <a:cs typeface="Arial"/>
              </a:rPr>
              <a:t>chain</a:t>
            </a:r>
            <a:r>
              <a:rPr dirty="0" sz="2000" spc="-70" b="1">
                <a:solidFill>
                  <a:srgbClr val="C25934"/>
                </a:solidFill>
                <a:latin typeface="Arial"/>
                <a:cs typeface="Arial"/>
              </a:rPr>
              <a:t>,</a:t>
            </a:r>
            <a:r>
              <a:rPr dirty="0" sz="2000" spc="-2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C25934"/>
                </a:solidFill>
                <a:latin typeface="Arial"/>
                <a:cs typeface="Arial"/>
              </a:rPr>
              <a:t>vaccine</a:t>
            </a:r>
            <a:r>
              <a:rPr dirty="0" sz="2050" spc="-13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35" b="1">
                <a:solidFill>
                  <a:srgbClr val="C25934"/>
                </a:solidFill>
                <a:latin typeface="Arial"/>
                <a:cs typeface="Arial"/>
              </a:rPr>
              <a:t>efficacy</a:t>
            </a:r>
            <a:r>
              <a:rPr dirty="0" sz="2000" spc="-35" b="1">
                <a:solidFill>
                  <a:srgbClr val="C25934"/>
                </a:solidFill>
                <a:latin typeface="Arial"/>
                <a:cs typeface="Arial"/>
              </a:rPr>
              <a:t>,</a:t>
            </a:r>
            <a:r>
              <a:rPr dirty="0" sz="2000" spc="-2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25" b="1">
                <a:solidFill>
                  <a:srgbClr val="C25934"/>
                </a:solidFill>
                <a:latin typeface="Arial"/>
                <a:cs typeface="Arial"/>
              </a:rPr>
              <a:t>or </a:t>
            </a:r>
            <a:r>
              <a:rPr dirty="0" sz="2050" spc="-75" b="1">
                <a:solidFill>
                  <a:srgbClr val="C25934"/>
                </a:solidFill>
                <a:latin typeface="Arial"/>
                <a:cs typeface="Arial"/>
              </a:rPr>
              <a:t>documentation</a:t>
            </a:r>
            <a:r>
              <a:rPr dirty="0" sz="2050" spc="-20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C25934"/>
                </a:solidFill>
                <a:latin typeface="Arial"/>
                <a:cs typeface="Arial"/>
              </a:rPr>
              <a:t>accuracy</a:t>
            </a:r>
            <a:endParaRPr sz="2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25167" y="3505200"/>
            <a:ext cx="4721860" cy="4953000"/>
            <a:chOff x="1725167" y="3505200"/>
            <a:chExt cx="4721860" cy="4953000"/>
          </a:xfrm>
        </p:grpSpPr>
        <p:sp>
          <p:nvSpPr>
            <p:cNvPr id="11" name="object 11"/>
            <p:cNvSpPr/>
            <p:nvPr/>
          </p:nvSpPr>
          <p:spPr>
            <a:xfrm>
              <a:off x="1725155" y="3505199"/>
              <a:ext cx="4721860" cy="4953000"/>
            </a:xfrm>
            <a:custGeom>
              <a:avLst/>
              <a:gdLst/>
              <a:ahLst/>
              <a:cxnLst/>
              <a:rect l="l" t="t" r="r" b="b"/>
              <a:pathLst>
                <a:path w="4721860" h="4953000">
                  <a:moveTo>
                    <a:pt x="4721352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4819650"/>
                  </a:lnTo>
                  <a:lnTo>
                    <a:pt x="0" y="4953000"/>
                  </a:lnTo>
                  <a:lnTo>
                    <a:pt x="4721352" y="4953000"/>
                  </a:lnTo>
                  <a:lnTo>
                    <a:pt x="4721352" y="4819662"/>
                  </a:lnTo>
                  <a:lnTo>
                    <a:pt x="4721352" y="95262"/>
                  </a:lnTo>
                  <a:lnTo>
                    <a:pt x="4618482" y="95262"/>
                  </a:lnTo>
                  <a:lnTo>
                    <a:pt x="4618482" y="4819650"/>
                  </a:lnTo>
                  <a:lnTo>
                    <a:pt x="103632" y="4819650"/>
                  </a:lnTo>
                  <a:lnTo>
                    <a:pt x="103632" y="95250"/>
                  </a:lnTo>
                  <a:lnTo>
                    <a:pt x="4721352" y="95250"/>
                  </a:lnTo>
                  <a:lnTo>
                    <a:pt x="4721352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28799" y="3590921"/>
              <a:ext cx="4514850" cy="4743450"/>
            </a:xfrm>
            <a:custGeom>
              <a:avLst/>
              <a:gdLst/>
              <a:ahLst/>
              <a:cxnLst/>
              <a:rect l="l" t="t" r="r" b="b"/>
              <a:pathLst>
                <a:path w="4514850" h="4743450">
                  <a:moveTo>
                    <a:pt x="4514849" y="4743449"/>
                  </a:moveTo>
                  <a:lnTo>
                    <a:pt x="0" y="4743449"/>
                  </a:lnTo>
                  <a:lnTo>
                    <a:pt x="0" y="0"/>
                  </a:lnTo>
                  <a:lnTo>
                    <a:pt x="4514849" y="0"/>
                  </a:lnTo>
                  <a:lnTo>
                    <a:pt x="4514849" y="4743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33562" y="3595684"/>
              <a:ext cx="4505325" cy="4733925"/>
            </a:xfrm>
            <a:custGeom>
              <a:avLst/>
              <a:gdLst/>
              <a:ahLst/>
              <a:cxnLst/>
              <a:rect l="l" t="t" r="r" b="b"/>
              <a:pathLst>
                <a:path w="4505325" h="4733925">
                  <a:moveTo>
                    <a:pt x="0" y="0"/>
                  </a:moveTo>
                  <a:lnTo>
                    <a:pt x="4505324" y="0"/>
                  </a:lnTo>
                  <a:lnTo>
                    <a:pt x="4505324" y="4733924"/>
                  </a:lnTo>
                  <a:lnTo>
                    <a:pt x="0" y="4733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476749" y="6591296"/>
              <a:ext cx="1304925" cy="123825"/>
            </a:xfrm>
            <a:custGeom>
              <a:avLst/>
              <a:gdLst/>
              <a:ahLst/>
              <a:cxnLst/>
              <a:rect l="l" t="t" r="r" b="b"/>
              <a:pathLst>
                <a:path w="1304925" h="123825">
                  <a:moveTo>
                    <a:pt x="0" y="123824"/>
                  </a:moveTo>
                  <a:lnTo>
                    <a:pt x="1304924" y="123824"/>
                  </a:lnTo>
                  <a:lnTo>
                    <a:pt x="1304924" y="0"/>
                  </a:lnTo>
                  <a:lnTo>
                    <a:pt x="0" y="0"/>
                  </a:lnTo>
                  <a:lnTo>
                    <a:pt x="0" y="1238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90774" y="6591296"/>
              <a:ext cx="2085975" cy="123825"/>
            </a:xfrm>
            <a:custGeom>
              <a:avLst/>
              <a:gdLst/>
              <a:ahLst/>
              <a:cxnLst/>
              <a:rect l="l" t="t" r="r" b="b"/>
              <a:pathLst>
                <a:path w="2085975" h="123825">
                  <a:moveTo>
                    <a:pt x="2085974" y="123824"/>
                  </a:moveTo>
                  <a:lnTo>
                    <a:pt x="0" y="123824"/>
                  </a:lnTo>
                  <a:lnTo>
                    <a:pt x="0" y="0"/>
                  </a:lnTo>
                  <a:lnTo>
                    <a:pt x="2085974" y="0"/>
                  </a:lnTo>
                  <a:lnTo>
                    <a:pt x="2085974" y="123824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374205" y="3839866"/>
            <a:ext cx="3107055" cy="179578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8300" spc="630" b="1">
                <a:solidFill>
                  <a:srgbClr val="3C5980"/>
                </a:solidFill>
                <a:latin typeface="Arial"/>
                <a:cs typeface="Arial"/>
              </a:rPr>
              <a:t>45</a:t>
            </a:r>
            <a:endParaRPr sz="8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350" spc="-65" b="1">
                <a:solidFill>
                  <a:srgbClr val="111111"/>
                </a:solidFill>
                <a:latin typeface="Arial"/>
                <a:cs typeface="Arial"/>
              </a:rPr>
              <a:t>Completely</a:t>
            </a:r>
            <a:r>
              <a:rPr dirty="0" sz="2350" spc="-1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50" spc="-75" b="1">
                <a:solidFill>
                  <a:srgbClr val="111111"/>
                </a:solidFill>
                <a:latin typeface="Arial"/>
                <a:cs typeface="Arial"/>
              </a:rPr>
              <a:t>Immunised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4205" y="5759137"/>
            <a:ext cx="1416685" cy="608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-10" b="1">
                <a:solidFill>
                  <a:srgbClr val="3C5980"/>
                </a:solidFill>
                <a:latin typeface="Arial"/>
                <a:cs typeface="Arial"/>
              </a:rPr>
              <a:t>61.6%</a:t>
            </a:r>
            <a:endParaRPr sz="3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4205" y="6812415"/>
            <a:ext cx="310134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30">
                <a:solidFill>
                  <a:srgbClr val="666666"/>
                </a:solidFill>
                <a:latin typeface="Microsoft Sans Serif"/>
                <a:cs typeface="Microsoft Sans Serif"/>
              </a:rPr>
              <a:t>Received</a:t>
            </a:r>
            <a:r>
              <a:rPr dirty="0" sz="1700" spc="-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9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70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dose</a:t>
            </a:r>
            <a:r>
              <a:rPr dirty="0" sz="1650">
                <a:solidFill>
                  <a:srgbClr val="666666"/>
                </a:solidFill>
                <a:latin typeface="Microsoft Sans Serif"/>
                <a:cs typeface="Microsoft Sans Serif"/>
              </a:rPr>
              <a:t>(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s</a:t>
            </a:r>
            <a:r>
              <a:rPr dirty="0" sz="1650">
                <a:solidFill>
                  <a:srgbClr val="666666"/>
                </a:solidFill>
                <a:latin typeface="Microsoft Sans Serif"/>
                <a:cs typeface="Microsoft Sans Serif"/>
              </a:rPr>
              <a:t>)</a:t>
            </a:r>
            <a:r>
              <a:rPr dirty="0" sz="1650" spc="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as</a:t>
            </a:r>
            <a:r>
              <a:rPr dirty="0" sz="170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per</a:t>
            </a:r>
            <a:r>
              <a:rPr dirty="0" sz="1700" spc="-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666666"/>
                </a:solidFill>
                <a:latin typeface="Microsoft Sans Serif"/>
                <a:cs typeface="Microsoft Sans Serif"/>
              </a:rPr>
              <a:t>age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70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76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1650" spc="-1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yet</a:t>
            </a:r>
            <a:r>
              <a:rPr dirty="0" sz="17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Microsoft Sans Serif"/>
                <a:cs typeface="Microsoft Sans Serif"/>
              </a:rPr>
              <a:t>developed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suspected </a:t>
            </a:r>
            <a:r>
              <a:rPr dirty="0" sz="1700" spc="-10">
                <a:solidFill>
                  <a:srgbClr val="666666"/>
                </a:solidFill>
                <a:latin typeface="Microsoft Sans Serif"/>
                <a:cs typeface="Microsoft Sans Serif"/>
              </a:rPr>
              <a:t>measles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38324" y="3600446"/>
            <a:ext cx="4495800" cy="47625"/>
          </a:xfrm>
          <a:custGeom>
            <a:avLst/>
            <a:gdLst/>
            <a:ahLst/>
            <a:cxnLst/>
            <a:rect l="l" t="t" r="r" b="b"/>
            <a:pathLst>
              <a:path w="4495800" h="47625">
                <a:moveTo>
                  <a:pt x="4495799" y="47624"/>
                </a:moveTo>
                <a:lnTo>
                  <a:pt x="0" y="47624"/>
                </a:lnTo>
                <a:lnTo>
                  <a:pt x="0" y="0"/>
                </a:lnTo>
                <a:lnTo>
                  <a:pt x="4495799" y="0"/>
                </a:lnTo>
                <a:lnTo>
                  <a:pt x="4495799" y="47624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6781800" y="3505200"/>
            <a:ext cx="4724400" cy="4953000"/>
            <a:chOff x="6781800" y="3505200"/>
            <a:chExt cx="4724400" cy="4953000"/>
          </a:xfrm>
        </p:grpSpPr>
        <p:sp>
          <p:nvSpPr>
            <p:cNvPr id="21" name="object 21"/>
            <p:cNvSpPr/>
            <p:nvPr/>
          </p:nvSpPr>
          <p:spPr>
            <a:xfrm>
              <a:off x="6781787" y="3505199"/>
              <a:ext cx="4724400" cy="4953000"/>
            </a:xfrm>
            <a:custGeom>
              <a:avLst/>
              <a:gdLst/>
              <a:ahLst/>
              <a:cxnLst/>
              <a:rect l="l" t="t" r="r" b="b"/>
              <a:pathLst>
                <a:path w="4724400" h="4953000">
                  <a:moveTo>
                    <a:pt x="4724400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4819650"/>
                  </a:lnTo>
                  <a:lnTo>
                    <a:pt x="0" y="4953000"/>
                  </a:lnTo>
                  <a:lnTo>
                    <a:pt x="4724400" y="4953000"/>
                  </a:lnTo>
                  <a:lnTo>
                    <a:pt x="4724400" y="4819662"/>
                  </a:lnTo>
                  <a:lnTo>
                    <a:pt x="4724400" y="95262"/>
                  </a:lnTo>
                  <a:lnTo>
                    <a:pt x="4619625" y="95262"/>
                  </a:lnTo>
                  <a:lnTo>
                    <a:pt x="4619625" y="4819650"/>
                  </a:lnTo>
                  <a:lnTo>
                    <a:pt x="104775" y="4819650"/>
                  </a:lnTo>
                  <a:lnTo>
                    <a:pt x="104775" y="95250"/>
                  </a:lnTo>
                  <a:lnTo>
                    <a:pt x="4724400" y="9525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886574" y="3590921"/>
              <a:ext cx="4514850" cy="4743450"/>
            </a:xfrm>
            <a:custGeom>
              <a:avLst/>
              <a:gdLst/>
              <a:ahLst/>
              <a:cxnLst/>
              <a:rect l="l" t="t" r="r" b="b"/>
              <a:pathLst>
                <a:path w="4514850" h="4743450">
                  <a:moveTo>
                    <a:pt x="4514849" y="4743449"/>
                  </a:moveTo>
                  <a:lnTo>
                    <a:pt x="0" y="4743449"/>
                  </a:lnTo>
                  <a:lnTo>
                    <a:pt x="0" y="0"/>
                  </a:lnTo>
                  <a:lnTo>
                    <a:pt x="4514849" y="0"/>
                  </a:lnTo>
                  <a:lnTo>
                    <a:pt x="4514849" y="4743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91337" y="3595684"/>
              <a:ext cx="4505325" cy="4733925"/>
            </a:xfrm>
            <a:custGeom>
              <a:avLst/>
              <a:gdLst/>
              <a:ahLst/>
              <a:cxnLst/>
              <a:rect l="l" t="t" r="r" b="b"/>
              <a:pathLst>
                <a:path w="4505325" h="4733925">
                  <a:moveTo>
                    <a:pt x="0" y="0"/>
                  </a:moveTo>
                  <a:lnTo>
                    <a:pt x="4505324" y="0"/>
                  </a:lnTo>
                  <a:lnTo>
                    <a:pt x="4505324" y="4733924"/>
                  </a:lnTo>
                  <a:lnTo>
                    <a:pt x="0" y="4733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562974" y="6591296"/>
              <a:ext cx="2276475" cy="123825"/>
            </a:xfrm>
            <a:custGeom>
              <a:avLst/>
              <a:gdLst/>
              <a:ahLst/>
              <a:cxnLst/>
              <a:rect l="l" t="t" r="r" b="b"/>
              <a:pathLst>
                <a:path w="2276475" h="123825">
                  <a:moveTo>
                    <a:pt x="0" y="123824"/>
                  </a:moveTo>
                  <a:lnTo>
                    <a:pt x="2276474" y="123824"/>
                  </a:lnTo>
                  <a:lnTo>
                    <a:pt x="2276474" y="0"/>
                  </a:lnTo>
                  <a:lnTo>
                    <a:pt x="0" y="0"/>
                  </a:lnTo>
                  <a:lnTo>
                    <a:pt x="0" y="1238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448549" y="6591296"/>
              <a:ext cx="1114425" cy="123825"/>
            </a:xfrm>
            <a:custGeom>
              <a:avLst/>
              <a:gdLst/>
              <a:ahLst/>
              <a:cxnLst/>
              <a:rect l="l" t="t" r="r" b="b"/>
              <a:pathLst>
                <a:path w="1114425" h="123825">
                  <a:moveTo>
                    <a:pt x="1114424" y="123824"/>
                  </a:moveTo>
                  <a:lnTo>
                    <a:pt x="0" y="123824"/>
                  </a:lnTo>
                  <a:lnTo>
                    <a:pt x="0" y="0"/>
                  </a:lnTo>
                  <a:lnTo>
                    <a:pt x="1114424" y="0"/>
                  </a:lnTo>
                  <a:lnTo>
                    <a:pt x="1114424" y="123824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433914" y="3835612"/>
            <a:ext cx="1501140" cy="180022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8400" spc="560" b="1">
                <a:solidFill>
                  <a:srgbClr val="999999"/>
                </a:solidFill>
                <a:latin typeface="Arial"/>
                <a:cs typeface="Arial"/>
              </a:rPr>
              <a:t>24</a:t>
            </a:r>
            <a:endParaRPr sz="8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350" spc="-50" b="1">
                <a:solidFill>
                  <a:srgbClr val="111111"/>
                </a:solidFill>
                <a:latin typeface="Arial"/>
                <a:cs typeface="Arial"/>
              </a:rPr>
              <a:t>Not</a:t>
            </a:r>
            <a:r>
              <a:rPr dirty="0" sz="2350" spc="-1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50" spc="-95" b="1">
                <a:solidFill>
                  <a:srgbClr val="111111"/>
                </a:solidFill>
                <a:latin typeface="Arial"/>
                <a:cs typeface="Arial"/>
              </a:rPr>
              <a:t>Known</a:t>
            </a:r>
            <a:endParaRPr sz="23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33914" y="5759137"/>
            <a:ext cx="1513840" cy="608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160" b="1">
                <a:solidFill>
                  <a:srgbClr val="777777"/>
                </a:solidFill>
                <a:latin typeface="Arial"/>
                <a:cs typeface="Arial"/>
              </a:rPr>
              <a:t>32.9%</a:t>
            </a:r>
            <a:endParaRPr sz="3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33914" y="6812415"/>
            <a:ext cx="340867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10">
                <a:solidFill>
                  <a:srgbClr val="666666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0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history</a:t>
            </a:r>
            <a:r>
              <a:rPr dirty="0" sz="1700" spc="-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Microsoft Sans Serif"/>
                <a:cs typeface="Microsoft Sans Serif"/>
              </a:rPr>
              <a:t>unavailable </a:t>
            </a:r>
            <a:r>
              <a:rPr dirty="0" sz="1650" spc="710">
                <a:solidFill>
                  <a:srgbClr val="666666"/>
                </a:solidFill>
                <a:latin typeface="Microsoft Sans Serif"/>
                <a:cs typeface="Microsoft Sans Serif"/>
              </a:rPr>
              <a:t>—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highlights</a:t>
            </a:r>
            <a:r>
              <a:rPr dirty="0" sz="170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documentation</a:t>
            </a:r>
            <a:r>
              <a:rPr dirty="0" sz="1700" spc="-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666666"/>
                </a:solidFill>
                <a:latin typeface="Microsoft Sans Serif"/>
                <a:cs typeface="Microsoft Sans Serif"/>
              </a:rPr>
              <a:t>and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tracking</a:t>
            </a:r>
            <a:r>
              <a:rPr dirty="0" sz="1700" spc="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Microsoft Sans Serif"/>
                <a:cs typeface="Microsoft Sans Serif"/>
              </a:rPr>
              <a:t>gaps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896099" y="3600446"/>
            <a:ext cx="4495800" cy="47625"/>
          </a:xfrm>
          <a:custGeom>
            <a:avLst/>
            <a:gdLst/>
            <a:ahLst/>
            <a:cxnLst/>
            <a:rect l="l" t="t" r="r" b="b"/>
            <a:pathLst>
              <a:path w="4495800" h="47625">
                <a:moveTo>
                  <a:pt x="4495799" y="47624"/>
                </a:moveTo>
                <a:lnTo>
                  <a:pt x="0" y="47624"/>
                </a:lnTo>
                <a:lnTo>
                  <a:pt x="0" y="0"/>
                </a:lnTo>
                <a:lnTo>
                  <a:pt x="4495799" y="0"/>
                </a:lnTo>
                <a:lnTo>
                  <a:pt x="4495799" y="47624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11841479" y="3505200"/>
            <a:ext cx="4721860" cy="4953000"/>
            <a:chOff x="11841479" y="3505200"/>
            <a:chExt cx="4721860" cy="4953000"/>
          </a:xfrm>
        </p:grpSpPr>
        <p:sp>
          <p:nvSpPr>
            <p:cNvPr id="31" name="object 31"/>
            <p:cNvSpPr/>
            <p:nvPr/>
          </p:nvSpPr>
          <p:spPr>
            <a:xfrm>
              <a:off x="11841467" y="3505199"/>
              <a:ext cx="4721860" cy="4953000"/>
            </a:xfrm>
            <a:custGeom>
              <a:avLst/>
              <a:gdLst/>
              <a:ahLst/>
              <a:cxnLst/>
              <a:rect l="l" t="t" r="r" b="b"/>
              <a:pathLst>
                <a:path w="4721859" h="4953000">
                  <a:moveTo>
                    <a:pt x="4721352" y="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0" y="4819650"/>
                  </a:lnTo>
                  <a:lnTo>
                    <a:pt x="0" y="4953000"/>
                  </a:lnTo>
                  <a:lnTo>
                    <a:pt x="4721352" y="4953000"/>
                  </a:lnTo>
                  <a:lnTo>
                    <a:pt x="4721352" y="4819662"/>
                  </a:lnTo>
                  <a:lnTo>
                    <a:pt x="4721352" y="95262"/>
                  </a:lnTo>
                  <a:lnTo>
                    <a:pt x="4617720" y="95262"/>
                  </a:lnTo>
                  <a:lnTo>
                    <a:pt x="4617720" y="4819650"/>
                  </a:lnTo>
                  <a:lnTo>
                    <a:pt x="102870" y="4819650"/>
                  </a:lnTo>
                  <a:lnTo>
                    <a:pt x="102870" y="95250"/>
                  </a:lnTo>
                  <a:lnTo>
                    <a:pt x="4721352" y="95250"/>
                  </a:lnTo>
                  <a:lnTo>
                    <a:pt x="4721352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1944348" y="3590921"/>
              <a:ext cx="4514850" cy="4743450"/>
            </a:xfrm>
            <a:custGeom>
              <a:avLst/>
              <a:gdLst/>
              <a:ahLst/>
              <a:cxnLst/>
              <a:rect l="l" t="t" r="r" b="b"/>
              <a:pathLst>
                <a:path w="4514850" h="4743450">
                  <a:moveTo>
                    <a:pt x="4514849" y="4743449"/>
                  </a:moveTo>
                  <a:lnTo>
                    <a:pt x="0" y="4743449"/>
                  </a:lnTo>
                  <a:lnTo>
                    <a:pt x="0" y="0"/>
                  </a:lnTo>
                  <a:lnTo>
                    <a:pt x="4514849" y="0"/>
                  </a:lnTo>
                  <a:lnTo>
                    <a:pt x="4514849" y="4743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1949111" y="3595684"/>
              <a:ext cx="4505325" cy="4733925"/>
            </a:xfrm>
            <a:custGeom>
              <a:avLst/>
              <a:gdLst/>
              <a:ahLst/>
              <a:cxnLst/>
              <a:rect l="l" t="t" r="r" b="b"/>
              <a:pathLst>
                <a:path w="4505325" h="4733925">
                  <a:moveTo>
                    <a:pt x="0" y="0"/>
                  </a:moveTo>
                  <a:lnTo>
                    <a:pt x="4505324" y="0"/>
                  </a:lnTo>
                  <a:lnTo>
                    <a:pt x="4505324" y="4733924"/>
                  </a:lnTo>
                  <a:lnTo>
                    <a:pt x="0" y="4733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2696823" y="6591296"/>
              <a:ext cx="3200400" cy="123825"/>
            </a:xfrm>
            <a:custGeom>
              <a:avLst/>
              <a:gdLst/>
              <a:ahLst/>
              <a:cxnLst/>
              <a:rect l="l" t="t" r="r" b="b"/>
              <a:pathLst>
                <a:path w="3200400" h="123825">
                  <a:moveTo>
                    <a:pt x="0" y="123824"/>
                  </a:moveTo>
                  <a:lnTo>
                    <a:pt x="3200399" y="123824"/>
                  </a:lnTo>
                  <a:lnTo>
                    <a:pt x="3200399" y="0"/>
                  </a:lnTo>
                  <a:lnTo>
                    <a:pt x="0" y="0"/>
                  </a:lnTo>
                  <a:lnTo>
                    <a:pt x="0" y="1238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2506323" y="6591296"/>
              <a:ext cx="190500" cy="123825"/>
            </a:xfrm>
            <a:custGeom>
              <a:avLst/>
              <a:gdLst/>
              <a:ahLst/>
              <a:cxnLst/>
              <a:rect l="l" t="t" r="r" b="b"/>
              <a:pathLst>
                <a:path w="190500" h="123825">
                  <a:moveTo>
                    <a:pt x="190499" y="123824"/>
                  </a:moveTo>
                  <a:lnTo>
                    <a:pt x="0" y="123824"/>
                  </a:lnTo>
                  <a:lnTo>
                    <a:pt x="0" y="0"/>
                  </a:lnTo>
                  <a:lnTo>
                    <a:pt x="190499" y="0"/>
                  </a:lnTo>
                  <a:lnTo>
                    <a:pt x="190499" y="123824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2493625" y="3839866"/>
            <a:ext cx="2672715" cy="179578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8300" spc="-345" b="1">
                <a:solidFill>
                  <a:srgbClr val="ED6B4D"/>
                </a:solidFill>
                <a:latin typeface="Verdana"/>
                <a:cs typeface="Verdana"/>
              </a:rPr>
              <a:t>4</a:t>
            </a:r>
            <a:endParaRPr sz="8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350" spc="-60" b="1">
                <a:solidFill>
                  <a:srgbClr val="111111"/>
                </a:solidFill>
                <a:latin typeface="Arial"/>
                <a:cs typeface="Arial"/>
              </a:rPr>
              <a:t>Partially</a:t>
            </a:r>
            <a:r>
              <a:rPr dirty="0" sz="2350" spc="-1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350" spc="-75" b="1">
                <a:solidFill>
                  <a:srgbClr val="111111"/>
                </a:solidFill>
                <a:latin typeface="Arial"/>
                <a:cs typeface="Arial"/>
              </a:rPr>
              <a:t>Immunised</a:t>
            </a:r>
            <a:endParaRPr sz="23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493625" y="5759137"/>
            <a:ext cx="1194435" cy="6089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800" spc="105" b="1">
                <a:solidFill>
                  <a:srgbClr val="ED6B4D"/>
                </a:solidFill>
                <a:latin typeface="Arial"/>
                <a:cs typeface="Arial"/>
              </a:rPr>
              <a:t>5.5%</a:t>
            </a:r>
            <a:endParaRPr sz="3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493625" y="6812415"/>
            <a:ext cx="29400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30">
                <a:solidFill>
                  <a:srgbClr val="666666"/>
                </a:solidFill>
                <a:latin typeface="Microsoft Sans Serif"/>
                <a:cs typeface="Microsoft Sans Serif"/>
              </a:rPr>
              <a:t>Received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 only</a:t>
            </a:r>
            <a:r>
              <a:rPr dirty="0" sz="170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one</a:t>
            </a:r>
            <a:r>
              <a:rPr dirty="0" sz="170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9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170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dose</a:t>
            </a:r>
            <a:r>
              <a:rPr dirty="0" sz="170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710">
                <a:solidFill>
                  <a:srgbClr val="666666"/>
                </a:solidFill>
                <a:latin typeface="Microsoft Sans Serif"/>
                <a:cs typeface="Microsoft Sans Serif"/>
              </a:rPr>
              <a:t>— </a:t>
            </a:r>
            <a:r>
              <a:rPr dirty="0" sz="1700">
                <a:solidFill>
                  <a:srgbClr val="666666"/>
                </a:solidFill>
                <a:latin typeface="Microsoft Sans Serif"/>
                <a:cs typeface="Microsoft Sans Serif"/>
              </a:rPr>
              <a:t>incomplete protection</a:t>
            </a:r>
            <a:r>
              <a:rPr dirty="0" sz="1700" spc="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Microsoft Sans Serif"/>
                <a:cs typeface="Microsoft Sans Serif"/>
              </a:rPr>
              <a:t>against measles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953874" y="3600446"/>
            <a:ext cx="4495800" cy="47625"/>
          </a:xfrm>
          <a:custGeom>
            <a:avLst/>
            <a:gdLst/>
            <a:ahLst/>
            <a:cxnLst/>
            <a:rect l="l" t="t" r="r" b="b"/>
            <a:pathLst>
              <a:path w="4495800" h="47625">
                <a:moveTo>
                  <a:pt x="4495799" y="47624"/>
                </a:moveTo>
                <a:lnTo>
                  <a:pt x="0" y="47624"/>
                </a:lnTo>
                <a:lnTo>
                  <a:pt x="0" y="0"/>
                </a:lnTo>
                <a:lnTo>
                  <a:pt x="4495799" y="0"/>
                </a:lnTo>
                <a:lnTo>
                  <a:pt x="4495799" y="47624"/>
                </a:lnTo>
                <a:close/>
              </a:path>
            </a:pathLst>
          </a:custGeom>
          <a:solidFill>
            <a:srgbClr val="ED6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01699" y="9559511"/>
            <a:ext cx="245745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80" b="1">
                <a:solidFill>
                  <a:srgbClr val="999999"/>
                </a:solidFill>
                <a:latin typeface="Arial"/>
                <a:cs typeface="Arial"/>
              </a:rPr>
              <a:t>08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6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305"/>
              <a:t>Source</a:t>
            </a:r>
            <a:r>
              <a:rPr dirty="0" spc="-645"/>
              <a:t> </a:t>
            </a:r>
            <a:r>
              <a:rPr dirty="0" spc="-40"/>
              <a:t>of</a:t>
            </a:r>
            <a:r>
              <a:rPr dirty="0" spc="-725"/>
              <a:t> </a:t>
            </a:r>
            <a:r>
              <a:rPr dirty="0" spc="-625"/>
              <a:t>R</a:t>
            </a:r>
            <a:r>
              <a:rPr dirty="0" spc="-385"/>
              <a:t>e</a:t>
            </a:r>
            <a:r>
              <a:rPr dirty="0" spc="-390"/>
              <a:t>p</a:t>
            </a:r>
            <a:r>
              <a:rPr dirty="0" spc="-395"/>
              <a:t>o</a:t>
            </a:r>
            <a:r>
              <a:rPr dirty="0" spc="-285"/>
              <a:t>r</a:t>
            </a:r>
            <a:r>
              <a:rPr dirty="0" spc="-390"/>
              <a:t>t</a:t>
            </a:r>
            <a:r>
              <a:rPr dirty="0" spc="-95"/>
              <a:t>i</a:t>
            </a:r>
            <a:r>
              <a:rPr dirty="0" spc="-245"/>
              <a:t>n</a:t>
            </a:r>
            <a:r>
              <a:rPr dirty="0" spc="-195"/>
              <a:t>g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Facilities</a:t>
            </a:r>
            <a:r>
              <a:rPr dirty="0" sz="2300" spc="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from which</a:t>
            </a:r>
            <a:r>
              <a:rPr dirty="0" sz="2300" spc="6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230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were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reported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8799" y="3981446"/>
            <a:ext cx="8229600" cy="361950"/>
          </a:xfrm>
          <a:custGeom>
            <a:avLst/>
            <a:gdLst/>
            <a:ahLst/>
            <a:cxnLst/>
            <a:rect l="l" t="t" r="r" b="b"/>
            <a:pathLst>
              <a:path w="8229600" h="361950">
                <a:moveTo>
                  <a:pt x="8229599" y="361949"/>
                </a:moveTo>
                <a:lnTo>
                  <a:pt x="0" y="361949"/>
                </a:lnTo>
                <a:lnTo>
                  <a:pt x="0" y="0"/>
                </a:lnTo>
                <a:lnTo>
                  <a:pt x="8229599" y="0"/>
                </a:lnTo>
                <a:lnTo>
                  <a:pt x="8229599" y="3619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16099" y="3527611"/>
            <a:ext cx="1470025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55" b="1">
                <a:solidFill>
                  <a:srgbClr val="111111"/>
                </a:solidFill>
                <a:latin typeface="Arial"/>
                <a:cs typeface="Arial"/>
              </a:rPr>
              <a:t>CMC</a:t>
            </a:r>
            <a:r>
              <a:rPr dirty="0" sz="2050" spc="-1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111111"/>
                </a:solidFill>
                <a:latin typeface="Arial"/>
                <a:cs typeface="Arial"/>
              </a:rPr>
              <a:t>Vellore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7754" y="3535009"/>
            <a:ext cx="2152015" cy="3289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 spc="-145" b="1">
                <a:solidFill>
                  <a:srgbClr val="3C5980"/>
                </a:solidFill>
                <a:latin typeface="Arial"/>
                <a:cs typeface="Arial"/>
              </a:rPr>
              <a:t>31</a:t>
            </a:r>
            <a:r>
              <a:rPr dirty="0" sz="2000" spc="-2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1950" spc="-10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2000" spc="55" b="1">
                <a:solidFill>
                  <a:srgbClr val="3C5980"/>
                </a:solidFill>
                <a:latin typeface="Arial"/>
                <a:cs typeface="Arial"/>
              </a:rPr>
              <a:t>42.5%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28799" y="5038721"/>
            <a:ext cx="8229600" cy="352425"/>
            <a:chOff x="1828799" y="5038721"/>
            <a:chExt cx="8229600" cy="352425"/>
          </a:xfrm>
        </p:grpSpPr>
        <p:sp>
          <p:nvSpPr>
            <p:cNvPr id="10" name="object 10"/>
            <p:cNvSpPr/>
            <p:nvPr/>
          </p:nvSpPr>
          <p:spPr>
            <a:xfrm>
              <a:off x="8734424" y="5038721"/>
              <a:ext cx="1323975" cy="352425"/>
            </a:xfrm>
            <a:custGeom>
              <a:avLst/>
              <a:gdLst/>
              <a:ahLst/>
              <a:cxnLst/>
              <a:rect l="l" t="t" r="r" b="b"/>
              <a:pathLst>
                <a:path w="1323975" h="352425">
                  <a:moveTo>
                    <a:pt x="0" y="352424"/>
                  </a:moveTo>
                  <a:lnTo>
                    <a:pt x="1323974" y="352424"/>
                  </a:lnTo>
                  <a:lnTo>
                    <a:pt x="1323974" y="0"/>
                  </a:lnTo>
                  <a:lnTo>
                    <a:pt x="0" y="0"/>
                  </a:lnTo>
                  <a:lnTo>
                    <a:pt x="0" y="3524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28799" y="5038721"/>
              <a:ext cx="6905625" cy="352425"/>
            </a:xfrm>
            <a:custGeom>
              <a:avLst/>
              <a:gdLst/>
              <a:ahLst/>
              <a:cxnLst/>
              <a:rect l="l" t="t" r="r" b="b"/>
              <a:pathLst>
                <a:path w="6905625" h="352425">
                  <a:moveTo>
                    <a:pt x="690562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6905624" y="0"/>
                  </a:lnTo>
                  <a:lnTo>
                    <a:pt x="6905624" y="352424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816099" y="4584885"/>
            <a:ext cx="3275965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114" b="1">
                <a:solidFill>
                  <a:srgbClr val="111111"/>
                </a:solidFill>
                <a:latin typeface="Arial"/>
                <a:cs typeface="Arial"/>
              </a:rPr>
              <a:t>PHC</a:t>
            </a:r>
            <a:r>
              <a:rPr dirty="0" sz="2050" spc="-1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225" b="1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195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20" b="1">
                <a:solidFill>
                  <a:srgbClr val="111111"/>
                </a:solidFill>
                <a:latin typeface="Arial"/>
                <a:cs typeface="Arial"/>
              </a:rPr>
              <a:t>UPHC</a:t>
            </a:r>
            <a:r>
              <a:rPr dirty="0" sz="2050" spc="-1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dirty="0" sz="2050" b="1">
                <a:solidFill>
                  <a:srgbClr val="111111"/>
                </a:solidFill>
                <a:latin typeface="Arial"/>
                <a:cs typeface="Arial"/>
              </a:rPr>
              <a:t>Self</a:t>
            </a:r>
            <a:r>
              <a:rPr dirty="0" sz="1950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Reported</a:t>
            </a:r>
            <a:r>
              <a:rPr dirty="0" sz="1950" spc="-50" b="1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3077" y="4570158"/>
            <a:ext cx="2186305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85" b="1">
                <a:solidFill>
                  <a:srgbClr val="98C1D9"/>
                </a:solidFill>
                <a:latin typeface="Arial"/>
                <a:cs typeface="Arial"/>
              </a:rPr>
              <a:t>26</a:t>
            </a:r>
            <a:r>
              <a:rPr dirty="0" sz="2000" spc="-114" b="1">
                <a:solidFill>
                  <a:srgbClr val="98C1D9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98C1D9"/>
                </a:solidFill>
                <a:latin typeface="Arial"/>
                <a:cs typeface="Arial"/>
              </a:rPr>
              <a:t>cases</a:t>
            </a:r>
            <a:r>
              <a:rPr dirty="0" sz="2150" spc="-150" b="1">
                <a:solidFill>
                  <a:srgbClr val="98C1D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98C1D9"/>
                </a:solidFill>
                <a:latin typeface="Arial"/>
                <a:cs typeface="Arial"/>
              </a:rPr>
              <a:t>—</a:t>
            </a:r>
            <a:r>
              <a:rPr dirty="0" sz="2000" spc="-285" b="1">
                <a:solidFill>
                  <a:srgbClr val="98C1D9"/>
                </a:solidFill>
                <a:latin typeface="Arial"/>
                <a:cs typeface="Arial"/>
              </a:rPr>
              <a:t> </a:t>
            </a:r>
            <a:r>
              <a:rPr dirty="0" sz="2000" spc="45" b="1">
                <a:solidFill>
                  <a:srgbClr val="98C1D9"/>
                </a:solidFill>
                <a:latin typeface="Arial"/>
                <a:cs typeface="Arial"/>
              </a:rPr>
              <a:t>35.6%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28799" y="6095996"/>
            <a:ext cx="8229600" cy="352425"/>
            <a:chOff x="1828799" y="6095996"/>
            <a:chExt cx="8229600" cy="352425"/>
          </a:xfrm>
        </p:grpSpPr>
        <p:sp>
          <p:nvSpPr>
            <p:cNvPr id="15" name="object 15"/>
            <p:cNvSpPr/>
            <p:nvPr/>
          </p:nvSpPr>
          <p:spPr>
            <a:xfrm>
              <a:off x="6076949" y="6095996"/>
              <a:ext cx="3981450" cy="352425"/>
            </a:xfrm>
            <a:custGeom>
              <a:avLst/>
              <a:gdLst/>
              <a:ahLst/>
              <a:cxnLst/>
              <a:rect l="l" t="t" r="r" b="b"/>
              <a:pathLst>
                <a:path w="3981450" h="352425">
                  <a:moveTo>
                    <a:pt x="0" y="352424"/>
                  </a:moveTo>
                  <a:lnTo>
                    <a:pt x="3981449" y="352424"/>
                  </a:lnTo>
                  <a:lnTo>
                    <a:pt x="3981449" y="0"/>
                  </a:lnTo>
                  <a:lnTo>
                    <a:pt x="0" y="0"/>
                  </a:lnTo>
                  <a:lnTo>
                    <a:pt x="0" y="352424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28799" y="6095996"/>
              <a:ext cx="4248150" cy="352425"/>
            </a:xfrm>
            <a:custGeom>
              <a:avLst/>
              <a:gdLst/>
              <a:ahLst/>
              <a:cxnLst/>
              <a:rect l="l" t="t" r="r" b="b"/>
              <a:pathLst>
                <a:path w="4248150" h="352425">
                  <a:moveTo>
                    <a:pt x="424814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4248149" y="0"/>
                  </a:lnTo>
                  <a:lnTo>
                    <a:pt x="4248149" y="352424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816099" y="5632635"/>
            <a:ext cx="182245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85" b="1">
                <a:solidFill>
                  <a:srgbClr val="111111"/>
                </a:solidFill>
                <a:latin typeface="Arial"/>
                <a:cs typeface="Arial"/>
              </a:rPr>
              <a:t>GVMCH</a:t>
            </a:r>
            <a:r>
              <a:rPr dirty="0" sz="205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111111"/>
                </a:solidFill>
                <a:latin typeface="Arial"/>
                <a:cs typeface="Arial"/>
              </a:rPr>
              <a:t>Vellore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69993" y="5617908"/>
            <a:ext cx="2099945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-100" b="1">
                <a:solidFill>
                  <a:srgbClr val="545454"/>
                </a:solidFill>
                <a:latin typeface="Arial"/>
                <a:cs typeface="Arial"/>
              </a:rPr>
              <a:t>16</a:t>
            </a:r>
            <a:r>
              <a:rPr dirty="0" sz="2000" spc="-10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545454"/>
                </a:solidFill>
                <a:latin typeface="Arial"/>
                <a:cs typeface="Arial"/>
              </a:rPr>
              <a:t>cases</a:t>
            </a:r>
            <a:r>
              <a:rPr dirty="0" sz="2150" spc="-14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45454"/>
                </a:solidFill>
                <a:latin typeface="Arial"/>
                <a:cs typeface="Arial"/>
              </a:rPr>
              <a:t>—</a:t>
            </a:r>
            <a:r>
              <a:rPr dirty="0" sz="2000" spc="-285" b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545454"/>
                </a:solidFill>
                <a:latin typeface="Arial"/>
                <a:cs typeface="Arial"/>
              </a:rPr>
              <a:t>21.9%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28799" y="7143746"/>
            <a:ext cx="8229600" cy="361950"/>
            <a:chOff x="1828799" y="7143746"/>
            <a:chExt cx="8229600" cy="361950"/>
          </a:xfrm>
        </p:grpSpPr>
        <p:sp>
          <p:nvSpPr>
            <p:cNvPr id="20" name="object 20"/>
            <p:cNvSpPr/>
            <p:nvPr/>
          </p:nvSpPr>
          <p:spPr>
            <a:xfrm>
              <a:off x="2628899" y="7143746"/>
              <a:ext cx="7429500" cy="361950"/>
            </a:xfrm>
            <a:custGeom>
              <a:avLst/>
              <a:gdLst/>
              <a:ahLst/>
              <a:cxnLst/>
              <a:rect l="l" t="t" r="r" b="b"/>
              <a:pathLst>
                <a:path w="7429500" h="361950">
                  <a:moveTo>
                    <a:pt x="0" y="361949"/>
                  </a:moveTo>
                  <a:lnTo>
                    <a:pt x="7429499" y="361949"/>
                  </a:lnTo>
                  <a:lnTo>
                    <a:pt x="7429499" y="0"/>
                  </a:lnTo>
                  <a:lnTo>
                    <a:pt x="0" y="0"/>
                  </a:lnTo>
                  <a:lnTo>
                    <a:pt x="0" y="361949"/>
                  </a:lnTo>
                  <a:close/>
                </a:path>
              </a:pathLst>
            </a:custGeom>
            <a:solidFill>
              <a:srgbClr val="F1F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828799" y="7143746"/>
              <a:ext cx="800100" cy="361950"/>
            </a:xfrm>
            <a:custGeom>
              <a:avLst/>
              <a:gdLst/>
              <a:ahLst/>
              <a:cxnLst/>
              <a:rect l="l" t="t" r="r" b="b"/>
              <a:pathLst>
                <a:path w="800100" h="361950">
                  <a:moveTo>
                    <a:pt x="800099" y="361949"/>
                  </a:moveTo>
                  <a:lnTo>
                    <a:pt x="0" y="361949"/>
                  </a:lnTo>
                  <a:lnTo>
                    <a:pt x="0" y="0"/>
                  </a:lnTo>
                  <a:lnTo>
                    <a:pt x="800099" y="0"/>
                  </a:lnTo>
                  <a:lnTo>
                    <a:pt x="800099" y="361949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816099" y="6689911"/>
            <a:ext cx="3243580" cy="337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70" b="1">
                <a:solidFill>
                  <a:srgbClr val="111111"/>
                </a:solidFill>
                <a:latin typeface="Arial"/>
                <a:cs typeface="Arial"/>
              </a:rPr>
              <a:t>Others</a:t>
            </a:r>
            <a:r>
              <a:rPr dirty="0" sz="2050" spc="-1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-90" b="1">
                <a:solidFill>
                  <a:srgbClr val="111111"/>
                </a:solidFill>
                <a:latin typeface="Arial"/>
                <a:cs typeface="Arial"/>
              </a:rPr>
              <a:t>(</a:t>
            </a:r>
            <a:r>
              <a:rPr dirty="0" sz="2050" spc="-90" b="1">
                <a:solidFill>
                  <a:srgbClr val="111111"/>
                </a:solidFill>
                <a:latin typeface="Arial"/>
                <a:cs typeface="Arial"/>
              </a:rPr>
              <a:t>GPH</a:t>
            </a:r>
            <a:r>
              <a:rPr dirty="0" sz="1950" spc="-90" b="1">
                <a:solidFill>
                  <a:srgbClr val="111111"/>
                </a:solidFill>
                <a:latin typeface="Arial"/>
                <a:cs typeface="Arial"/>
              </a:rPr>
              <a:t>,</a:t>
            </a:r>
            <a:r>
              <a:rPr dirty="0" sz="195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5" b="1">
                <a:solidFill>
                  <a:srgbClr val="111111"/>
                </a:solidFill>
                <a:latin typeface="Arial"/>
                <a:cs typeface="Arial"/>
              </a:rPr>
              <a:t>CHAD</a:t>
            </a:r>
            <a:r>
              <a:rPr dirty="0" sz="2050" spc="-1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Vellore</a:t>
            </a:r>
            <a:r>
              <a:rPr dirty="0" sz="1950" spc="-50" b="1">
                <a:solidFill>
                  <a:srgbClr val="111111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43241" y="6675183"/>
            <a:ext cx="1826260" cy="3556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000" spc="110" b="1">
                <a:solidFill>
                  <a:srgbClr val="999999"/>
                </a:solidFill>
                <a:latin typeface="Arial"/>
                <a:cs typeface="Arial"/>
              </a:rPr>
              <a:t>3</a:t>
            </a:r>
            <a:r>
              <a:rPr dirty="0" sz="2000" spc="-105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2150" spc="-120" b="1">
                <a:solidFill>
                  <a:srgbClr val="999999"/>
                </a:solidFill>
                <a:latin typeface="Arial"/>
                <a:cs typeface="Arial"/>
              </a:rPr>
              <a:t>cases</a:t>
            </a:r>
            <a:r>
              <a:rPr dirty="0" sz="2150" spc="-150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999999"/>
                </a:solidFill>
                <a:latin typeface="Arial"/>
                <a:cs typeface="Arial"/>
              </a:rPr>
              <a:t>—</a:t>
            </a:r>
            <a:r>
              <a:rPr dirty="0" sz="2000" spc="-290" b="1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dirty="0" sz="2000" spc="-35" b="1">
                <a:solidFill>
                  <a:srgbClr val="999999"/>
                </a:solidFill>
                <a:latin typeface="Arial"/>
                <a:cs typeface="Arial"/>
              </a:rPr>
              <a:t>4.1%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869167" y="6459220"/>
            <a:ext cx="5694045" cy="2967990"/>
            <a:chOff x="10869167" y="6459220"/>
            <a:chExt cx="5694045" cy="2967990"/>
          </a:xfrm>
        </p:grpSpPr>
        <p:sp>
          <p:nvSpPr>
            <p:cNvPr id="25" name="object 25"/>
            <p:cNvSpPr/>
            <p:nvPr/>
          </p:nvSpPr>
          <p:spPr>
            <a:xfrm>
              <a:off x="10869155" y="6459219"/>
              <a:ext cx="5694045" cy="2967990"/>
            </a:xfrm>
            <a:custGeom>
              <a:avLst/>
              <a:gdLst/>
              <a:ahLst/>
              <a:cxnLst/>
              <a:rect l="l" t="t" r="r" b="b"/>
              <a:pathLst>
                <a:path w="5694044" h="2967990">
                  <a:moveTo>
                    <a:pt x="5693664" y="93992"/>
                  </a:moveTo>
                  <a:lnTo>
                    <a:pt x="5590032" y="93992"/>
                  </a:lnTo>
                  <a:lnTo>
                    <a:pt x="5590032" y="2837180"/>
                  </a:lnTo>
                  <a:lnTo>
                    <a:pt x="103632" y="2837180"/>
                  </a:lnTo>
                  <a:lnTo>
                    <a:pt x="103632" y="93992"/>
                  </a:lnTo>
                  <a:lnTo>
                    <a:pt x="0" y="93992"/>
                  </a:lnTo>
                  <a:lnTo>
                    <a:pt x="0" y="2837180"/>
                  </a:lnTo>
                  <a:lnTo>
                    <a:pt x="0" y="2967990"/>
                  </a:lnTo>
                  <a:lnTo>
                    <a:pt x="5693664" y="2967990"/>
                  </a:lnTo>
                  <a:lnTo>
                    <a:pt x="5693664" y="2837180"/>
                  </a:lnTo>
                  <a:lnTo>
                    <a:pt x="5693664" y="93992"/>
                  </a:lnTo>
                  <a:close/>
                </a:path>
                <a:path w="5694044" h="2967990">
                  <a:moveTo>
                    <a:pt x="5693664" y="0"/>
                  </a:moveTo>
                  <a:lnTo>
                    <a:pt x="0" y="0"/>
                  </a:lnTo>
                  <a:lnTo>
                    <a:pt x="0" y="93980"/>
                  </a:lnTo>
                  <a:lnTo>
                    <a:pt x="5693664" y="93980"/>
                  </a:lnTo>
                  <a:lnTo>
                    <a:pt x="5693664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0972799" y="6543671"/>
              <a:ext cx="5486400" cy="2762250"/>
            </a:xfrm>
            <a:custGeom>
              <a:avLst/>
              <a:gdLst/>
              <a:ahLst/>
              <a:cxnLst/>
              <a:rect l="l" t="t" r="r" b="b"/>
              <a:pathLst>
                <a:path w="5486400" h="2762250">
                  <a:moveTo>
                    <a:pt x="5486399" y="2762249"/>
                  </a:moveTo>
                  <a:lnTo>
                    <a:pt x="0" y="2762249"/>
                  </a:lnTo>
                  <a:lnTo>
                    <a:pt x="0" y="0"/>
                  </a:lnTo>
                  <a:lnTo>
                    <a:pt x="5486399" y="0"/>
                  </a:lnTo>
                  <a:lnTo>
                    <a:pt x="5486399" y="2762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0977561" y="6548433"/>
              <a:ext cx="5476875" cy="2752725"/>
            </a:xfrm>
            <a:custGeom>
              <a:avLst/>
              <a:gdLst/>
              <a:ahLst/>
              <a:cxnLst/>
              <a:rect l="l" t="t" r="r" b="b"/>
              <a:pathLst>
                <a:path w="5476875" h="2752725">
                  <a:moveTo>
                    <a:pt x="0" y="0"/>
                  </a:moveTo>
                  <a:lnTo>
                    <a:pt x="5476874" y="0"/>
                  </a:lnTo>
                  <a:lnTo>
                    <a:pt x="5476874" y="2752724"/>
                  </a:lnTo>
                  <a:lnTo>
                    <a:pt x="0" y="27527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1439525" y="7003682"/>
            <a:ext cx="4482465" cy="1800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-95" b="1">
                <a:solidFill>
                  <a:srgbClr val="3C5980"/>
                </a:solidFill>
                <a:latin typeface="Arial"/>
                <a:cs typeface="Arial"/>
              </a:rPr>
              <a:t>I</a:t>
            </a:r>
            <a:r>
              <a:rPr dirty="0" sz="150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5980"/>
                </a:solidFill>
                <a:latin typeface="Arial"/>
                <a:cs typeface="Arial"/>
              </a:rPr>
              <a:t>MPLI</a:t>
            </a:r>
            <a:r>
              <a:rPr dirty="0" sz="150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5980"/>
                </a:solidFill>
                <a:latin typeface="Arial"/>
                <a:cs typeface="Arial"/>
              </a:rPr>
              <a:t>CATI</a:t>
            </a:r>
            <a:r>
              <a:rPr dirty="0" sz="1500" spc="-14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3C5980"/>
                </a:solidFill>
                <a:latin typeface="Arial"/>
                <a:cs typeface="Arial"/>
              </a:rPr>
              <a:t>ON</a:t>
            </a:r>
            <a:endParaRPr sz="1500">
              <a:latin typeface="Arial"/>
              <a:cs typeface="Arial"/>
            </a:endParaRPr>
          </a:p>
          <a:p>
            <a:pPr marR="5080">
              <a:lnSpc>
                <a:spcPct val="125000"/>
              </a:lnSpc>
              <a:spcBef>
                <a:spcPts val="1045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High</a:t>
            </a:r>
            <a:r>
              <a:rPr dirty="0" sz="185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tertiary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centre</a:t>
            </a:r>
            <a:r>
              <a:rPr dirty="0" sz="18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850" spc="1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suggests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possible</a:t>
            </a:r>
            <a:r>
              <a:rPr dirty="0" sz="1850" spc="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under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85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at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primary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health level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r>
              <a:rPr dirty="0" sz="180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Strengthening</a:t>
            </a:r>
            <a:r>
              <a:rPr dirty="0" sz="1850" spc="-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PHC</a:t>
            </a:r>
            <a:r>
              <a:rPr dirty="0" sz="1800" spc="-3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level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surveillance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is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critical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1699" y="9559511"/>
            <a:ext cx="245110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350" spc="80" b="1">
                <a:solidFill>
                  <a:srgbClr val="999999"/>
                </a:solidFill>
                <a:latin typeface="Arial"/>
                <a:cs typeface="Arial"/>
              </a:rPr>
              <a:t>09</a:t>
            </a:r>
            <a:endParaRPr sz="13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72799" y="3543296"/>
            <a:ext cx="5486400" cy="2743200"/>
          </a:xfrm>
          <a:prstGeom prst="rect">
            <a:avLst/>
          </a:prstGeom>
          <a:solidFill>
            <a:srgbClr val="3C598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5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</a:pPr>
            <a:r>
              <a:rPr dirty="0" sz="1500" b="1">
                <a:solidFill>
                  <a:srgbClr val="FEFEFE"/>
                </a:solidFill>
                <a:latin typeface="Arial"/>
                <a:cs typeface="Arial"/>
              </a:rPr>
              <a:t>TERTI</a:t>
            </a:r>
            <a:r>
              <a:rPr dirty="0" sz="1500" spc="-16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EFEFE"/>
                </a:solidFill>
                <a:latin typeface="Arial"/>
                <a:cs typeface="Arial"/>
              </a:rPr>
              <a:t>ARY</a:t>
            </a:r>
            <a:r>
              <a:rPr dirty="0" sz="1500" spc="28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EFEFE"/>
                </a:solidFill>
                <a:latin typeface="Arial"/>
                <a:cs typeface="Arial"/>
              </a:rPr>
              <a:t>CENTRE</a:t>
            </a:r>
            <a:r>
              <a:rPr dirty="0" sz="1500" spc="38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EFEFE"/>
                </a:solidFill>
                <a:latin typeface="Arial"/>
                <a:cs typeface="Arial"/>
              </a:rPr>
              <a:t>BURDEN</a:t>
            </a:r>
            <a:endParaRPr sz="15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500"/>
              </a:spcBef>
            </a:pPr>
            <a:r>
              <a:rPr dirty="0" sz="5350" spc="395" b="1">
                <a:solidFill>
                  <a:srgbClr val="FFFFFF"/>
                </a:solidFill>
                <a:latin typeface="Arial"/>
                <a:cs typeface="Arial"/>
              </a:rPr>
              <a:t>64%</a:t>
            </a:r>
            <a:endParaRPr sz="5350">
              <a:latin typeface="Arial"/>
              <a:cs typeface="Arial"/>
            </a:endParaRPr>
          </a:p>
          <a:p>
            <a:pPr marL="457200" marR="1217930">
              <a:lnSpc>
                <a:spcPct val="114900"/>
              </a:lnSpc>
              <a:spcBef>
                <a:spcPts val="125"/>
              </a:spcBef>
            </a:pPr>
            <a:r>
              <a:rPr dirty="0" sz="1850" spc="75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identified</a:t>
            </a:r>
            <a:r>
              <a:rPr dirty="0" sz="185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dirty="0" sz="1850" spc="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FFFFFF"/>
                </a:solidFill>
                <a:latin typeface="Microsoft Sans Serif"/>
                <a:cs typeface="Microsoft Sans Serif"/>
              </a:rPr>
              <a:t>CMC</a:t>
            </a:r>
            <a:r>
              <a:rPr dirty="0" sz="185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GVMCH</a:t>
            </a:r>
            <a:r>
              <a:rPr dirty="0" sz="1850" spc="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825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tertiary</a:t>
            </a:r>
            <a:r>
              <a:rPr dirty="0" sz="18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referral</a:t>
            </a:r>
            <a:r>
              <a:rPr dirty="0" sz="1850" spc="1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hospitals</a:t>
            </a:r>
            <a:endParaRPr sz="1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6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799" y="3886196"/>
            <a:ext cx="14630400" cy="4514850"/>
            <a:chOff x="1828799" y="3886196"/>
            <a:chExt cx="14630400" cy="4514850"/>
          </a:xfrm>
        </p:grpSpPr>
        <p:sp>
          <p:nvSpPr>
            <p:cNvPr id="6" name="object 6"/>
            <p:cNvSpPr/>
            <p:nvPr/>
          </p:nvSpPr>
          <p:spPr>
            <a:xfrm>
              <a:off x="1828799" y="3886196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8799" y="4448171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28799" y="5010146"/>
              <a:ext cx="14630400" cy="571500"/>
            </a:xfrm>
            <a:custGeom>
              <a:avLst/>
              <a:gdLst/>
              <a:ahLst/>
              <a:cxnLst/>
              <a:rect l="l" t="t" r="r" b="b"/>
              <a:pathLst>
                <a:path w="14630400" h="571500">
                  <a:moveTo>
                    <a:pt x="14630398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28799" y="5581645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28799" y="6143620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28799" y="6705595"/>
              <a:ext cx="14630400" cy="571500"/>
            </a:xfrm>
            <a:custGeom>
              <a:avLst/>
              <a:gdLst/>
              <a:ahLst/>
              <a:cxnLst/>
              <a:rect l="l" t="t" r="r" b="b"/>
              <a:pathLst>
                <a:path w="14630400" h="571500">
                  <a:moveTo>
                    <a:pt x="14630398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714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28799" y="7277095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8799" y="7839070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515838" y="3981449"/>
              <a:ext cx="1333500" cy="1428750"/>
            </a:xfrm>
            <a:custGeom>
              <a:avLst/>
              <a:gdLst/>
              <a:ahLst/>
              <a:cxnLst/>
              <a:rect l="l" t="t" r="r" b="b"/>
              <a:pathLst>
                <a:path w="1333500" h="1428750">
                  <a:moveTo>
                    <a:pt x="1333500" y="1133475"/>
                  </a:moveTo>
                  <a:lnTo>
                    <a:pt x="0" y="1133475"/>
                  </a:lnTo>
                  <a:lnTo>
                    <a:pt x="0" y="1428750"/>
                  </a:lnTo>
                  <a:lnTo>
                    <a:pt x="1333500" y="1428750"/>
                  </a:lnTo>
                  <a:lnTo>
                    <a:pt x="1333500" y="1133475"/>
                  </a:lnTo>
                  <a:close/>
                </a:path>
                <a:path w="1333500" h="1428750">
                  <a:moveTo>
                    <a:pt x="1333500" y="571500"/>
                  </a:moveTo>
                  <a:lnTo>
                    <a:pt x="0" y="571500"/>
                  </a:lnTo>
                  <a:lnTo>
                    <a:pt x="0" y="857250"/>
                  </a:lnTo>
                  <a:lnTo>
                    <a:pt x="1333500" y="857250"/>
                  </a:lnTo>
                  <a:lnTo>
                    <a:pt x="1333500" y="571500"/>
                  </a:lnTo>
                  <a:close/>
                </a:path>
                <a:path w="1333500" h="1428750">
                  <a:moveTo>
                    <a:pt x="13335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333500" y="295275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EBF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515838" y="5676899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1333500" y="571500"/>
                  </a:moveTo>
                  <a:lnTo>
                    <a:pt x="0" y="571500"/>
                  </a:lnTo>
                  <a:lnTo>
                    <a:pt x="0" y="857250"/>
                  </a:lnTo>
                  <a:lnTo>
                    <a:pt x="1333500" y="857250"/>
                  </a:lnTo>
                  <a:lnTo>
                    <a:pt x="1333500" y="571500"/>
                  </a:lnTo>
                  <a:close/>
                </a:path>
                <a:path w="1333500" h="857250">
                  <a:moveTo>
                    <a:pt x="13335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333500" y="295275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515838" y="6810374"/>
              <a:ext cx="1447800" cy="1419225"/>
            </a:xfrm>
            <a:custGeom>
              <a:avLst/>
              <a:gdLst/>
              <a:ahLst/>
              <a:cxnLst/>
              <a:rect l="l" t="t" r="r" b="b"/>
              <a:pathLst>
                <a:path w="1447800" h="1419225">
                  <a:moveTo>
                    <a:pt x="1447800" y="1133475"/>
                  </a:moveTo>
                  <a:lnTo>
                    <a:pt x="0" y="1133475"/>
                  </a:lnTo>
                  <a:lnTo>
                    <a:pt x="0" y="1419225"/>
                  </a:lnTo>
                  <a:lnTo>
                    <a:pt x="1447800" y="1419225"/>
                  </a:lnTo>
                  <a:lnTo>
                    <a:pt x="1447800" y="1133475"/>
                  </a:lnTo>
                  <a:close/>
                </a:path>
                <a:path w="1447800" h="1419225">
                  <a:moveTo>
                    <a:pt x="1447800" y="561975"/>
                  </a:moveTo>
                  <a:lnTo>
                    <a:pt x="0" y="561975"/>
                  </a:lnTo>
                  <a:lnTo>
                    <a:pt x="0" y="857250"/>
                  </a:lnTo>
                  <a:lnTo>
                    <a:pt x="1447800" y="857250"/>
                  </a:lnTo>
                  <a:lnTo>
                    <a:pt x="1447800" y="561975"/>
                  </a:lnTo>
                  <a:close/>
                </a:path>
                <a:path w="1447800" h="1419225">
                  <a:moveTo>
                    <a:pt x="14478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1447800" y="28575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2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118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dirty="0" spc="-365"/>
              <a:t>MR</a:t>
            </a:r>
            <a:r>
              <a:rPr dirty="0" sz="6300" spc="-365">
                <a:latin typeface="Tahoma"/>
                <a:cs typeface="Tahoma"/>
              </a:rPr>
              <a:t>-</a:t>
            </a:r>
            <a:r>
              <a:rPr dirty="0" spc="-400"/>
              <a:t>I</a:t>
            </a:r>
            <a:r>
              <a:rPr dirty="0" spc="-280"/>
              <a:t> </a:t>
            </a:r>
            <a:r>
              <a:rPr dirty="0" spc="-300"/>
              <a:t>Immunization</a:t>
            </a:r>
            <a:r>
              <a:rPr dirty="0" spc="-500"/>
              <a:t> </a:t>
            </a:r>
            <a:r>
              <a:rPr dirty="0" spc="-275"/>
              <a:t>Coverage</a:t>
            </a:r>
            <a:endParaRPr sz="6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300" spc="-105" b="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Dose-</a:t>
            </a:r>
            <a:r>
              <a:rPr dirty="0" sz="2300" spc="-540" b="0">
                <a:solidFill>
                  <a:srgbClr val="666666"/>
                </a:solidFill>
                <a:latin typeface="Microsoft Sans Serif"/>
                <a:cs typeface="Microsoft Sans Serif"/>
              </a:rPr>
              <a:t>1</a:t>
            </a:r>
            <a:r>
              <a:rPr dirty="0" sz="2300" spc="15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(%)</a:t>
            </a:r>
            <a:r>
              <a:rPr dirty="0" sz="2300" spc="2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90" b="0">
                <a:solidFill>
                  <a:srgbClr val="666666"/>
                </a:solidFill>
                <a:latin typeface="Microsoft Sans Serif"/>
                <a:cs typeface="Microsoft Sans Serif"/>
              </a:rPr>
              <a:t>HSC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 sector</a:t>
            </a:r>
            <a:r>
              <a:rPr dirty="0" sz="230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04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representative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sample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828799" y="3328983"/>
          <a:ext cx="14706600" cy="5057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0"/>
              </a:tblGrid>
              <a:tr h="55181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050"/>
                        </a:spcBef>
                        <a:tabLst>
                          <a:tab pos="3947160" algn="l"/>
                          <a:tab pos="9219565" algn="l"/>
                          <a:tab pos="10681970" algn="l"/>
                        </a:tabLst>
                      </a:pP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HSC</a:t>
                      </a:r>
                      <a:r>
                        <a:rPr dirty="0" sz="1650" spc="7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7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SECTOR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PHC</a:t>
                      </a:r>
                      <a:r>
                        <a:rPr dirty="0" sz="1650" spc="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UPHC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650" spc="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MR-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650" spc="7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8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3947160" algn="l"/>
                          <a:tab pos="930910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Ammundi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Thiruvalam</a:t>
                      </a:r>
                      <a:r>
                        <a:rPr dirty="0" sz="1850" spc="-9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120%</a:t>
                      </a:r>
                      <a:r>
                        <a:rPr dirty="0" sz="180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2962" sz="2250" spc="-3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baseline="12962" sz="2250" spc="-97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962" sz="2250" spc="-1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962" sz="2250">
                        <a:latin typeface="Arial"/>
                        <a:cs typeface="Arial"/>
                      </a:endParaRPr>
                    </a:p>
                  </a:txBody>
                  <a:tcPr marL="0" marR="0" marB="0" marT="117475"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3947160" algn="l"/>
                          <a:tab pos="930402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Nagar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Pernambut</a:t>
                      </a:r>
                      <a:r>
                        <a:rPr dirty="0" sz="1850" spc="-4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104%</a:t>
                      </a:r>
                      <a:r>
                        <a:rPr dirty="0" sz="180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1111" sz="2250" spc="-3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baseline="11111" sz="2250" spc="-97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1111" sz="2250" spc="-1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1111" sz="225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3947160" algn="l"/>
                          <a:tab pos="933577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Kuppam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180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dirty="0" sz="180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Kuppam</a:t>
                      </a:r>
                      <a:r>
                        <a:rPr dirty="0" sz="1850" spc="-7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112%</a:t>
                      </a:r>
                      <a:r>
                        <a:rPr dirty="0" sz="180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1111" sz="2250" spc="-3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baseline="11111" sz="2250" spc="-97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1111" sz="2250" spc="-1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1111" sz="225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672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Serpadi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Odugathur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5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96%</a:t>
                      </a:r>
                      <a:r>
                        <a:rPr dirty="0" sz="1800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	</a:t>
                      </a:r>
                      <a:r>
                        <a:rPr dirty="0" baseline="12962" sz="225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Near</a:t>
                      </a:r>
                      <a:r>
                        <a:rPr dirty="0" baseline="12962" sz="2250" spc="-97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962" sz="2250" spc="-1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962" sz="2250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672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Nadupet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Nadupet</a:t>
                      </a:r>
                      <a:r>
                        <a:rPr dirty="0" sz="1850" spc="-1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5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96%</a:t>
                      </a:r>
                      <a:r>
                        <a:rPr dirty="0" sz="1800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	</a:t>
                      </a:r>
                      <a:r>
                        <a:rPr dirty="0" baseline="11111" sz="225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Near</a:t>
                      </a:r>
                      <a:r>
                        <a:rPr dirty="0" baseline="11111" sz="2250" spc="-97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1111" sz="2250" spc="-1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1111" sz="2250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736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Muslimpur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Melpatti</a:t>
                      </a:r>
                      <a:r>
                        <a:rPr dirty="0" sz="1850" spc="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8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83%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0752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0752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0752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0752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863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Velapadi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Lakshmipuram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7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82%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2544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2544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544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544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6942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Kagithapattarai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Sathuvachari</a:t>
                      </a:r>
                      <a:r>
                        <a:rPr dirty="0" sz="1850" spc="-10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77%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0752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0752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0752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0752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816099" y="8600395"/>
            <a:ext cx="1014031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Target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:</a:t>
            </a:r>
            <a:r>
              <a:rPr dirty="0" sz="1650" spc="7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100%</a:t>
            </a:r>
            <a:r>
              <a:rPr dirty="0" sz="1650" spc="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coverage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MR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I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.</a:t>
            </a:r>
            <a:r>
              <a:rPr dirty="0" sz="1650" spc="7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Values</a:t>
            </a:r>
            <a:r>
              <a:rPr dirty="0" sz="1700" spc="-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above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100%</a:t>
            </a:r>
            <a:r>
              <a:rPr dirty="0" sz="1650" spc="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may</a:t>
            </a:r>
            <a:r>
              <a:rPr dirty="0" sz="1700" spc="-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reflect</a:t>
            </a:r>
            <a:r>
              <a:rPr dirty="0" sz="1700" spc="-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migrant</a:t>
            </a:r>
            <a:r>
              <a:rPr dirty="0" sz="1700" spc="-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or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out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 spc="85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650" spc="85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area</a:t>
            </a:r>
            <a:r>
              <a:rPr dirty="0" sz="1700" spc="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child</a:t>
            </a:r>
            <a:r>
              <a:rPr dirty="0" sz="1700" spc="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vaccinations</a:t>
            </a:r>
            <a:r>
              <a:rPr dirty="0" sz="1650" spc="-10">
                <a:solidFill>
                  <a:srgbClr val="999999"/>
                </a:solidFill>
                <a:latin typeface="Microsoft Sans Serif"/>
                <a:cs typeface="Microsoft Sans Serif"/>
              </a:rPr>
              <a:t>.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6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28799" y="3886195"/>
            <a:ext cx="14630400" cy="4514850"/>
            <a:chOff x="1828799" y="3886195"/>
            <a:chExt cx="14630400" cy="4514850"/>
          </a:xfrm>
        </p:grpSpPr>
        <p:sp>
          <p:nvSpPr>
            <p:cNvPr id="6" name="object 6"/>
            <p:cNvSpPr/>
            <p:nvPr/>
          </p:nvSpPr>
          <p:spPr>
            <a:xfrm>
              <a:off x="1828799" y="3886195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28799" y="4448170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28799" y="5010145"/>
              <a:ext cx="14630400" cy="571500"/>
            </a:xfrm>
            <a:custGeom>
              <a:avLst/>
              <a:gdLst/>
              <a:ahLst/>
              <a:cxnLst/>
              <a:rect l="l" t="t" r="r" b="b"/>
              <a:pathLst>
                <a:path w="14630400" h="571500">
                  <a:moveTo>
                    <a:pt x="14630398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28799" y="5581645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28799" y="6143620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28799" y="6705595"/>
              <a:ext cx="14630400" cy="571500"/>
            </a:xfrm>
            <a:custGeom>
              <a:avLst/>
              <a:gdLst/>
              <a:ahLst/>
              <a:cxnLst/>
              <a:rect l="l" t="t" r="r" b="b"/>
              <a:pathLst>
                <a:path w="14630400" h="571500">
                  <a:moveTo>
                    <a:pt x="14630398" y="571499"/>
                  </a:moveTo>
                  <a:lnTo>
                    <a:pt x="0" y="571499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71499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28799" y="7277095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28799" y="7839070"/>
              <a:ext cx="14630400" cy="561975"/>
            </a:xfrm>
            <a:custGeom>
              <a:avLst/>
              <a:gdLst/>
              <a:ahLst/>
              <a:cxnLst/>
              <a:rect l="l" t="t" r="r" b="b"/>
              <a:pathLst>
                <a:path w="14630400" h="561975">
                  <a:moveTo>
                    <a:pt x="14630398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14630398" y="0"/>
                  </a:lnTo>
                  <a:lnTo>
                    <a:pt x="14630398" y="561974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2515838" y="3981449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1333500" y="571500"/>
                  </a:moveTo>
                  <a:lnTo>
                    <a:pt x="0" y="571500"/>
                  </a:lnTo>
                  <a:lnTo>
                    <a:pt x="0" y="857250"/>
                  </a:lnTo>
                  <a:lnTo>
                    <a:pt x="1333500" y="857250"/>
                  </a:lnTo>
                  <a:lnTo>
                    <a:pt x="1333500" y="571500"/>
                  </a:lnTo>
                  <a:close/>
                </a:path>
                <a:path w="1333500" h="857250">
                  <a:moveTo>
                    <a:pt x="13335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333500" y="295275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EBF1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2515838" y="5114924"/>
              <a:ext cx="1333500" cy="857250"/>
            </a:xfrm>
            <a:custGeom>
              <a:avLst/>
              <a:gdLst/>
              <a:ahLst/>
              <a:cxnLst/>
              <a:rect l="l" t="t" r="r" b="b"/>
              <a:pathLst>
                <a:path w="1333500" h="857250">
                  <a:moveTo>
                    <a:pt x="1333500" y="561975"/>
                  </a:moveTo>
                  <a:lnTo>
                    <a:pt x="0" y="561975"/>
                  </a:lnTo>
                  <a:lnTo>
                    <a:pt x="0" y="857250"/>
                  </a:lnTo>
                  <a:lnTo>
                    <a:pt x="1333500" y="857250"/>
                  </a:lnTo>
                  <a:lnTo>
                    <a:pt x="1333500" y="561975"/>
                  </a:lnTo>
                  <a:close/>
                </a:path>
                <a:path w="1333500" h="857250">
                  <a:moveTo>
                    <a:pt x="1333500" y="0"/>
                  </a:moveTo>
                  <a:lnTo>
                    <a:pt x="0" y="0"/>
                  </a:lnTo>
                  <a:lnTo>
                    <a:pt x="0" y="295275"/>
                  </a:lnTo>
                  <a:lnTo>
                    <a:pt x="1333500" y="295275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2515838" y="6248399"/>
              <a:ext cx="1447800" cy="1981200"/>
            </a:xfrm>
            <a:custGeom>
              <a:avLst/>
              <a:gdLst/>
              <a:ahLst/>
              <a:cxnLst/>
              <a:rect l="l" t="t" r="r" b="b"/>
              <a:pathLst>
                <a:path w="1447800" h="1981200">
                  <a:moveTo>
                    <a:pt x="1333500" y="1695450"/>
                  </a:moveTo>
                  <a:lnTo>
                    <a:pt x="0" y="1695450"/>
                  </a:lnTo>
                  <a:lnTo>
                    <a:pt x="0" y="1981200"/>
                  </a:lnTo>
                  <a:lnTo>
                    <a:pt x="1333500" y="1981200"/>
                  </a:lnTo>
                  <a:lnTo>
                    <a:pt x="1333500" y="1695450"/>
                  </a:lnTo>
                  <a:close/>
                </a:path>
                <a:path w="1447800" h="1981200">
                  <a:moveTo>
                    <a:pt x="1447800" y="1123950"/>
                  </a:moveTo>
                  <a:lnTo>
                    <a:pt x="0" y="1123950"/>
                  </a:lnTo>
                  <a:lnTo>
                    <a:pt x="0" y="1419225"/>
                  </a:lnTo>
                  <a:lnTo>
                    <a:pt x="1447800" y="1419225"/>
                  </a:lnTo>
                  <a:lnTo>
                    <a:pt x="1447800" y="1123950"/>
                  </a:lnTo>
                  <a:close/>
                </a:path>
                <a:path w="1447800" h="1981200">
                  <a:moveTo>
                    <a:pt x="1447800" y="561975"/>
                  </a:moveTo>
                  <a:lnTo>
                    <a:pt x="0" y="561975"/>
                  </a:lnTo>
                  <a:lnTo>
                    <a:pt x="0" y="847725"/>
                  </a:lnTo>
                  <a:lnTo>
                    <a:pt x="1447800" y="847725"/>
                  </a:lnTo>
                  <a:lnTo>
                    <a:pt x="1447800" y="561975"/>
                  </a:lnTo>
                  <a:close/>
                </a:path>
                <a:path w="1447800" h="1981200">
                  <a:moveTo>
                    <a:pt x="1447800" y="0"/>
                  </a:moveTo>
                  <a:lnTo>
                    <a:pt x="0" y="0"/>
                  </a:lnTo>
                  <a:lnTo>
                    <a:pt x="0" y="285750"/>
                  </a:lnTo>
                  <a:lnTo>
                    <a:pt x="1447800" y="285750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2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118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dirty="0" spc="-365"/>
              <a:t>MR</a:t>
            </a:r>
            <a:r>
              <a:rPr dirty="0" sz="6300" spc="-365">
                <a:latin typeface="Tahoma"/>
                <a:cs typeface="Tahoma"/>
              </a:rPr>
              <a:t>-</a:t>
            </a:r>
            <a:r>
              <a:rPr dirty="0" spc="-315"/>
              <a:t>II</a:t>
            </a:r>
            <a:r>
              <a:rPr dirty="0" spc="-280"/>
              <a:t> </a:t>
            </a:r>
            <a:r>
              <a:rPr dirty="0" spc="-300"/>
              <a:t>Immunization</a:t>
            </a:r>
            <a:r>
              <a:rPr dirty="0" spc="-500"/>
              <a:t> </a:t>
            </a:r>
            <a:r>
              <a:rPr dirty="0" spc="-275"/>
              <a:t>Coverage</a:t>
            </a:r>
            <a:endParaRPr sz="6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300" spc="-105" b="0">
                <a:solidFill>
                  <a:srgbClr val="666666"/>
                </a:solidFill>
                <a:latin typeface="Microsoft Sans Serif"/>
                <a:cs typeface="Microsoft Sans Serif"/>
              </a:rPr>
              <a:t>MR</a:t>
            </a:r>
            <a:r>
              <a:rPr dirty="0" sz="2300" spc="-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Dose-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2</a:t>
            </a:r>
            <a:r>
              <a:rPr dirty="0" sz="2300" spc="7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performance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(%)</a:t>
            </a:r>
            <a:r>
              <a:rPr dirty="0" sz="2300" spc="20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90" b="0">
                <a:solidFill>
                  <a:srgbClr val="666666"/>
                </a:solidFill>
                <a:latin typeface="Microsoft Sans Serif"/>
                <a:cs typeface="Microsoft Sans Serif"/>
              </a:rPr>
              <a:t>HSC</a:t>
            </a:r>
            <a:r>
              <a:rPr dirty="0" sz="2300" spc="-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sector</a:t>
            </a:r>
            <a:r>
              <a:rPr dirty="0" sz="2300" spc="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representative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sample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828799" y="3328983"/>
          <a:ext cx="14706600" cy="50571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0"/>
              </a:tblGrid>
              <a:tr h="55181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050"/>
                        </a:spcBef>
                        <a:tabLst>
                          <a:tab pos="3947160" algn="l"/>
                          <a:tab pos="9186545" algn="l"/>
                          <a:tab pos="10681970" algn="l"/>
                        </a:tabLst>
                      </a:pP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HSC</a:t>
                      </a:r>
                      <a:r>
                        <a:rPr dirty="0" sz="1650" spc="7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7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SECTOR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PHC</a:t>
                      </a:r>
                      <a:r>
                        <a:rPr dirty="0" sz="1650" spc="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6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UPHC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650" spc="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MR-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II</a:t>
                      </a:r>
                      <a:r>
                        <a:rPr dirty="0" sz="1650" spc="1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8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</a:tr>
              <a:tr h="55689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25"/>
                        </a:spcBef>
                        <a:tabLst>
                          <a:tab pos="3947160" algn="l"/>
                          <a:tab pos="934085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Ammundi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Thiruvalam</a:t>
                      </a:r>
                      <a:r>
                        <a:rPr dirty="0" sz="1850" spc="-9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117%</a:t>
                      </a:r>
                      <a:r>
                        <a:rPr dirty="0" sz="180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2962" sz="2250" spc="-3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baseline="12962" sz="2250" spc="-97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962" sz="2250" spc="-1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962" sz="2250">
                        <a:latin typeface="Arial"/>
                        <a:cs typeface="Arial"/>
                      </a:endParaRPr>
                    </a:p>
                  </a:txBody>
                  <a:tcPr marL="0" marR="0" marB="0" marT="117475"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1481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Kagithapattarai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Sathuvachari</a:t>
                      </a:r>
                      <a:r>
                        <a:rPr dirty="0" sz="1850" spc="-10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125%</a:t>
                      </a:r>
                      <a:r>
                        <a:rPr dirty="0" sz="180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1111" sz="2250" spc="-3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Over</a:t>
                      </a:r>
                      <a:r>
                        <a:rPr dirty="0" baseline="11111" sz="2250" spc="-97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1111" sz="2250" spc="-1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1111" sz="2250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3947160" algn="l"/>
                          <a:tab pos="935736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Nagar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Pernambut</a:t>
                      </a:r>
                      <a:r>
                        <a:rPr dirty="0" sz="1850" spc="-4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5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93%</a:t>
                      </a:r>
                      <a:r>
                        <a:rPr dirty="0" sz="1800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	</a:t>
                      </a:r>
                      <a:r>
                        <a:rPr dirty="0" baseline="11111" sz="225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Near</a:t>
                      </a:r>
                      <a:r>
                        <a:rPr dirty="0" baseline="11111" sz="2250" spc="-97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1111" sz="2250" spc="-1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1111" sz="2250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672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Serpadi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Odugathur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-25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98%</a:t>
                      </a:r>
                      <a:r>
                        <a:rPr dirty="0" sz="1800">
                          <a:solidFill>
                            <a:srgbClr val="666666"/>
                          </a:solidFill>
                          <a:latin typeface="Arial Black"/>
                          <a:cs typeface="Arial Black"/>
                        </a:rPr>
                        <a:t>	</a:t>
                      </a:r>
                      <a:r>
                        <a:rPr dirty="0" baseline="12962" sz="225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Near</a:t>
                      </a:r>
                      <a:r>
                        <a:rPr dirty="0" baseline="12962" sz="2250" spc="-97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962" sz="2250" spc="-1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962" sz="2250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6561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Muslimpur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Melpatti</a:t>
                      </a:r>
                      <a:r>
                        <a:rPr dirty="0" sz="1850" spc="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4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79%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0752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0752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0752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0752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10"/>
                        </a:spcBef>
                        <a:tabLst>
                          <a:tab pos="3947160" algn="l"/>
                          <a:tab pos="936688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Palayam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Kaspa</a:t>
                      </a:r>
                      <a:r>
                        <a:rPr dirty="0" sz="1850" spc="-9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3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73%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0752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0752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0752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0752" sz="2325">
                        <a:latin typeface="Arial"/>
                        <a:cs typeface="Arial"/>
                      </a:endParaRPr>
                    </a:p>
                  </a:txBody>
                  <a:tcPr marL="0" marR="0" marB="0" marT="1028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4185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Velapadi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Lakshmipuram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1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60%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2544" sz="2325" spc="-7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Below</a:t>
                      </a:r>
                      <a:r>
                        <a:rPr dirty="0" baseline="12544" sz="2325" spc="-23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2544" sz="2325" spc="-15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baseline="12544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3947160" algn="l"/>
                          <a:tab pos="9357360" algn="l"/>
                          <a:tab pos="10828655" algn="l"/>
                        </a:tabLst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Salavanpalayam</a:t>
                      </a:r>
                      <a:r>
                        <a:rPr dirty="0" sz="185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Ambethkar</a:t>
                      </a:r>
                      <a:r>
                        <a:rPr dirty="0" sz="1850" spc="-1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dirty="0" sz="1800" spc="8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36%</a:t>
                      </a:r>
                      <a:r>
                        <a:rPr dirty="0" sz="18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10752" sz="2325" spc="-52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Critical</a:t>
                      </a:r>
                      <a:r>
                        <a:rPr dirty="0" baseline="10752" sz="2325" spc="-97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baseline="10752" sz="2325" spc="-37" b="1">
                          <a:solidFill>
                            <a:srgbClr val="C25934"/>
                          </a:solidFill>
                          <a:latin typeface="Arial"/>
                          <a:cs typeface="Arial"/>
                        </a:rPr>
                        <a:t>Gap</a:t>
                      </a:r>
                      <a:endParaRPr baseline="10752" sz="2325">
                        <a:latin typeface="Arial"/>
                        <a:cs typeface="Arial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816099" y="8600395"/>
            <a:ext cx="11001375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MR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II</a:t>
            </a:r>
            <a:r>
              <a:rPr dirty="0" sz="1700" spc="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gaps</a:t>
            </a:r>
            <a:r>
              <a:rPr dirty="0" sz="1700" spc="-2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are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often</a:t>
            </a:r>
            <a:r>
              <a:rPr dirty="0" sz="1700" spc="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wider</a:t>
            </a:r>
            <a:r>
              <a:rPr dirty="0" sz="1700" spc="-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than</a:t>
            </a:r>
            <a:r>
              <a:rPr dirty="0" sz="1700" spc="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MR</a:t>
            </a:r>
            <a:r>
              <a:rPr dirty="0" sz="1650" spc="-2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I</a:t>
            </a:r>
            <a:r>
              <a:rPr dirty="0" sz="1700" spc="8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760">
                <a:solidFill>
                  <a:srgbClr val="999999"/>
                </a:solidFill>
                <a:latin typeface="Microsoft Sans Serif"/>
                <a:cs typeface="Microsoft Sans Serif"/>
              </a:rPr>
              <a:t>—</a:t>
            </a:r>
            <a:r>
              <a:rPr dirty="0" sz="1650" spc="-1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second dose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follow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-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up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requires</a:t>
            </a:r>
            <a:r>
              <a:rPr dirty="0" sz="1700" spc="-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targeted</a:t>
            </a:r>
            <a:r>
              <a:rPr dirty="0" sz="1700" spc="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outreach</a:t>
            </a:r>
            <a:r>
              <a:rPr dirty="0" sz="1700" spc="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for</a:t>
            </a:r>
            <a:r>
              <a:rPr dirty="0" sz="1700" spc="-4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missed</a:t>
            </a:r>
            <a:r>
              <a:rPr dirty="0" sz="1700" spc="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beneficiaries</a:t>
            </a:r>
            <a:r>
              <a:rPr dirty="0" sz="1650" spc="-10">
                <a:solidFill>
                  <a:srgbClr val="999999"/>
                </a:solidFill>
                <a:latin typeface="Microsoft Sans Serif"/>
                <a:cs typeface="Microsoft Sans Serif"/>
              </a:rPr>
              <a:t>.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1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dirty="0" spc="-254"/>
              <a:t>MR</a:t>
            </a:r>
            <a:r>
              <a:rPr dirty="0" spc="-765"/>
              <a:t> </a:t>
            </a:r>
            <a:r>
              <a:rPr dirty="0" spc="-325"/>
              <a:t>Dropout</a:t>
            </a:r>
            <a:r>
              <a:rPr dirty="0" spc="-655"/>
              <a:t> </a:t>
            </a:r>
            <a:r>
              <a:rPr dirty="0" spc="-570"/>
              <a:t>A</a:t>
            </a:r>
            <a:r>
              <a:rPr dirty="0" spc="-254"/>
              <a:t>n</a:t>
            </a:r>
            <a:r>
              <a:rPr dirty="0" spc="-245"/>
              <a:t>a</a:t>
            </a:r>
            <a:r>
              <a:rPr dirty="0"/>
              <a:t>l</a:t>
            </a:r>
            <a:r>
              <a:rPr dirty="0" spc="-530"/>
              <a:t>y</a:t>
            </a:r>
            <a:r>
              <a:rPr dirty="0" spc="-400"/>
              <a:t>s</a:t>
            </a:r>
            <a:r>
              <a:rPr dirty="0" spc="-105"/>
              <a:t>i</a:t>
            </a:r>
            <a:r>
              <a:rPr dirty="0" spc="-204"/>
              <a:t>s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MR-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I</a:t>
            </a:r>
            <a:r>
              <a:rPr dirty="0" sz="2300" spc="10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to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MR-</a:t>
            </a:r>
            <a:r>
              <a:rPr dirty="0" sz="2300" spc="-25" b="0">
                <a:solidFill>
                  <a:srgbClr val="666666"/>
                </a:solidFill>
                <a:latin typeface="Microsoft Sans Serif"/>
                <a:cs typeface="Microsoft Sans Serif"/>
              </a:rPr>
              <a:t>II</a:t>
            </a:r>
            <a:r>
              <a:rPr dirty="0" sz="2300" spc="1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dropout</a:t>
            </a:r>
            <a:r>
              <a:rPr dirty="0" sz="2300" spc="-5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rate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0" b="0">
                <a:solidFill>
                  <a:srgbClr val="666666"/>
                </a:solidFill>
                <a:latin typeface="Microsoft Sans Serif"/>
                <a:cs typeface="Microsoft Sans Serif"/>
              </a:rPr>
              <a:t>by</a:t>
            </a:r>
            <a:r>
              <a:rPr dirty="0" sz="2300" spc="-90" b="0">
                <a:solidFill>
                  <a:srgbClr val="666666"/>
                </a:solidFill>
                <a:latin typeface="Microsoft Sans Serif"/>
                <a:cs typeface="Microsoft Sans Serif"/>
              </a:rPr>
              <a:t> HSC</a:t>
            </a:r>
            <a:r>
              <a:rPr dirty="0" sz="2300" spc="-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positive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value</a:t>
            </a:r>
            <a:r>
              <a:rPr dirty="0" sz="2300" spc="-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=</a:t>
            </a:r>
            <a:r>
              <a:rPr dirty="0" sz="2300" spc="10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children</a:t>
            </a:r>
            <a:r>
              <a:rPr dirty="0" sz="2300" spc="3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missed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2300" spc="-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second</a:t>
            </a:r>
            <a:r>
              <a:rPr dirty="0" sz="2300" spc="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dose</a:t>
            </a:r>
            <a:endParaRPr sz="230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28799" y="3328982"/>
          <a:ext cx="8629650" cy="45631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7125"/>
                <a:gridCol w="2973704"/>
                <a:gridCol w="1577340"/>
                <a:gridCol w="1607184"/>
              </a:tblGrid>
              <a:tr h="84709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HSC</a:t>
                      </a:r>
                      <a:r>
                        <a:rPr dirty="0" sz="1650" spc="-1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-10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SECTOR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PHC</a:t>
                      </a:r>
                      <a:r>
                        <a:rPr dirty="0" sz="1650" spc="-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-1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UPHC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27329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MR-</a:t>
                      </a:r>
                      <a:r>
                        <a:rPr dirty="0" sz="1650" spc="-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1650">
                        <a:latin typeface="Arial"/>
                        <a:cs typeface="Arial"/>
                      </a:endParaRPr>
                    </a:p>
                    <a:p>
                      <a:pPr algn="ctr" marL="24257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DROPOUT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7940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MR-</a:t>
                      </a:r>
                      <a:r>
                        <a:rPr dirty="0" sz="165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II</a:t>
                      </a:r>
                      <a:endParaRPr sz="1650">
                        <a:latin typeface="Arial"/>
                        <a:cs typeface="Arial"/>
                      </a:endParaRPr>
                    </a:p>
                    <a:p>
                      <a:pPr algn="ctr" marR="26416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DROPOUT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solidFill>
                      <a:srgbClr val="3C5980"/>
                    </a:solidFill>
                  </a:tcPr>
                </a:tc>
              </a:tr>
              <a:tr h="56642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dirty="0" sz="200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Palayam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8425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2ED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Kaspa</a:t>
                      </a:r>
                      <a:r>
                        <a:rPr dirty="0" sz="1850" spc="-9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7475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2ED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4419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800" spc="17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800" spc="20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3825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2ED"/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800" spc="9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+8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3825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2ED"/>
                    </a:solidFill>
                  </a:tcPr>
                </a:tc>
              </a:tr>
              <a:tr h="89471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Vallalar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Alamelumangapuram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  <a:p>
                      <a:pPr marL="3543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27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21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800" spc="13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9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+6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Muslimpur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Melpatti</a:t>
                      </a:r>
                      <a:r>
                        <a:rPr dirty="0" sz="1850" spc="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099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12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+4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52197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7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+5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Velapadi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Lakshmipuram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2070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4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+2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1943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85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+3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0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Chinnaallapuram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Kaspa</a:t>
                      </a:r>
                      <a:r>
                        <a:rPr dirty="0" sz="1850" spc="-9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19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4038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21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800" spc="3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5187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800" spc="95" b="1">
                          <a:solidFill>
                            <a:srgbClr val="545454"/>
                          </a:solidFill>
                          <a:latin typeface="Arial"/>
                          <a:cs typeface="Arial"/>
                        </a:rPr>
                        <a:t>+6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850" spc="-10">
                          <a:solidFill>
                            <a:srgbClr val="111111"/>
                          </a:solidFill>
                          <a:latin typeface="Microsoft Sans Serif"/>
                          <a:cs typeface="Microsoft Sans Serif"/>
                        </a:rPr>
                        <a:t>Arasamarapet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5433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Ambethkar</a:t>
                      </a:r>
                      <a:r>
                        <a:rPr dirty="0" sz="1850" spc="-1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UPHC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123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53784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800" spc="20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800" spc="70" b="1">
                          <a:solidFill>
                            <a:srgbClr val="ED6B4D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4292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dirty="0" sz="1800" spc="-2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+1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187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1115674" y="3333745"/>
            <a:ext cx="5343525" cy="2543175"/>
            <a:chOff x="11115674" y="3333745"/>
            <a:chExt cx="5343525" cy="2543175"/>
          </a:xfrm>
        </p:grpSpPr>
        <p:sp>
          <p:nvSpPr>
            <p:cNvPr id="8" name="object 8"/>
            <p:cNvSpPr/>
            <p:nvPr/>
          </p:nvSpPr>
          <p:spPr>
            <a:xfrm>
              <a:off x="11115674" y="3333745"/>
              <a:ext cx="5343525" cy="2543175"/>
            </a:xfrm>
            <a:custGeom>
              <a:avLst/>
              <a:gdLst/>
              <a:ahLst/>
              <a:cxnLst/>
              <a:rect l="l" t="t" r="r" b="b"/>
              <a:pathLst>
                <a:path w="5343525" h="2543175">
                  <a:moveTo>
                    <a:pt x="5343524" y="2543174"/>
                  </a:moveTo>
                  <a:lnTo>
                    <a:pt x="0" y="2543174"/>
                  </a:lnTo>
                  <a:lnTo>
                    <a:pt x="0" y="0"/>
                  </a:lnTo>
                  <a:lnTo>
                    <a:pt x="5343524" y="0"/>
                  </a:lnTo>
                  <a:lnTo>
                    <a:pt x="5343524" y="2543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487149" y="4438645"/>
              <a:ext cx="247650" cy="28575"/>
            </a:xfrm>
            <a:custGeom>
              <a:avLst/>
              <a:gdLst/>
              <a:ahLst/>
              <a:cxnLst/>
              <a:rect l="l" t="t" r="r" b="b"/>
              <a:pathLst>
                <a:path w="247650" h="28575">
                  <a:moveTo>
                    <a:pt x="2476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247649" y="0"/>
                  </a:lnTo>
                  <a:lnTo>
                    <a:pt x="247649" y="28574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487149" y="5172070"/>
              <a:ext cx="238125" cy="28575"/>
            </a:xfrm>
            <a:custGeom>
              <a:avLst/>
              <a:gdLst/>
              <a:ahLst/>
              <a:cxnLst/>
              <a:rect l="l" t="t" r="r" b="b"/>
              <a:pathLst>
                <a:path w="238125" h="28575">
                  <a:moveTo>
                    <a:pt x="23812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238124" y="0"/>
                  </a:lnTo>
                  <a:lnTo>
                    <a:pt x="238124" y="28574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120436" y="3338507"/>
            <a:ext cx="5334000" cy="2533650"/>
          </a:xfrm>
          <a:prstGeom prst="rect">
            <a:avLst/>
          </a:prstGeom>
          <a:ln w="9524">
            <a:solidFill>
              <a:srgbClr val="DFDFDF"/>
            </a:solidFill>
          </a:ln>
        </p:spPr>
        <p:txBody>
          <a:bodyPr wrap="square" lIns="0" tIns="173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70"/>
              </a:spcBef>
            </a:pPr>
            <a:endParaRPr sz="145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dirty="0" sz="1500" b="1">
                <a:solidFill>
                  <a:srgbClr val="3C5980"/>
                </a:solidFill>
                <a:latin typeface="Arial"/>
                <a:cs typeface="Arial"/>
              </a:rPr>
              <a:t>HOW</a:t>
            </a:r>
            <a:r>
              <a:rPr dirty="0" sz="1500" spc="-15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3C5980"/>
                </a:solidFill>
                <a:latin typeface="Arial"/>
                <a:cs typeface="Arial"/>
              </a:rPr>
              <a:t>TO</a:t>
            </a:r>
            <a:r>
              <a:rPr dirty="0" sz="1500" spc="-5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3C5980"/>
                </a:solidFill>
                <a:latin typeface="Arial"/>
                <a:cs typeface="Arial"/>
              </a:rPr>
              <a:t>READ</a:t>
            </a:r>
            <a:endParaRPr sz="1500">
              <a:latin typeface="Arial"/>
              <a:cs typeface="Arial"/>
            </a:endParaRPr>
          </a:p>
          <a:p>
            <a:pPr marL="793115" marR="375285">
              <a:lnSpc>
                <a:spcPct val="117900"/>
              </a:lnSpc>
              <a:spcBef>
                <a:spcPts val="1175"/>
              </a:spcBef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Positive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(+):</a:t>
            </a:r>
            <a:r>
              <a:rPr dirty="0" sz="1750" spc="1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children</a:t>
            </a:r>
            <a:r>
              <a:rPr dirty="0" sz="175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not</a:t>
            </a:r>
            <a:r>
              <a:rPr dirty="0" sz="1750" spc="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returning</a:t>
            </a:r>
            <a:r>
              <a:rPr dirty="0" sz="1750" spc="1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2nd </a:t>
            </a:r>
            <a:r>
              <a:rPr dirty="0" sz="1750" spc="-20">
                <a:solidFill>
                  <a:srgbClr val="545454"/>
                </a:solidFill>
                <a:latin typeface="Microsoft Sans Serif"/>
                <a:cs typeface="Microsoft Sans Serif"/>
              </a:rPr>
              <a:t>dose</a:t>
            </a:r>
            <a:endParaRPr sz="1750">
              <a:latin typeface="Microsoft Sans Serif"/>
              <a:cs typeface="Microsoft Sans Serif"/>
            </a:endParaRPr>
          </a:p>
          <a:p>
            <a:pPr marL="786765" marR="796925">
              <a:lnSpc>
                <a:spcPct val="117900"/>
              </a:lnSpc>
              <a:spcBef>
                <a:spcPts val="819"/>
              </a:spcBef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Negative</a:t>
            </a:r>
            <a:r>
              <a:rPr dirty="0" sz="17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90">
                <a:solidFill>
                  <a:srgbClr val="545454"/>
                </a:solidFill>
                <a:latin typeface="Microsoft Sans Serif"/>
                <a:cs typeface="Microsoft Sans Serif"/>
              </a:rPr>
              <a:t>(-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):</a:t>
            </a:r>
            <a:r>
              <a:rPr dirty="0" sz="17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more</a:t>
            </a:r>
            <a:r>
              <a:rPr dirty="0" sz="17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2nd</a:t>
            </a:r>
            <a:r>
              <a:rPr dirty="0" sz="1750" spc="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doses than</a:t>
            </a:r>
            <a:r>
              <a:rPr dirty="0" sz="17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70">
                <a:solidFill>
                  <a:srgbClr val="545454"/>
                </a:solidFill>
                <a:latin typeface="Microsoft Sans Serif"/>
                <a:cs typeface="Microsoft Sans Serif"/>
              </a:rPr>
              <a:t>1st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(catch-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up)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115674" y="6086470"/>
            <a:ext cx="5343525" cy="2476500"/>
            <a:chOff x="11115674" y="6086470"/>
            <a:chExt cx="5343525" cy="2476500"/>
          </a:xfrm>
        </p:grpSpPr>
        <p:sp>
          <p:nvSpPr>
            <p:cNvPr id="13" name="object 13"/>
            <p:cNvSpPr/>
            <p:nvPr/>
          </p:nvSpPr>
          <p:spPr>
            <a:xfrm>
              <a:off x="11115674" y="6086470"/>
              <a:ext cx="5343525" cy="2476500"/>
            </a:xfrm>
            <a:custGeom>
              <a:avLst/>
              <a:gdLst/>
              <a:ahLst/>
              <a:cxnLst/>
              <a:rect l="l" t="t" r="r" b="b"/>
              <a:pathLst>
                <a:path w="5343525" h="2476500">
                  <a:moveTo>
                    <a:pt x="5343524" y="2476499"/>
                  </a:moveTo>
                  <a:lnTo>
                    <a:pt x="0" y="2476499"/>
                  </a:lnTo>
                  <a:lnTo>
                    <a:pt x="0" y="0"/>
                  </a:lnTo>
                  <a:lnTo>
                    <a:pt x="5343524" y="0"/>
                  </a:lnTo>
                  <a:lnTo>
                    <a:pt x="5343524" y="2476499"/>
                  </a:lnTo>
                  <a:close/>
                </a:path>
              </a:pathLst>
            </a:custGeom>
            <a:solidFill>
              <a:srgbClr val="FFF2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115674" y="6086470"/>
              <a:ext cx="38100" cy="2476500"/>
            </a:xfrm>
            <a:custGeom>
              <a:avLst/>
              <a:gdLst/>
              <a:ahLst/>
              <a:cxnLst/>
              <a:rect l="l" t="t" r="r" b="b"/>
              <a:pathLst>
                <a:path w="38100" h="2476500">
                  <a:moveTo>
                    <a:pt x="38099" y="2476499"/>
                  </a:moveTo>
                  <a:lnTo>
                    <a:pt x="0" y="24764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476499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153774" y="6280879"/>
            <a:ext cx="5305425" cy="1883410"/>
          </a:xfrm>
          <a:prstGeom prst="rect">
            <a:avLst/>
          </a:prstGeom>
        </p:spPr>
        <p:txBody>
          <a:bodyPr wrap="square" lIns="0" tIns="170815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1345"/>
              </a:spcBef>
            </a:pPr>
            <a:r>
              <a:rPr dirty="0" sz="1700" spc="-50" b="1">
                <a:solidFill>
                  <a:srgbClr val="C25934"/>
                </a:solidFill>
                <a:latin typeface="Arial"/>
                <a:cs typeface="Arial"/>
              </a:rPr>
              <a:t>Concern</a:t>
            </a:r>
            <a:r>
              <a:rPr dirty="0" sz="1700" spc="-7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C25934"/>
                </a:solidFill>
                <a:latin typeface="Arial"/>
                <a:cs typeface="Arial"/>
              </a:rPr>
              <a:t>Areas</a:t>
            </a:r>
            <a:endParaRPr sz="1700">
              <a:latin typeface="Arial"/>
              <a:cs typeface="Arial"/>
            </a:endParaRPr>
          </a:p>
          <a:p>
            <a:pPr marL="363220" marR="543560">
              <a:lnSpc>
                <a:spcPct val="126200"/>
              </a:lnSpc>
              <a:spcBef>
                <a:spcPts val="735"/>
              </a:spcBef>
            </a:pPr>
            <a:r>
              <a:rPr dirty="0" sz="1750" spc="-45">
                <a:solidFill>
                  <a:srgbClr val="545454"/>
                </a:solidFill>
                <a:latin typeface="Microsoft Sans Serif"/>
                <a:cs typeface="Microsoft Sans Serif"/>
              </a:rPr>
              <a:t>R.N.Palayam</a:t>
            </a:r>
            <a:r>
              <a:rPr dirty="0" sz="17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(+8)</a:t>
            </a:r>
            <a:r>
              <a:rPr dirty="0" sz="1750" spc="1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545454"/>
                </a:solidFill>
                <a:latin typeface="Microsoft Sans Serif"/>
                <a:cs typeface="Microsoft Sans Serif"/>
              </a:rPr>
              <a:t>Vallalar</a:t>
            </a:r>
            <a:r>
              <a:rPr dirty="0" sz="175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(+6)</a:t>
            </a:r>
            <a:r>
              <a:rPr dirty="0" sz="1750" spc="1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show</a:t>
            </a:r>
            <a:r>
              <a:rPr dirty="0" sz="17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th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e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highest</a:t>
            </a:r>
            <a:r>
              <a:rPr dirty="0" sz="17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MR-II</a:t>
            </a:r>
            <a:r>
              <a:rPr dirty="0" sz="1750" spc="1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dropout</a:t>
            </a:r>
            <a:r>
              <a:rPr dirty="0" sz="17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95">
                <a:solidFill>
                  <a:srgbClr val="545454"/>
                </a:solidFill>
                <a:latin typeface="Microsoft Sans Serif"/>
                <a:cs typeface="Microsoft Sans Serif"/>
              </a:rPr>
              <a:t>—</a:t>
            </a:r>
            <a:r>
              <a:rPr dirty="0" sz="1750" spc="-1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these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sectors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require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targeted</a:t>
            </a:r>
            <a:r>
              <a:rPr dirty="0" sz="175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follow-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up</a:t>
            </a:r>
            <a:r>
              <a:rPr dirty="0" sz="1750" spc="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complete</a:t>
            </a:r>
            <a:r>
              <a:rPr dirty="0" sz="1750" spc="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the </a:t>
            </a:r>
            <a:r>
              <a:rPr dirty="0" sz="1750" spc="75">
                <a:solidFill>
                  <a:srgbClr val="545454"/>
                </a:solidFill>
                <a:latin typeface="Microsoft Sans Serif"/>
                <a:cs typeface="Microsoft Sans Serif"/>
              </a:rPr>
              <a:t>two-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dose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schedule.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5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325"/>
              <a:t>High</a:t>
            </a:r>
            <a:r>
              <a:rPr dirty="0" spc="-500"/>
              <a:t> </a:t>
            </a:r>
            <a:r>
              <a:rPr dirty="0" spc="-390"/>
              <a:t>Burden</a:t>
            </a:r>
            <a:r>
              <a:rPr dirty="0" spc="-500"/>
              <a:t> </a:t>
            </a:r>
            <a:r>
              <a:rPr dirty="0" spc="-345"/>
              <a:t>PHC</a:t>
            </a:r>
            <a:r>
              <a:rPr dirty="0" spc="-700"/>
              <a:t> </a:t>
            </a:r>
            <a:r>
              <a:rPr dirty="0" spc="-270"/>
              <a:t>Areas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Top</a:t>
            </a:r>
            <a:r>
              <a:rPr dirty="0" sz="2300" spc="-7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5</a:t>
            </a:r>
            <a:r>
              <a:rPr dirty="0" sz="2300" spc="-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90" b="0">
                <a:solidFill>
                  <a:srgbClr val="666666"/>
                </a:solidFill>
                <a:latin typeface="Microsoft Sans Serif"/>
                <a:cs typeface="Microsoft Sans Serif"/>
              </a:rPr>
              <a:t>PHC</a:t>
            </a:r>
            <a:r>
              <a:rPr dirty="0" sz="2300" spc="-6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50" b="0">
                <a:solidFill>
                  <a:srgbClr val="666666"/>
                </a:solidFill>
                <a:latin typeface="Microsoft Sans Serif"/>
                <a:cs typeface="Microsoft Sans Serif"/>
              </a:rPr>
              <a:t>/</a:t>
            </a:r>
            <a:r>
              <a:rPr dirty="0" sz="2300" spc="-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80" b="0">
                <a:solidFill>
                  <a:srgbClr val="666666"/>
                </a:solidFill>
                <a:latin typeface="Microsoft Sans Serif"/>
                <a:cs typeface="Microsoft Sans Serif"/>
              </a:rPr>
              <a:t>UPHC</a:t>
            </a:r>
            <a:r>
              <a:rPr dirty="0" sz="2300" spc="-6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areas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case</a:t>
            </a:r>
            <a:r>
              <a:rPr dirty="0" sz="2300" spc="-4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profile</a:t>
            </a:r>
            <a:r>
              <a:rPr dirty="0" sz="2300" spc="-4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characteristics</a:t>
            </a:r>
            <a:endParaRPr sz="230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28799" y="3386132"/>
          <a:ext cx="14706600" cy="533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2954"/>
                <a:gridCol w="1584960"/>
                <a:gridCol w="2001519"/>
                <a:gridCol w="3552825"/>
                <a:gridCol w="4166870"/>
              </a:tblGrid>
              <a:tr h="56134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6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PHC</a:t>
                      </a:r>
                      <a:r>
                        <a:rPr dirty="0" sz="1650" spc="-114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19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650" spc="-1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UPHC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1785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CASES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650" spc="-1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r>
                        <a:rPr dirty="0" sz="165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RANGE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65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IMM.</a:t>
                      </a:r>
                      <a:r>
                        <a:rPr dirty="0" sz="1650" spc="1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solidFill>
                      <a:srgbClr val="3C5980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6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650" spc="-1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HSC</a:t>
                      </a:r>
                      <a:r>
                        <a:rPr dirty="0" sz="1650" spc="-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SECTORS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42875">
                    <a:solidFill>
                      <a:srgbClr val="3C5980"/>
                    </a:solidFill>
                  </a:tcPr>
                </a:tc>
              </a:tr>
              <a:tr h="96139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dirty="0" sz="195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Kaspa</a:t>
                      </a:r>
                      <a:r>
                        <a:rPr dirty="0" sz="1950" spc="-10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UPHC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700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Urban</a:t>
                      </a:r>
                      <a:r>
                        <a:rPr dirty="0" sz="1700" spc="-6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700" spc="-2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2400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166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2750" spc="-50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155575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dirty="0" sz="1800" spc="1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mo</a:t>
                      </a:r>
                      <a:r>
                        <a:rPr dirty="0" sz="1850" spc="-3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dirty="0" sz="1800" spc="-8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1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18</a:t>
                      </a:r>
                      <a:r>
                        <a:rPr dirty="0" sz="1800" spc="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yr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6050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Completely</a:t>
                      </a:r>
                      <a:r>
                        <a:rPr dirty="0" sz="1850" spc="-1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Immunised</a:t>
                      </a:r>
                      <a:r>
                        <a:rPr dirty="0" sz="1850" spc="-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(5),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Unknown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(2)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6050"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 marL="120650" marR="1196340">
                        <a:lnSpc>
                          <a:spcPct val="118200"/>
                        </a:lnSpc>
                        <a:spcBef>
                          <a:spcPts val="745"/>
                        </a:spcBef>
                      </a:pP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dirty="0" sz="180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N</a:t>
                      </a:r>
                      <a:r>
                        <a:rPr dirty="0" sz="180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Palayam</a:t>
                      </a:r>
                      <a:r>
                        <a:rPr dirty="0" sz="180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dirty="0" sz="1800" spc="7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Shariff</a:t>
                      </a:r>
                      <a:r>
                        <a:rPr dirty="0" sz="1850" spc="-6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3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Nagar</a:t>
                      </a:r>
                      <a:r>
                        <a:rPr dirty="0" sz="1800" spc="-3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, </a:t>
                      </a:r>
                      <a:r>
                        <a:rPr dirty="0" sz="1850" spc="-3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Chinnaallapuram</a:t>
                      </a:r>
                      <a:r>
                        <a:rPr dirty="0" sz="1800" spc="-3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dirty="0" sz="1800" spc="3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Kaspa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94615">
                    <a:solidFill>
                      <a:srgbClr val="EBF1F7"/>
                    </a:solidFill>
                  </a:tcPr>
                </a:tc>
              </a:tr>
              <a:tr h="947419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2050" spc="-7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Sathuvachari</a:t>
                      </a:r>
                      <a:r>
                        <a:rPr dirty="0" sz="2050" spc="-6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2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UPHC</a:t>
                      </a:r>
                      <a:endParaRPr sz="2050">
                        <a:latin typeface="Arial"/>
                        <a:cs typeface="Arial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700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Urban</a:t>
                      </a:r>
                      <a:r>
                        <a:rPr dirty="0" sz="1700" spc="-6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700" spc="-2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9700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039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2750" spc="8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155575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00" spc="-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dirty="0" sz="1800" spc="1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dirty="0" sz="1800" spc="-5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28</a:t>
                      </a:r>
                      <a:r>
                        <a:rPr dirty="0" sz="1800" spc="4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yr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6050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Completely</a:t>
                      </a:r>
                      <a:r>
                        <a:rPr dirty="0" sz="1850" spc="-1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Immunised</a:t>
                      </a:r>
                      <a:r>
                        <a:rPr dirty="0" sz="1850" spc="-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(3),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Unknown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(2)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6050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Sathuvachari</a:t>
                      </a:r>
                      <a:r>
                        <a:rPr dirty="0" sz="180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dirty="0" sz="1800" spc="3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Kagithapattarai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6050"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050" spc="-8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Latheri</a:t>
                      </a:r>
                      <a:r>
                        <a:rPr dirty="0" sz="2050" spc="-4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2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PHC</a:t>
                      </a:r>
                      <a:endParaRPr sz="2050">
                        <a:latin typeface="Arial"/>
                        <a:cs typeface="Arial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700" spc="-4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Rural</a:t>
                      </a:r>
                      <a:r>
                        <a:rPr dirty="0" sz="1700" spc="-6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700" spc="-2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41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039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2750" spc="14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1600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00" spc="-8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14</a:t>
                      </a:r>
                      <a:r>
                        <a:rPr dirty="0" sz="1800" spc="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dirty="0" sz="1800" spc="-9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27</a:t>
                      </a:r>
                      <a:r>
                        <a:rPr dirty="0" sz="1800" spc="-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3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yr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800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All</a:t>
                      </a:r>
                      <a:r>
                        <a:rPr dirty="0" sz="2000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:</a:t>
                      </a:r>
                      <a:r>
                        <a:rPr dirty="0" sz="2000" spc="10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Unknown</a:t>
                      </a:r>
                      <a:r>
                        <a:rPr dirty="0" sz="1800" spc="15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10">
                          <a:solidFill>
                            <a:srgbClr val="ED6B4D"/>
                          </a:solidFill>
                          <a:latin typeface="Microsoft Sans Serif"/>
                          <a:cs typeface="Microsoft Sans Serif"/>
                        </a:rPr>
                        <a:t>status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314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Latheri</a:t>
                      </a:r>
                      <a:r>
                        <a:rPr dirty="0" sz="1850" spc="-10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sector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961390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050" spc="-8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Pernambut</a:t>
                      </a:r>
                      <a:r>
                        <a:rPr dirty="0" sz="2050" spc="-9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2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UPHC</a:t>
                      </a:r>
                      <a:endParaRPr sz="2050">
                        <a:latin typeface="Arial"/>
                        <a:cs typeface="Arial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700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Urban</a:t>
                      </a:r>
                      <a:r>
                        <a:rPr dirty="0" sz="1700" spc="-6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700" spc="-2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41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039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2750" spc="14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1600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00" spc="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dirty="0" sz="1800" spc="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dirty="0" sz="1800" spc="-8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1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dirty="0" sz="1800" spc="1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yr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Completely</a:t>
                      </a:r>
                      <a:r>
                        <a:rPr dirty="0" sz="1850" spc="-1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Immunised</a:t>
                      </a:r>
                      <a:r>
                        <a:rPr dirty="0" sz="1850" spc="-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(3)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T</a:t>
                      </a:r>
                      <a:r>
                        <a:rPr dirty="0" sz="180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V</a:t>
                      </a:r>
                      <a:r>
                        <a:rPr dirty="0" sz="180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K</a:t>
                      </a:r>
                      <a:r>
                        <a:rPr dirty="0" sz="180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.</a:t>
                      </a:r>
                      <a:r>
                        <a:rPr dirty="0" sz="1850" spc="-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Nagar</a:t>
                      </a:r>
                      <a:r>
                        <a:rPr dirty="0" sz="1850" spc="-1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sector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dirty="0" sz="2050" spc="-9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Pallikonda</a:t>
                      </a:r>
                      <a:r>
                        <a:rPr dirty="0" sz="2050" spc="-60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50" spc="-25" b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PHC</a:t>
                      </a:r>
                      <a:endParaRPr sz="2050">
                        <a:latin typeface="Arial"/>
                        <a:cs typeface="Arial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700" spc="-4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Rural</a:t>
                      </a:r>
                      <a:r>
                        <a:rPr dirty="0" sz="1700" spc="-6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700" spc="-25">
                          <a:solidFill>
                            <a:srgbClr val="777777"/>
                          </a:solidFill>
                          <a:latin typeface="Microsoft Sans Serif"/>
                          <a:cs typeface="Microsoft Sans Serif"/>
                        </a:rPr>
                        <a:t>PHC</a:t>
                      </a:r>
                      <a:endParaRPr sz="17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4414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039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dirty="0" sz="2750" spc="145" b="1">
                          <a:solidFill>
                            <a:srgbClr val="3C5980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750">
                        <a:latin typeface="Arial"/>
                        <a:cs typeface="Arial"/>
                      </a:endParaRPr>
                    </a:p>
                  </a:txBody>
                  <a:tcPr marL="0" marR="0" marB="0" marT="160020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00" spc="-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dirty="0" sz="1800" spc="1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409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dirty="0" sz="1800" spc="-1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7</a:t>
                      </a:r>
                      <a:r>
                        <a:rPr dirty="0" sz="1800" spc="-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yr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Completely</a:t>
                      </a:r>
                      <a:r>
                        <a:rPr dirty="0" sz="1850" spc="-1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5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Immunised</a:t>
                      </a:r>
                      <a:r>
                        <a:rPr dirty="0" sz="1850" spc="-4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(2),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85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Unknown</a:t>
                      </a:r>
                      <a:r>
                        <a:rPr dirty="0" sz="1850" spc="-6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800" spc="-25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(1)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dirty="0" sz="1850" spc="-3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Pallikonda </a:t>
                      </a:r>
                      <a:r>
                        <a:rPr dirty="0" sz="1850" spc="-10">
                          <a:solidFill>
                            <a:srgbClr val="545454"/>
                          </a:solidFill>
                          <a:latin typeface="Microsoft Sans Serif"/>
                          <a:cs typeface="Microsoft Sans Serif"/>
                        </a:rPr>
                        <a:t>sector</a:t>
                      </a:r>
                      <a:endParaRPr sz="185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0495">
                    <a:lnT w="9525">
                      <a:solidFill>
                        <a:srgbClr val="EBEBEB"/>
                      </a:solidFill>
                      <a:prstDash val="solid"/>
                    </a:lnT>
                    <a:lnB w="9525">
                      <a:solidFill>
                        <a:srgbClr val="EBEBEB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816099" y="8981395"/>
            <a:ext cx="1252347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Latheri</a:t>
            </a:r>
            <a:r>
              <a:rPr dirty="0" sz="1700" spc="-11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95">
                <a:solidFill>
                  <a:srgbClr val="999999"/>
                </a:solidFill>
                <a:latin typeface="Microsoft Sans Serif"/>
                <a:cs typeface="Microsoft Sans Serif"/>
              </a:rPr>
              <a:t>PHC</a:t>
            </a:r>
            <a:r>
              <a:rPr dirty="0" sz="1700" spc="-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(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adult</a:t>
            </a:r>
            <a:r>
              <a:rPr dirty="0" sz="1700" spc="-11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cases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,</a:t>
            </a:r>
            <a:r>
              <a:rPr dirty="0" sz="1650" spc="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all</a:t>
            </a:r>
            <a:r>
              <a:rPr dirty="0" sz="1700" spc="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Unknown</a:t>
            </a:r>
            <a:r>
              <a:rPr dirty="0" sz="1700" spc="-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status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)</a:t>
            </a:r>
            <a:r>
              <a:rPr dirty="0" sz="1650" spc="5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5">
                <a:solidFill>
                  <a:srgbClr val="999999"/>
                </a:solidFill>
                <a:latin typeface="Microsoft Sans Serif"/>
                <a:cs typeface="Microsoft Sans Serif"/>
              </a:rPr>
              <a:t>Kaspa</a:t>
            </a:r>
            <a:r>
              <a:rPr dirty="0" sz="1700" spc="-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85">
                <a:solidFill>
                  <a:srgbClr val="999999"/>
                </a:solidFill>
                <a:latin typeface="Microsoft Sans Serif"/>
                <a:cs typeface="Microsoft Sans Serif"/>
              </a:rPr>
              <a:t>UPHC</a:t>
            </a:r>
            <a:r>
              <a:rPr dirty="0" sz="1700" spc="-3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(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urban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;</a:t>
            </a:r>
            <a:r>
              <a:rPr dirty="0" sz="1650" spc="2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highest</a:t>
            </a:r>
            <a:r>
              <a:rPr dirty="0" sz="1700" spc="-8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case</a:t>
            </a:r>
            <a:r>
              <a:rPr dirty="0" sz="1700" spc="-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load</a:t>
            </a:r>
            <a:r>
              <a:rPr dirty="0" sz="1650">
                <a:solidFill>
                  <a:srgbClr val="999999"/>
                </a:solidFill>
                <a:latin typeface="Microsoft Sans Serif"/>
                <a:cs typeface="Microsoft Sans Serif"/>
              </a:rPr>
              <a:t>)</a:t>
            </a:r>
            <a:r>
              <a:rPr dirty="0" sz="1650" spc="5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require</a:t>
            </a:r>
            <a:r>
              <a:rPr dirty="0" sz="1700" spc="-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prioritised</a:t>
            </a:r>
            <a:r>
              <a:rPr dirty="0" sz="1700" spc="-3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999999"/>
                </a:solidFill>
                <a:latin typeface="Microsoft Sans Serif"/>
                <a:cs typeface="Microsoft Sans Serif"/>
              </a:rPr>
              <a:t>surveillance</a:t>
            </a:r>
            <a:r>
              <a:rPr dirty="0" sz="1700" spc="-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999999"/>
                </a:solidFill>
                <a:latin typeface="Microsoft Sans Serif"/>
                <a:cs typeface="Microsoft Sans Serif"/>
              </a:rPr>
              <a:t>response</a:t>
            </a:r>
            <a:r>
              <a:rPr dirty="0" sz="1650" spc="-10">
                <a:solidFill>
                  <a:srgbClr val="999999"/>
                </a:solidFill>
                <a:latin typeface="Microsoft Sans Serif"/>
                <a:cs typeface="Microsoft Sans Serif"/>
              </a:rPr>
              <a:t>.</a:t>
            </a:r>
            <a:endParaRPr sz="16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4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540"/>
              <a:t>K</a:t>
            </a:r>
            <a:r>
              <a:rPr dirty="0" spc="-265"/>
              <a:t>e</a:t>
            </a:r>
            <a:r>
              <a:rPr dirty="0" spc="20"/>
              <a:t>y</a:t>
            </a:r>
            <a:r>
              <a:rPr dirty="0" spc="-790"/>
              <a:t> </a:t>
            </a:r>
            <a:r>
              <a:rPr dirty="0" spc="-350"/>
              <a:t>Findings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Critical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epidemiological</a:t>
            </a:r>
            <a:r>
              <a:rPr dirty="0" sz="2300" spc="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observations</a:t>
            </a:r>
            <a:r>
              <a:rPr dirty="0" sz="2300" spc="-5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1010" b="0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2300" spc="-2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2300" spc="-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District,</a:t>
            </a:r>
            <a:r>
              <a:rPr dirty="0" sz="2300" spc="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Jan </a:t>
            </a:r>
            <a:r>
              <a:rPr dirty="0" sz="2300" spc="515" b="0">
                <a:solidFill>
                  <a:srgbClr val="666666"/>
                </a:solidFill>
                <a:latin typeface="Microsoft Sans Serif"/>
                <a:cs typeface="Microsoft Sans Serif"/>
              </a:rPr>
              <a:t>–</a:t>
            </a:r>
            <a:r>
              <a:rPr dirty="0" sz="2300" spc="-15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Jul</a:t>
            </a:r>
            <a:r>
              <a:rPr dirty="0" sz="2300" spc="6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2026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8799" y="3486144"/>
            <a:ext cx="638175" cy="647700"/>
          </a:xfrm>
          <a:prstGeom prst="rect">
            <a:avLst/>
          </a:prstGeom>
          <a:solidFill>
            <a:srgbClr val="3C5980"/>
          </a:solidFill>
        </p:spPr>
        <p:txBody>
          <a:bodyPr wrap="square" lIns="0" tIns="889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2750" spc="-509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3260" y="3362549"/>
            <a:ext cx="12933680" cy="119380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200" spc="-60" b="1">
                <a:solidFill>
                  <a:srgbClr val="111111"/>
                </a:solidFill>
                <a:latin typeface="Arial"/>
                <a:cs typeface="Arial"/>
              </a:rPr>
              <a:t>Infants</a:t>
            </a:r>
            <a:r>
              <a:rPr dirty="0" sz="220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111111"/>
                </a:solidFill>
                <a:latin typeface="Arial"/>
                <a:cs typeface="Arial"/>
              </a:rPr>
              <a:t>under</a:t>
            </a:r>
            <a:r>
              <a:rPr dirty="0" sz="220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150" spc="-400" b="1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dirty="0" sz="2150" spc="-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111111"/>
                </a:solidFill>
                <a:latin typeface="Arial"/>
                <a:cs typeface="Arial"/>
              </a:rPr>
              <a:t>year</a:t>
            </a:r>
            <a:r>
              <a:rPr dirty="0" sz="220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111111"/>
                </a:solidFill>
                <a:latin typeface="Arial"/>
                <a:cs typeface="Arial"/>
              </a:rPr>
              <a:t>bear</a:t>
            </a:r>
            <a:r>
              <a:rPr dirty="0" sz="220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2200" spc="-1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0" b="1">
                <a:solidFill>
                  <a:srgbClr val="111111"/>
                </a:solidFill>
                <a:latin typeface="Arial"/>
                <a:cs typeface="Arial"/>
              </a:rPr>
              <a:t>highest</a:t>
            </a:r>
            <a:r>
              <a:rPr dirty="0" sz="2200" spc="-1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burden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18200"/>
              </a:lnSpc>
              <a:spcBef>
                <a:spcPts val="384"/>
              </a:spcBef>
            </a:pP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28</a:t>
            </a:r>
            <a:r>
              <a:rPr dirty="0" sz="1800" spc="-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(38.4%)</a:t>
            </a:r>
            <a:r>
              <a:rPr dirty="0" sz="1800" spc="114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are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infants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below</a:t>
            </a:r>
            <a:r>
              <a:rPr dirty="0" sz="1850" spc="-10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409">
                <a:solidFill>
                  <a:srgbClr val="545454"/>
                </a:solidFill>
                <a:latin typeface="Microsoft Sans Serif"/>
                <a:cs typeface="Microsoft Sans Serif"/>
              </a:rPr>
              <a:t>1</a:t>
            </a:r>
            <a:r>
              <a:rPr dirty="0" sz="180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year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75">
                <a:solidFill>
                  <a:srgbClr val="545454"/>
                </a:solidFill>
                <a:latin typeface="Microsoft Sans Serif"/>
                <a:cs typeface="Microsoft Sans Serif"/>
              </a:rPr>
              <a:t>of</a:t>
            </a:r>
            <a:r>
              <a:rPr dirty="0" sz="18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age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825">
                <a:solidFill>
                  <a:srgbClr val="545454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-1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most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are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too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young</a:t>
            </a:r>
            <a:r>
              <a:rPr dirty="0" sz="18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receive</a:t>
            </a:r>
            <a:r>
              <a:rPr dirty="0" sz="185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MR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I</a:t>
            </a:r>
            <a:r>
              <a:rPr dirty="0" sz="18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at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9</a:t>
            </a:r>
            <a:r>
              <a:rPr dirty="0" sz="180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months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making</a:t>
            </a:r>
            <a:r>
              <a:rPr dirty="0" sz="18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them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inherently unprotected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8799" y="4810119"/>
            <a:ext cx="638175" cy="638175"/>
          </a:xfrm>
          <a:prstGeom prst="rect">
            <a:avLst/>
          </a:prstGeom>
          <a:solidFill>
            <a:srgbClr val="3C5980"/>
          </a:solidFill>
        </p:spPr>
        <p:txBody>
          <a:bodyPr wrap="square" lIns="0" tIns="88900" rIns="0" bIns="0" rtlCol="0" vert="horz">
            <a:spAutoFit/>
          </a:bodyPr>
          <a:lstStyle/>
          <a:p>
            <a:pPr marL="214629">
              <a:lnSpc>
                <a:spcPct val="100000"/>
              </a:lnSpc>
              <a:spcBef>
                <a:spcPts val="700"/>
              </a:spcBef>
            </a:pPr>
            <a:r>
              <a:rPr dirty="0" sz="2750" spc="7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3260" y="4686524"/>
            <a:ext cx="13446760" cy="118427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200" spc="-55" b="1">
                <a:solidFill>
                  <a:srgbClr val="111111"/>
                </a:solidFill>
                <a:latin typeface="Arial"/>
                <a:cs typeface="Arial"/>
              </a:rPr>
              <a:t>March</a:t>
            </a:r>
            <a:r>
              <a:rPr dirty="0" sz="220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95" b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220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0" b="1">
                <a:solidFill>
                  <a:srgbClr val="111111"/>
                </a:solidFill>
                <a:latin typeface="Arial"/>
                <a:cs typeface="Arial"/>
              </a:rPr>
              <a:t>June</a:t>
            </a:r>
            <a:r>
              <a:rPr dirty="0" sz="2200" spc="-1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55" b="1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dirty="0" sz="2200" spc="-1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111111"/>
                </a:solidFill>
                <a:latin typeface="Arial"/>
                <a:cs typeface="Arial"/>
              </a:rPr>
              <a:t>high</a:t>
            </a:r>
            <a:r>
              <a:rPr dirty="0" sz="2150" spc="-30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200" spc="-90" b="1">
                <a:solidFill>
                  <a:srgbClr val="111111"/>
                </a:solidFill>
                <a:latin typeface="Arial"/>
                <a:cs typeface="Arial"/>
              </a:rPr>
              <a:t>transmission</a:t>
            </a:r>
            <a:r>
              <a:rPr dirty="0" sz="2200" spc="-8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months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  <a:spcBef>
                <a:spcPts val="455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March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100">
                <a:solidFill>
                  <a:srgbClr val="545454"/>
                </a:solidFill>
                <a:latin typeface="Microsoft Sans Serif"/>
                <a:cs typeface="Microsoft Sans Serif"/>
              </a:rPr>
              <a:t>(17</a:t>
            </a:r>
            <a:r>
              <a:rPr dirty="0" sz="180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June</a:t>
            </a:r>
            <a:r>
              <a:rPr dirty="0" sz="18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60">
                <a:solidFill>
                  <a:srgbClr val="545454"/>
                </a:solidFill>
                <a:latin typeface="Microsoft Sans Serif"/>
                <a:cs typeface="Microsoft Sans Serif"/>
              </a:rPr>
              <a:t>(13</a:t>
            </a:r>
            <a:r>
              <a:rPr dirty="0" sz="1800" spc="-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)</a:t>
            </a:r>
            <a:r>
              <a:rPr dirty="0" sz="1800" spc="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recorded</a:t>
            </a:r>
            <a:r>
              <a:rPr dirty="0" sz="18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peak</a:t>
            </a:r>
            <a:r>
              <a:rPr dirty="0" sz="1850" spc="-114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suggesting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seasonal</a:t>
            </a:r>
            <a:r>
              <a:rPr dirty="0" sz="18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community</a:t>
            </a:r>
            <a:r>
              <a:rPr dirty="0" sz="1850" spc="-1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transmission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patterns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warranting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heightened</a:t>
            </a:r>
            <a:r>
              <a:rPr dirty="0" sz="1850" spc="-1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surveillance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8799" y="6134094"/>
            <a:ext cx="638175" cy="638175"/>
          </a:xfrm>
          <a:prstGeom prst="rect">
            <a:avLst/>
          </a:prstGeom>
          <a:solidFill>
            <a:srgbClr val="ED6B4D"/>
          </a:solidFill>
        </p:spPr>
        <p:txBody>
          <a:bodyPr wrap="square" lIns="0" tIns="79375" rIns="0" bIns="0" rtlCol="0" vert="horz">
            <a:spAutoFit/>
          </a:bodyPr>
          <a:lstStyle/>
          <a:p>
            <a:pPr marL="211454">
              <a:lnSpc>
                <a:spcPct val="100000"/>
              </a:lnSpc>
              <a:spcBef>
                <a:spcPts val="625"/>
              </a:spcBef>
            </a:pPr>
            <a:r>
              <a:rPr dirty="0" sz="2750" spc="14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13260" y="6021794"/>
            <a:ext cx="12967970" cy="117284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150" b="1">
                <a:solidFill>
                  <a:srgbClr val="111111"/>
                </a:solidFill>
                <a:latin typeface="Arial"/>
                <a:cs typeface="Arial"/>
              </a:rPr>
              <a:t>61.6%</a:t>
            </a:r>
            <a:r>
              <a:rPr dirty="0" sz="2150" spc="-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2200" spc="-1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65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r>
              <a:rPr dirty="0" sz="2200" spc="-1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0" b="1">
                <a:solidFill>
                  <a:srgbClr val="111111"/>
                </a:solidFill>
                <a:latin typeface="Arial"/>
                <a:cs typeface="Arial"/>
              </a:rPr>
              <a:t>had</a:t>
            </a:r>
            <a:r>
              <a:rPr dirty="0" sz="2200" spc="-70" b="1">
                <a:solidFill>
                  <a:srgbClr val="111111"/>
                </a:solidFill>
                <a:latin typeface="Arial"/>
                <a:cs typeface="Arial"/>
              </a:rPr>
              <a:t> complete</a:t>
            </a:r>
            <a:r>
              <a:rPr dirty="0" sz="220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80" b="1">
                <a:solidFill>
                  <a:srgbClr val="111111"/>
                </a:solidFill>
                <a:latin typeface="Arial"/>
                <a:cs typeface="Arial"/>
              </a:rPr>
              <a:t>immunization</a:t>
            </a:r>
            <a:r>
              <a:rPr dirty="0" sz="22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150" spc="60" b="1">
                <a:solidFill>
                  <a:srgbClr val="111111"/>
                </a:solidFill>
                <a:latin typeface="Arial"/>
                <a:cs typeface="Arial"/>
              </a:rPr>
              <a:t>—</a:t>
            </a:r>
            <a:r>
              <a:rPr dirty="0" sz="2150" spc="-30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60" b="1">
                <a:solidFill>
                  <a:srgbClr val="111111"/>
                </a:solidFill>
                <a:latin typeface="Arial"/>
                <a:cs typeface="Arial"/>
              </a:rPr>
              <a:t>vaccine</a:t>
            </a:r>
            <a:r>
              <a:rPr dirty="0" sz="220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60" b="1">
                <a:solidFill>
                  <a:srgbClr val="111111"/>
                </a:solidFill>
                <a:latin typeface="Arial"/>
                <a:cs typeface="Arial"/>
              </a:rPr>
              <a:t>failure</a:t>
            </a:r>
            <a:r>
              <a:rPr dirty="0" sz="220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111111"/>
                </a:solidFill>
                <a:latin typeface="Arial"/>
                <a:cs typeface="Arial"/>
              </a:rPr>
              <a:t>investigation</a:t>
            </a:r>
            <a:r>
              <a:rPr dirty="0" sz="22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required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18200"/>
              </a:lnSpc>
              <a:spcBef>
                <a:spcPts val="305"/>
              </a:spcBef>
            </a:pP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45</a:t>
            </a:r>
            <a:r>
              <a:rPr dirty="0" sz="180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75">
                <a:solidFill>
                  <a:srgbClr val="545454"/>
                </a:solidFill>
                <a:latin typeface="Microsoft Sans Serif"/>
                <a:cs typeface="Microsoft Sans Serif"/>
              </a:rPr>
              <a:t>of</a:t>
            </a:r>
            <a:r>
              <a:rPr dirty="0" sz="18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73</a:t>
            </a:r>
            <a:r>
              <a:rPr dirty="0" sz="180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had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received</a:t>
            </a:r>
            <a:r>
              <a:rPr dirty="0" sz="18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95">
                <a:solidFill>
                  <a:srgbClr val="545454"/>
                </a:solidFill>
                <a:latin typeface="Microsoft Sans Serif"/>
                <a:cs typeface="Microsoft Sans Serif"/>
              </a:rPr>
              <a:t>MR</a:t>
            </a: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vaccine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as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per</a:t>
            </a: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r>
              <a:rPr dirty="0" sz="1800" spc="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This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warrants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cold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chain</a:t>
            </a:r>
            <a:r>
              <a:rPr dirty="0" sz="185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review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vaccine</a:t>
            </a:r>
            <a:r>
              <a:rPr dirty="0" sz="1850" spc="-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efficacy</a:t>
            </a:r>
            <a:r>
              <a:rPr dirty="0" sz="1850" spc="-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assessment</a:t>
            </a:r>
            <a:r>
              <a:rPr dirty="0" sz="1800" spc="-2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and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serological</a:t>
            </a:r>
            <a:r>
              <a:rPr dirty="0" sz="1850" spc="-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testing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8799" y="7448544"/>
            <a:ext cx="638175" cy="638175"/>
          </a:xfrm>
          <a:prstGeom prst="rect">
            <a:avLst/>
          </a:prstGeom>
          <a:solidFill>
            <a:srgbClr val="98C1D9"/>
          </a:solidFill>
        </p:spPr>
        <p:txBody>
          <a:bodyPr wrap="square" lIns="0" tIns="88900" rIns="0" bIns="0" rtlCol="0" vert="horz">
            <a:spAutoFit/>
          </a:bodyPr>
          <a:lstStyle/>
          <a:p>
            <a:pPr marL="206375">
              <a:lnSpc>
                <a:spcPct val="100000"/>
              </a:lnSpc>
              <a:spcBef>
                <a:spcPts val="700"/>
              </a:spcBef>
            </a:pPr>
            <a:r>
              <a:rPr dirty="0" sz="2750" spc="235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13260" y="7324949"/>
            <a:ext cx="13300075" cy="1184275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2200" spc="-85" b="1">
                <a:solidFill>
                  <a:srgbClr val="111111"/>
                </a:solidFill>
                <a:latin typeface="Arial"/>
                <a:cs typeface="Arial"/>
              </a:rPr>
              <a:t>Adults</a:t>
            </a:r>
            <a:r>
              <a:rPr dirty="0" sz="2200" spc="-1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150" spc="-10" b="1">
                <a:solidFill>
                  <a:srgbClr val="111111"/>
                </a:solidFill>
                <a:latin typeface="Arial"/>
                <a:cs typeface="Arial"/>
              </a:rPr>
              <a:t>(16+)</a:t>
            </a:r>
            <a:r>
              <a:rPr dirty="0" sz="2150" spc="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70" b="1">
                <a:solidFill>
                  <a:srgbClr val="111111"/>
                </a:solidFill>
                <a:latin typeface="Arial"/>
                <a:cs typeface="Arial"/>
              </a:rPr>
              <a:t>account</a:t>
            </a:r>
            <a:r>
              <a:rPr dirty="0" sz="2200" spc="-1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2200" spc="-16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150" spc="70" b="1">
                <a:solidFill>
                  <a:srgbClr val="111111"/>
                </a:solidFill>
                <a:latin typeface="Arial"/>
                <a:cs typeface="Arial"/>
              </a:rPr>
              <a:t>23.3%</a:t>
            </a:r>
            <a:r>
              <a:rPr dirty="0" sz="215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2200" spc="-1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  <a:spcBef>
                <a:spcPts val="455"/>
              </a:spcBef>
            </a:pPr>
            <a:r>
              <a:rPr dirty="0" sz="1800" spc="-170">
                <a:solidFill>
                  <a:srgbClr val="545454"/>
                </a:solidFill>
                <a:latin typeface="Microsoft Sans Serif"/>
                <a:cs typeface="Microsoft Sans Serif"/>
              </a:rPr>
              <a:t>17</a:t>
            </a:r>
            <a:r>
              <a:rPr dirty="0" sz="180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adult</a:t>
            </a:r>
            <a:r>
              <a:rPr dirty="0" sz="18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(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ages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18–50)</a:t>
            </a:r>
            <a:r>
              <a:rPr dirty="0" sz="1800" spc="1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detected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1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including</a:t>
            </a:r>
            <a:r>
              <a:rPr dirty="0" sz="18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with</a:t>
            </a:r>
            <a:r>
              <a:rPr dirty="0" sz="1850" spc="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"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Not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Known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"</a:t>
            </a:r>
            <a:r>
              <a:rPr dirty="0" sz="1800" spc="1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850" spc="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history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825">
                <a:solidFill>
                  <a:srgbClr val="545454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-1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indicating</a:t>
            </a:r>
            <a:r>
              <a:rPr dirty="0" sz="18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susceptibility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gaps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in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older</a:t>
            </a:r>
            <a:r>
              <a:rPr dirty="0" sz="18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birth</a:t>
            </a:r>
            <a:r>
              <a:rPr dirty="0" sz="1850" spc="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cohorts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8799" y="8772519"/>
            <a:ext cx="638175" cy="638175"/>
          </a:xfrm>
          <a:prstGeom prst="rect">
            <a:avLst/>
          </a:prstGeom>
          <a:solidFill>
            <a:srgbClr val="98C1D9"/>
          </a:solidFill>
        </p:spPr>
        <p:txBody>
          <a:bodyPr wrap="square" lIns="0" tIns="7937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625"/>
              </a:spcBef>
            </a:pPr>
            <a:r>
              <a:rPr dirty="0" sz="2750" spc="85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13260" y="8660219"/>
            <a:ext cx="12934950" cy="839469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200" spc="-85" b="1">
                <a:solidFill>
                  <a:srgbClr val="111111"/>
                </a:solidFill>
                <a:latin typeface="Arial"/>
                <a:cs typeface="Arial"/>
              </a:rPr>
              <a:t>Urban</a:t>
            </a:r>
            <a:r>
              <a:rPr dirty="0" sz="220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20" b="1">
                <a:solidFill>
                  <a:srgbClr val="111111"/>
                </a:solidFill>
                <a:latin typeface="Arial"/>
                <a:cs typeface="Arial"/>
              </a:rPr>
              <a:t>PHCs</a:t>
            </a:r>
            <a:r>
              <a:rPr dirty="0" sz="2200" spc="-14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111111"/>
                </a:solidFill>
                <a:latin typeface="Arial"/>
                <a:cs typeface="Arial"/>
              </a:rPr>
              <a:t>carry</a:t>
            </a:r>
            <a:r>
              <a:rPr dirty="0" sz="2200" spc="-2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150" spc="90" b="1">
                <a:solidFill>
                  <a:srgbClr val="111111"/>
                </a:solidFill>
                <a:latin typeface="Arial"/>
                <a:cs typeface="Arial"/>
              </a:rPr>
              <a:t>65%</a:t>
            </a:r>
            <a:r>
              <a:rPr dirty="0" sz="215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dirty="0" sz="2200" spc="-1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65" b="1">
                <a:solidFill>
                  <a:srgbClr val="111111"/>
                </a:solidFill>
                <a:latin typeface="Arial"/>
                <a:cs typeface="Arial"/>
              </a:rPr>
              <a:t>reported</a:t>
            </a:r>
            <a:r>
              <a:rPr dirty="0" sz="2200" spc="-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55" b="1">
                <a:solidFill>
                  <a:srgbClr val="111111"/>
                </a:solidFill>
                <a:latin typeface="Arial"/>
                <a:cs typeface="Arial"/>
              </a:rPr>
              <a:t>case</a:t>
            </a:r>
            <a:r>
              <a:rPr dirty="0" sz="2200" spc="-1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111111"/>
                </a:solidFill>
                <a:latin typeface="Arial"/>
                <a:cs typeface="Arial"/>
              </a:rPr>
              <a:t>load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Kaspa</a:t>
            </a:r>
            <a:r>
              <a:rPr dirty="0" sz="1850" spc="-75">
                <a:solidFill>
                  <a:srgbClr val="545454"/>
                </a:solidFill>
                <a:latin typeface="Microsoft Sans Serif"/>
                <a:cs typeface="Microsoft Sans Serif"/>
              </a:rPr>
              <a:t> UPHC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(7)</a:t>
            </a:r>
            <a:r>
              <a:rPr dirty="0" sz="1800" spc="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and</a:t>
            </a: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Sathuvachari</a:t>
            </a:r>
            <a:r>
              <a:rPr dirty="0" sz="18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75">
                <a:solidFill>
                  <a:srgbClr val="545454"/>
                </a:solidFill>
                <a:latin typeface="Microsoft Sans Serif"/>
                <a:cs typeface="Microsoft Sans Serif"/>
              </a:rPr>
              <a:t>UPHC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(5)</a:t>
            </a:r>
            <a:r>
              <a:rPr dirty="0" sz="1800" spc="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together</a:t>
            </a:r>
            <a:r>
              <a:rPr dirty="0" sz="1850" spc="-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account</a:t>
            </a:r>
            <a:r>
              <a:rPr dirty="0" sz="1850" spc="-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850" spc="-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16.4%</a:t>
            </a:r>
            <a:r>
              <a:rPr dirty="0" sz="180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75">
                <a:solidFill>
                  <a:srgbClr val="545454"/>
                </a:solidFill>
                <a:latin typeface="Microsoft Sans Serif"/>
                <a:cs typeface="Microsoft Sans Serif"/>
              </a:rPr>
              <a:t>of</a:t>
            </a:r>
            <a:r>
              <a:rPr dirty="0" sz="1850" spc="-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all</a:t>
            </a:r>
            <a:r>
              <a:rPr dirty="0" sz="18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,</a:t>
            </a:r>
            <a:r>
              <a:rPr dirty="0" sz="180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pointing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urban</a:t>
            </a:r>
            <a:r>
              <a:rPr dirty="0" sz="18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transmission</a:t>
            </a:r>
            <a:r>
              <a:rPr dirty="0" sz="18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clusters</a:t>
            </a:r>
            <a:r>
              <a:rPr dirty="0" sz="1800" spc="-10">
                <a:solidFill>
                  <a:srgbClr val="545454"/>
                </a:solidFill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4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099" y="1275272"/>
            <a:ext cx="10246995" cy="1711325"/>
          </a:xfrm>
          <a:prstGeom prst="rect">
            <a:avLst/>
          </a:prstGeom>
        </p:spPr>
        <p:txBody>
          <a:bodyPr wrap="square" lIns="0" tIns="359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30"/>
              </a:spcBef>
            </a:pPr>
            <a:r>
              <a:rPr dirty="0" sz="5500" spc="-280" b="1">
                <a:solidFill>
                  <a:srgbClr val="111111"/>
                </a:solidFill>
                <a:latin typeface="Arial"/>
                <a:cs typeface="Arial"/>
              </a:rPr>
              <a:t>Immunization</a:t>
            </a:r>
            <a:r>
              <a:rPr dirty="0" sz="5500" spc="-459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500" spc="-335" b="1">
                <a:solidFill>
                  <a:srgbClr val="111111"/>
                </a:solidFill>
                <a:latin typeface="Arial"/>
                <a:cs typeface="Arial"/>
              </a:rPr>
              <a:t>Gap</a:t>
            </a:r>
            <a:r>
              <a:rPr dirty="0" sz="5500" spc="-59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5500" spc="-530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5500" spc="-240" b="1">
                <a:solidFill>
                  <a:srgbClr val="111111"/>
                </a:solidFill>
                <a:latin typeface="Arial"/>
                <a:cs typeface="Arial"/>
              </a:rPr>
              <a:t>n</a:t>
            </a:r>
            <a:r>
              <a:rPr dirty="0" sz="5500" spc="-235" b="1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5500" spc="-10" b="1">
                <a:solidFill>
                  <a:srgbClr val="111111"/>
                </a:solidFill>
                <a:latin typeface="Arial"/>
                <a:cs typeface="Arial"/>
              </a:rPr>
              <a:t>l</a:t>
            </a:r>
            <a:r>
              <a:rPr dirty="0" sz="5500" spc="-495" b="1">
                <a:solidFill>
                  <a:srgbClr val="111111"/>
                </a:solidFill>
                <a:latin typeface="Arial"/>
                <a:cs typeface="Arial"/>
              </a:rPr>
              <a:t>y</a:t>
            </a:r>
            <a:r>
              <a:rPr dirty="0" sz="5500" spc="-375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r>
              <a:rPr dirty="0" sz="5500" spc="-105" b="1">
                <a:solidFill>
                  <a:srgbClr val="111111"/>
                </a:solidFill>
                <a:latin typeface="Arial"/>
                <a:cs typeface="Arial"/>
              </a:rPr>
              <a:t>i</a:t>
            </a:r>
            <a:r>
              <a:rPr dirty="0" sz="5500" spc="-195" b="1">
                <a:solidFill>
                  <a:srgbClr val="111111"/>
                </a:solidFill>
                <a:latin typeface="Arial"/>
                <a:cs typeface="Arial"/>
              </a:rPr>
              <a:t>s</a:t>
            </a:r>
            <a:endParaRPr sz="5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Understanding</a:t>
            </a:r>
            <a:r>
              <a:rPr dirty="0" sz="230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50">
                <a:solidFill>
                  <a:srgbClr val="666666"/>
                </a:solidFill>
                <a:latin typeface="Microsoft Sans Serif"/>
                <a:cs typeface="Microsoft Sans Serif"/>
              </a:rPr>
              <a:t>why</a:t>
            </a:r>
            <a:r>
              <a:rPr dirty="0" sz="2300" spc="-10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vaccinated children</a:t>
            </a:r>
            <a:r>
              <a:rPr dirty="0" sz="230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are</a:t>
            </a:r>
            <a:r>
              <a:rPr dirty="0" sz="2300" spc="-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still</a:t>
            </a:r>
            <a:r>
              <a:rPr dirty="0" sz="2300" spc="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>
                <a:solidFill>
                  <a:srgbClr val="666666"/>
                </a:solidFill>
                <a:latin typeface="Microsoft Sans Serif"/>
                <a:cs typeface="Microsoft Sans Serif"/>
              </a:rPr>
              <a:t>developing suspected </a:t>
            </a:r>
            <a:r>
              <a:rPr dirty="0" sz="2300" spc="-10">
                <a:solidFill>
                  <a:srgbClr val="666666"/>
                </a:solidFill>
                <a:latin typeface="Microsoft Sans Serif"/>
                <a:cs typeface="Microsoft Sans Serif"/>
              </a:rPr>
              <a:t>measles</a:t>
            </a:r>
            <a:endParaRPr sz="23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28799" y="3428994"/>
            <a:ext cx="7581900" cy="2695575"/>
            <a:chOff x="1828799" y="3428994"/>
            <a:chExt cx="7581900" cy="2695575"/>
          </a:xfrm>
        </p:grpSpPr>
        <p:sp>
          <p:nvSpPr>
            <p:cNvPr id="7" name="object 7"/>
            <p:cNvSpPr/>
            <p:nvPr/>
          </p:nvSpPr>
          <p:spPr>
            <a:xfrm>
              <a:off x="1828799" y="3428994"/>
              <a:ext cx="7581900" cy="2695575"/>
            </a:xfrm>
            <a:custGeom>
              <a:avLst/>
              <a:gdLst/>
              <a:ahLst/>
              <a:cxnLst/>
              <a:rect l="l" t="t" r="r" b="b"/>
              <a:pathLst>
                <a:path w="7581900" h="2695575">
                  <a:moveTo>
                    <a:pt x="7581899" y="2695574"/>
                  </a:moveTo>
                  <a:lnTo>
                    <a:pt x="0" y="2695574"/>
                  </a:lnTo>
                  <a:lnTo>
                    <a:pt x="0" y="0"/>
                  </a:lnTo>
                  <a:lnTo>
                    <a:pt x="7581899" y="0"/>
                  </a:lnTo>
                  <a:lnTo>
                    <a:pt x="7581899" y="2695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33562" y="3433756"/>
              <a:ext cx="7572375" cy="2686050"/>
            </a:xfrm>
            <a:custGeom>
              <a:avLst/>
              <a:gdLst/>
              <a:ahLst/>
              <a:cxnLst/>
              <a:rect l="l" t="t" r="r" b="b"/>
              <a:pathLst>
                <a:path w="7572375" h="2686050">
                  <a:moveTo>
                    <a:pt x="0" y="0"/>
                  </a:moveTo>
                  <a:lnTo>
                    <a:pt x="7572374" y="0"/>
                  </a:lnTo>
                  <a:lnTo>
                    <a:pt x="7572374" y="2686049"/>
                  </a:lnTo>
                  <a:lnTo>
                    <a:pt x="0" y="2686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295524" y="3889007"/>
            <a:ext cx="53778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150" b="1">
                <a:solidFill>
                  <a:srgbClr val="3C5980"/>
                </a:solidFill>
                <a:latin typeface="Arial"/>
                <a:cs typeface="Arial"/>
              </a:rPr>
              <a:t>45</a:t>
            </a:r>
            <a:r>
              <a:rPr dirty="0" sz="1500" spc="17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50" b="1">
                <a:solidFill>
                  <a:srgbClr val="3C5980"/>
                </a:solidFill>
                <a:latin typeface="Arial"/>
                <a:cs typeface="Arial"/>
              </a:rPr>
              <a:t>COMPLETELY</a:t>
            </a:r>
            <a:r>
              <a:rPr dirty="0" sz="1500" spc="11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95" b="1">
                <a:solidFill>
                  <a:srgbClr val="3C5980"/>
                </a:solidFill>
                <a:latin typeface="Arial"/>
                <a:cs typeface="Arial"/>
              </a:rPr>
              <a:t>I</a:t>
            </a:r>
            <a:r>
              <a:rPr dirty="0" sz="1500" spc="-21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95" b="1">
                <a:solidFill>
                  <a:srgbClr val="3C5980"/>
                </a:solidFill>
                <a:latin typeface="Arial"/>
                <a:cs typeface="Arial"/>
              </a:rPr>
              <a:t>MMUNI</a:t>
            </a:r>
            <a:r>
              <a:rPr dirty="0" sz="1500" spc="-22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5980"/>
                </a:solidFill>
                <a:latin typeface="Arial"/>
                <a:cs typeface="Arial"/>
              </a:rPr>
              <a:t>SED</a:t>
            </a:r>
            <a:r>
              <a:rPr dirty="0" sz="1500" spc="16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3C5980"/>
                </a:solidFill>
                <a:latin typeface="Arial"/>
                <a:cs typeface="Arial"/>
              </a:rPr>
              <a:t>CASES</a:t>
            </a:r>
            <a:r>
              <a:rPr dirty="0" sz="1500" spc="1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75" b="1">
                <a:solidFill>
                  <a:srgbClr val="3C5980"/>
                </a:solidFill>
                <a:latin typeface="Arial"/>
                <a:cs typeface="Arial"/>
              </a:rPr>
              <a:t>—</a:t>
            </a:r>
            <a:r>
              <a:rPr dirty="0" sz="1500" spc="3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3C5980"/>
                </a:solidFill>
                <a:latin typeface="Arial"/>
                <a:cs typeface="Arial"/>
              </a:rPr>
              <a:t>BREAKDOWN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67855" y="4142973"/>
            <a:ext cx="2816225" cy="150431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800"/>
              </a:spcBef>
            </a:pPr>
            <a:r>
              <a:rPr dirty="0" sz="5350" spc="310" b="1">
                <a:solidFill>
                  <a:srgbClr val="3C5980"/>
                </a:solidFill>
                <a:latin typeface="Arial"/>
                <a:cs typeface="Arial"/>
              </a:rPr>
              <a:t>28</a:t>
            </a:r>
            <a:endParaRPr sz="5350">
              <a:latin typeface="Arial"/>
              <a:cs typeface="Arial"/>
            </a:endParaRPr>
          </a:p>
          <a:p>
            <a:pPr algn="ctr" marR="5080">
              <a:lnSpc>
                <a:spcPct val="110300"/>
              </a:lnSpc>
              <a:spcBef>
                <a:spcPts val="20"/>
              </a:spcBef>
            </a:pP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Infants</a:t>
            </a:r>
            <a:r>
              <a:rPr dirty="0" sz="170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under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375">
                <a:solidFill>
                  <a:srgbClr val="545454"/>
                </a:solidFill>
                <a:latin typeface="Microsoft Sans Serif"/>
                <a:cs typeface="Microsoft Sans Serif"/>
              </a:rPr>
              <a:t>1</a:t>
            </a:r>
            <a:r>
              <a:rPr dirty="0" sz="165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yr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-10">
                <a:solidFill>
                  <a:srgbClr val="545454"/>
                </a:solidFill>
                <a:latin typeface="Microsoft Sans Serif"/>
                <a:cs typeface="Microsoft Sans Serif"/>
              </a:rPr>
              <a:t>(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vaccinated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NA</a:t>
            </a:r>
            <a:r>
              <a:rPr dirty="0" sz="1700" spc="-8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760">
                <a:solidFill>
                  <a:srgbClr val="545454"/>
                </a:solidFill>
                <a:latin typeface="Microsoft Sans Serif"/>
                <a:cs typeface="Microsoft Sans Serif"/>
              </a:rPr>
              <a:t>—</a:t>
            </a:r>
            <a:r>
              <a:rPr dirty="0" sz="1650" spc="-1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too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 young</a:t>
            </a:r>
            <a:r>
              <a:rPr dirty="0" sz="1650" spc="-10">
                <a:solidFill>
                  <a:srgbClr val="545454"/>
                </a:solidFill>
                <a:latin typeface="Microsoft Sans Serif"/>
                <a:cs typeface="Microsoft Sans Serif"/>
              </a:rPr>
              <a:t>)</a:t>
            </a:r>
            <a:endParaRPr sz="16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10224" y="4371969"/>
            <a:ext cx="9525" cy="1285875"/>
          </a:xfrm>
          <a:custGeom>
            <a:avLst/>
            <a:gdLst/>
            <a:ahLst/>
            <a:cxnLst/>
            <a:rect l="l" t="t" r="r" b="b"/>
            <a:pathLst>
              <a:path w="9525" h="1285875">
                <a:moveTo>
                  <a:pt x="9524" y="1285874"/>
                </a:moveTo>
                <a:lnTo>
                  <a:pt x="0" y="1285874"/>
                </a:lnTo>
                <a:lnTo>
                  <a:pt x="0" y="0"/>
                </a:lnTo>
                <a:lnTo>
                  <a:pt x="9524" y="0"/>
                </a:lnTo>
                <a:lnTo>
                  <a:pt x="9524" y="1285874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96917" y="4146489"/>
            <a:ext cx="2345690" cy="150114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825"/>
              </a:spcBef>
            </a:pPr>
            <a:r>
              <a:rPr dirty="0" sz="5300" spc="-340" b="1">
                <a:solidFill>
                  <a:srgbClr val="ED6B4D"/>
                </a:solidFill>
                <a:latin typeface="Arial"/>
                <a:cs typeface="Arial"/>
              </a:rPr>
              <a:t>17</a:t>
            </a:r>
            <a:endParaRPr sz="5300">
              <a:latin typeface="Arial"/>
              <a:cs typeface="Arial"/>
            </a:endParaRPr>
          </a:p>
          <a:p>
            <a:pPr algn="ctr" marR="5080">
              <a:lnSpc>
                <a:spcPct val="110300"/>
              </a:lnSpc>
              <a:spcBef>
                <a:spcPts val="30"/>
              </a:spcBef>
            </a:pP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Children </a:t>
            </a:r>
            <a:r>
              <a:rPr dirty="0" sz="1650" spc="130">
                <a:solidFill>
                  <a:srgbClr val="545454"/>
                </a:solidFill>
                <a:latin typeface="Microsoft Sans Serif"/>
                <a:cs typeface="Microsoft Sans Serif"/>
              </a:rPr>
              <a:t>/</a:t>
            </a:r>
            <a:r>
              <a:rPr dirty="0" sz="1650" spc="-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adults</a:t>
            </a:r>
            <a:r>
              <a:rPr dirty="0" sz="170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545454"/>
                </a:solidFill>
                <a:latin typeface="Microsoft Sans Serif"/>
                <a:cs typeface="Microsoft Sans Serif"/>
              </a:rPr>
              <a:t>with </a:t>
            </a:r>
            <a:r>
              <a:rPr dirty="0" sz="1700">
                <a:solidFill>
                  <a:srgbClr val="545454"/>
                </a:solidFill>
                <a:latin typeface="Microsoft Sans Serif"/>
                <a:cs typeface="Microsoft Sans Serif"/>
              </a:rPr>
              <a:t>documented</a:t>
            </a:r>
            <a:r>
              <a:rPr dirty="0" sz="170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545454"/>
                </a:solidFill>
                <a:latin typeface="Microsoft Sans Serif"/>
                <a:cs typeface="Microsoft Sans Serif"/>
              </a:rPr>
              <a:t>vaccination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28799" y="6381744"/>
            <a:ext cx="7581900" cy="3114675"/>
            <a:chOff x="1828799" y="6381744"/>
            <a:chExt cx="7581900" cy="3114675"/>
          </a:xfrm>
        </p:grpSpPr>
        <p:sp>
          <p:nvSpPr>
            <p:cNvPr id="14" name="object 14"/>
            <p:cNvSpPr/>
            <p:nvPr/>
          </p:nvSpPr>
          <p:spPr>
            <a:xfrm>
              <a:off x="1828799" y="6381744"/>
              <a:ext cx="7581900" cy="3114675"/>
            </a:xfrm>
            <a:custGeom>
              <a:avLst/>
              <a:gdLst/>
              <a:ahLst/>
              <a:cxnLst/>
              <a:rect l="l" t="t" r="r" b="b"/>
              <a:pathLst>
                <a:path w="7581900" h="3114675">
                  <a:moveTo>
                    <a:pt x="7581899" y="3114674"/>
                  </a:moveTo>
                  <a:lnTo>
                    <a:pt x="0" y="3114674"/>
                  </a:lnTo>
                  <a:lnTo>
                    <a:pt x="0" y="0"/>
                  </a:lnTo>
                  <a:lnTo>
                    <a:pt x="7581899" y="0"/>
                  </a:lnTo>
                  <a:lnTo>
                    <a:pt x="7581899" y="3114674"/>
                  </a:lnTo>
                  <a:close/>
                </a:path>
              </a:pathLst>
            </a:custGeom>
            <a:solidFill>
              <a:srgbClr val="FFF2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28799" y="6381744"/>
              <a:ext cx="38100" cy="3114675"/>
            </a:xfrm>
            <a:custGeom>
              <a:avLst/>
              <a:gdLst/>
              <a:ahLst/>
              <a:cxnLst/>
              <a:rect l="l" t="t" r="r" b="b"/>
              <a:pathLst>
                <a:path w="38100" h="3114675">
                  <a:moveTo>
                    <a:pt x="38099" y="3114674"/>
                  </a:moveTo>
                  <a:lnTo>
                    <a:pt x="0" y="3114674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3114674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6899" y="6825185"/>
            <a:ext cx="7543800" cy="21577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57200">
              <a:lnSpc>
                <a:spcPct val="100000"/>
              </a:lnSpc>
              <a:spcBef>
                <a:spcPts val="130"/>
              </a:spcBef>
            </a:pPr>
            <a:r>
              <a:rPr dirty="0" sz="1700" spc="-65" b="1">
                <a:solidFill>
                  <a:srgbClr val="C25934"/>
                </a:solidFill>
                <a:latin typeface="Arial"/>
                <a:cs typeface="Arial"/>
              </a:rPr>
              <a:t>Possible</a:t>
            </a:r>
            <a:r>
              <a:rPr dirty="0" sz="1700" spc="-8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C25934"/>
                </a:solidFill>
                <a:latin typeface="Arial"/>
                <a:cs typeface="Arial"/>
              </a:rPr>
              <a:t>Reasons </a:t>
            </a:r>
            <a:r>
              <a:rPr dirty="0" sz="1700" spc="-20" b="1">
                <a:solidFill>
                  <a:srgbClr val="C25934"/>
                </a:solidFill>
                <a:latin typeface="Arial"/>
                <a:cs typeface="Arial"/>
              </a:rPr>
              <a:t>for</a:t>
            </a:r>
            <a:r>
              <a:rPr dirty="0" sz="1700" spc="-8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C25934"/>
                </a:solidFill>
                <a:latin typeface="Arial"/>
                <a:cs typeface="Arial"/>
              </a:rPr>
              <a:t>Vaccine</a:t>
            </a:r>
            <a:r>
              <a:rPr dirty="0" sz="1700" spc="-85" b="1">
                <a:solidFill>
                  <a:srgbClr val="C25934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C25934"/>
                </a:solidFill>
                <a:latin typeface="Arial"/>
                <a:cs typeface="Arial"/>
              </a:rPr>
              <a:t>Failure</a:t>
            </a:r>
            <a:endParaRPr sz="1700">
              <a:latin typeface="Arial"/>
              <a:cs typeface="Arial"/>
            </a:endParaRPr>
          </a:p>
          <a:p>
            <a:pPr marL="457200" marR="2282825">
              <a:lnSpc>
                <a:spcPct val="132100"/>
              </a:lnSpc>
              <a:spcBef>
                <a:spcPts val="690"/>
              </a:spcBef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Cold</a:t>
            </a:r>
            <a:r>
              <a:rPr dirty="0" sz="1750" spc="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chain</a:t>
            </a:r>
            <a:r>
              <a:rPr dirty="0" sz="1750" spc="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failure</a:t>
            </a:r>
            <a:r>
              <a:rPr dirty="0" sz="175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at</a:t>
            </a:r>
            <a:r>
              <a:rPr dirty="0" sz="175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point</a:t>
            </a:r>
            <a:r>
              <a:rPr dirty="0" sz="1750" spc="-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545454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-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vaccination</a:t>
            </a:r>
            <a:r>
              <a:rPr dirty="0" sz="1750" spc="5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Primary</a:t>
            </a:r>
            <a:r>
              <a:rPr dirty="0" sz="1750" spc="-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vaccine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failure</a:t>
            </a:r>
            <a:r>
              <a:rPr dirty="0" sz="1750" spc="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0">
                <a:solidFill>
                  <a:srgbClr val="545454"/>
                </a:solidFill>
                <a:latin typeface="Microsoft Sans Serif"/>
                <a:cs typeface="Microsoft Sans Serif"/>
              </a:rPr>
              <a:t>(5–</a:t>
            </a:r>
            <a:r>
              <a:rPr dirty="0" sz="1750" spc="-35">
                <a:solidFill>
                  <a:srgbClr val="545454"/>
                </a:solidFill>
                <a:latin typeface="Microsoft Sans Serif"/>
                <a:cs typeface="Microsoft Sans Serif"/>
              </a:rPr>
              <a:t>10%</a:t>
            </a:r>
            <a:r>
              <a:rPr dirty="0" sz="17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single</a:t>
            </a:r>
            <a:r>
              <a:rPr dirty="0" sz="1750" spc="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dose)</a:t>
            </a:r>
            <a:endParaRPr sz="1750">
              <a:latin typeface="Microsoft Sans Serif"/>
              <a:cs typeface="Microsoft Sans Serif"/>
            </a:endParaRPr>
          </a:p>
          <a:p>
            <a:pPr marL="457200" marR="1369060">
              <a:lnSpc>
                <a:spcPct val="133900"/>
              </a:lnSpc>
              <a:spcBef>
                <a:spcPts val="35"/>
              </a:spcBef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Documentation</a:t>
            </a:r>
            <a:r>
              <a:rPr dirty="0" sz="1750" spc="1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error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95">
                <a:solidFill>
                  <a:srgbClr val="545454"/>
                </a:solidFill>
                <a:latin typeface="Microsoft Sans Serif"/>
                <a:cs typeface="Microsoft Sans Serif"/>
              </a:rPr>
              <a:t>—</a:t>
            </a:r>
            <a:r>
              <a:rPr dirty="0" sz="1750" spc="-1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vaccine</a:t>
            </a:r>
            <a:r>
              <a:rPr dirty="0" sz="1750" spc="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given</a:t>
            </a:r>
            <a:r>
              <a:rPr dirty="0" sz="1750" spc="1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but</a:t>
            </a:r>
            <a:r>
              <a:rPr dirty="0" sz="17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not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recorded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Waning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immunity</a:t>
            </a:r>
            <a:r>
              <a:rPr dirty="0" sz="1750" spc="-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in</a:t>
            </a:r>
            <a:r>
              <a:rPr dirty="0" sz="1750" spc="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children</a:t>
            </a:r>
            <a:r>
              <a:rPr dirty="0" sz="1750" spc="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vaccinated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years</a:t>
            </a:r>
            <a:r>
              <a:rPr dirty="0" sz="1750" spc="2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ago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Misclassification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545454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rubella</a:t>
            </a:r>
            <a:r>
              <a:rPr dirty="0" sz="1750" spc="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as measles</a:t>
            </a:r>
            <a:r>
              <a:rPr dirty="0" sz="1750" spc="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(clinical</a:t>
            </a:r>
            <a:r>
              <a:rPr dirty="0" sz="17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diagnosis)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595471" y="9233678"/>
            <a:ext cx="5310505" cy="230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Screen</a:t>
            </a:r>
            <a:r>
              <a:rPr dirty="0" sz="1750" spc="13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household</a:t>
            </a:r>
            <a:r>
              <a:rPr dirty="0" sz="1750" spc="1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contacts</a:t>
            </a:r>
            <a:r>
              <a:rPr dirty="0" sz="175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6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outbreak</a:t>
            </a:r>
            <a:r>
              <a:rPr dirty="0" sz="1750" spc="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containment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15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10148886" y="6853231"/>
            <a:ext cx="6305550" cy="3143250"/>
          </a:xfrm>
          <a:prstGeom prst="rect">
            <a:avLst/>
          </a:prstGeom>
          <a:solidFill>
            <a:srgbClr val="FFFFFF"/>
          </a:solidFill>
          <a:ln w="9524">
            <a:solidFill>
              <a:srgbClr val="DFDFD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450">
              <a:latin typeface="Times New Roman"/>
              <a:cs typeface="Times New Roman"/>
            </a:endParaRPr>
          </a:p>
          <a:p>
            <a:pPr marL="459105">
              <a:lnSpc>
                <a:spcPct val="100000"/>
              </a:lnSpc>
            </a:pPr>
            <a:r>
              <a:rPr dirty="0" sz="1500" spc="50" b="1">
                <a:solidFill>
                  <a:srgbClr val="3C5980"/>
                </a:solidFill>
                <a:latin typeface="Arial"/>
                <a:cs typeface="Arial"/>
              </a:rPr>
              <a:t>RECOMMENDED</a:t>
            </a:r>
            <a:r>
              <a:rPr dirty="0" sz="1500" spc="28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10" b="1">
                <a:solidFill>
                  <a:srgbClr val="3C5980"/>
                </a:solidFill>
                <a:latin typeface="Arial"/>
                <a:cs typeface="Arial"/>
              </a:rPr>
              <a:t>ACTI</a:t>
            </a:r>
            <a:r>
              <a:rPr dirty="0" sz="1500" spc="-17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3C5980"/>
                </a:solidFill>
                <a:latin typeface="Arial"/>
                <a:cs typeface="Arial"/>
              </a:rPr>
              <a:t>ONS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Arial"/>
              <a:cs typeface="Arial"/>
            </a:endParaRPr>
          </a:p>
          <a:p>
            <a:pPr marL="459105">
              <a:lnSpc>
                <a:spcPct val="100000"/>
              </a:lnSpc>
            </a:pP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Collect</a:t>
            </a:r>
            <a:r>
              <a:rPr dirty="0" sz="175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blood</a:t>
            </a:r>
            <a:r>
              <a:rPr dirty="0" sz="1750" spc="8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samples</a:t>
            </a:r>
            <a:r>
              <a:rPr dirty="0" sz="1750" spc="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IgM</a:t>
            </a:r>
            <a:r>
              <a:rPr dirty="0" sz="1750" spc="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serology</a:t>
            </a:r>
            <a:endParaRPr sz="1750">
              <a:latin typeface="Microsoft Sans Serif"/>
              <a:cs typeface="Microsoft Sans Serif"/>
            </a:endParaRPr>
          </a:p>
          <a:p>
            <a:pPr marL="459105" marR="802640">
              <a:lnSpc>
                <a:spcPct val="133900"/>
              </a:lnSpc>
              <a:spcBef>
                <a:spcPts val="35"/>
              </a:spcBef>
            </a:pPr>
            <a:r>
              <a:rPr dirty="0" sz="1750" spc="-20">
                <a:solidFill>
                  <a:srgbClr val="545454"/>
                </a:solidFill>
                <a:latin typeface="Microsoft Sans Serif"/>
                <a:cs typeface="Microsoft Sans Serif"/>
              </a:rPr>
              <a:t>Review</a:t>
            </a:r>
            <a:r>
              <a:rPr dirty="0" sz="1750" spc="-4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cold</a:t>
            </a:r>
            <a:r>
              <a:rPr dirty="0" sz="17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chain</a:t>
            </a:r>
            <a:r>
              <a:rPr dirty="0" sz="1750" spc="10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logs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affected</a:t>
            </a:r>
            <a:r>
              <a:rPr dirty="0" sz="1750" spc="9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545454"/>
                </a:solidFill>
                <a:latin typeface="Microsoft Sans Serif"/>
                <a:cs typeface="Microsoft Sans Serif"/>
              </a:rPr>
              <a:t>HSC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batches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Cross-check</a:t>
            </a:r>
            <a:r>
              <a:rPr dirty="0" sz="1750" spc="-2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50" spc="10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register</a:t>
            </a:r>
            <a:r>
              <a:rPr dirty="0" sz="1750" spc="3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vs.</a:t>
            </a:r>
            <a:r>
              <a:rPr dirty="0" sz="1750" spc="1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545454"/>
                </a:solidFill>
                <a:latin typeface="Microsoft Sans Serif"/>
                <a:cs typeface="Microsoft Sans Serif"/>
              </a:rPr>
              <a:t>CIF</a:t>
            </a:r>
            <a:r>
              <a:rPr dirty="0" sz="1750" spc="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records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Notify</a:t>
            </a:r>
            <a:r>
              <a:rPr dirty="0" sz="1750" spc="1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State</a:t>
            </a:r>
            <a:r>
              <a:rPr dirty="0" sz="1750" spc="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60">
                <a:solidFill>
                  <a:srgbClr val="545454"/>
                </a:solidFill>
                <a:latin typeface="Microsoft Sans Serif"/>
                <a:cs typeface="Microsoft Sans Serif"/>
              </a:rPr>
              <a:t>VPD</a:t>
            </a:r>
            <a:r>
              <a:rPr dirty="0" sz="1750" spc="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Unit</a:t>
            </a:r>
            <a:r>
              <a:rPr dirty="0" sz="1750" spc="4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5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545454"/>
                </a:solidFill>
                <a:latin typeface="Microsoft Sans Serif"/>
                <a:cs typeface="Microsoft Sans Serif"/>
              </a:rPr>
              <a:t>virus</a:t>
            </a:r>
            <a:r>
              <a:rPr dirty="0" sz="1750" spc="7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545454"/>
                </a:solidFill>
                <a:latin typeface="Microsoft Sans Serif"/>
                <a:cs typeface="Microsoft Sans Serif"/>
              </a:rPr>
              <a:t>genotyping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144124" y="3428994"/>
            <a:ext cx="6315075" cy="3162300"/>
          </a:xfrm>
          <a:prstGeom prst="rect">
            <a:avLst/>
          </a:prstGeom>
          <a:solidFill>
            <a:srgbClr val="3C598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50">
              <a:latin typeface="Times New Roman"/>
              <a:cs typeface="Times New Roman"/>
            </a:endParaRPr>
          </a:p>
          <a:p>
            <a:pPr marL="454025">
              <a:lnSpc>
                <a:spcPct val="100000"/>
              </a:lnSpc>
            </a:pPr>
            <a:r>
              <a:rPr dirty="0" sz="1500" spc="10" b="1">
                <a:solidFill>
                  <a:srgbClr val="FEFEFE"/>
                </a:solidFill>
                <a:latin typeface="Arial"/>
                <a:cs typeface="Arial"/>
              </a:rPr>
              <a:t>PROPORTI</a:t>
            </a:r>
            <a:r>
              <a:rPr dirty="0" sz="1500" spc="-21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10" b="1">
                <a:solidFill>
                  <a:srgbClr val="FEFEFE"/>
                </a:solidFill>
                <a:latin typeface="Arial"/>
                <a:cs typeface="Arial"/>
              </a:rPr>
              <a:t>ON</a:t>
            </a:r>
            <a:r>
              <a:rPr dirty="0" sz="1500" spc="21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10" b="1">
                <a:solidFill>
                  <a:srgbClr val="FEFEFE"/>
                </a:solidFill>
                <a:latin typeface="Arial"/>
                <a:cs typeface="Arial"/>
              </a:rPr>
              <a:t>UNDER</a:t>
            </a:r>
            <a:r>
              <a:rPr dirty="0" sz="1500" spc="155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FEFEFE"/>
                </a:solidFill>
                <a:latin typeface="Arial Black"/>
                <a:cs typeface="Arial Black"/>
              </a:rPr>
              <a:t>9</a:t>
            </a:r>
            <a:r>
              <a:rPr dirty="0" sz="1500" spc="114">
                <a:solidFill>
                  <a:srgbClr val="FEFEFE"/>
                </a:solidFill>
                <a:latin typeface="Arial Black"/>
                <a:cs typeface="Arial Black"/>
              </a:rPr>
              <a:t> </a:t>
            </a:r>
            <a:r>
              <a:rPr dirty="0" sz="1500" spc="85" b="1">
                <a:solidFill>
                  <a:srgbClr val="FEFEFE"/>
                </a:solidFill>
                <a:latin typeface="Arial"/>
                <a:cs typeface="Arial"/>
              </a:rPr>
              <a:t>MONTHS</a:t>
            </a:r>
            <a:endParaRPr sz="1500">
              <a:latin typeface="Arial"/>
              <a:cs typeface="Arial"/>
            </a:endParaRPr>
          </a:p>
          <a:p>
            <a:pPr marL="454025">
              <a:lnSpc>
                <a:spcPct val="100000"/>
              </a:lnSpc>
              <a:spcBef>
                <a:spcPts val="275"/>
              </a:spcBef>
            </a:pPr>
            <a:r>
              <a:rPr dirty="0" sz="6100" spc="31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6100" spc="2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6100" spc="775" b="1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6100" spc="3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6100" spc="400" b="1">
                <a:solidFill>
                  <a:srgbClr val="FFFFFF"/>
                </a:solidFill>
                <a:latin typeface="Arial"/>
                <a:cs typeface="Arial"/>
              </a:rPr>
              <a:t>%</a:t>
            </a:r>
            <a:endParaRPr sz="6100">
              <a:latin typeface="Arial"/>
              <a:cs typeface="Arial"/>
            </a:endParaRPr>
          </a:p>
          <a:p>
            <a:pPr marL="454025" marR="526415">
              <a:lnSpc>
                <a:spcPct val="116599"/>
              </a:lnSpc>
              <a:spcBef>
                <a:spcPts val="160"/>
              </a:spcBef>
            </a:pPr>
            <a:r>
              <a:rPr dirty="0" sz="1850" spc="-25">
                <a:solidFill>
                  <a:srgbClr val="FFFFFF"/>
                </a:solidFill>
                <a:latin typeface="Microsoft Sans Serif"/>
                <a:cs typeface="Microsoft Sans Serif"/>
              </a:rPr>
              <a:t>Cases</a:t>
            </a:r>
            <a:r>
              <a:rPr dirty="0" sz="185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ineligible</a:t>
            </a:r>
            <a:r>
              <a:rPr dirty="0" sz="185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dirty="0" sz="185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MR</a:t>
            </a:r>
            <a:r>
              <a:rPr dirty="0" sz="1800" spc="-1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dirty="0" sz="1850" spc="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due</a:t>
            </a:r>
            <a:r>
              <a:rPr dirty="0" sz="18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dirty="0" sz="18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age</a:t>
            </a:r>
            <a:r>
              <a:rPr dirty="0" sz="185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825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dirty="0" sz="1800" spc="-1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protection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gap</a:t>
            </a:r>
            <a:r>
              <a:rPr dirty="0" sz="185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cannot</a:t>
            </a:r>
            <a:r>
              <a:rPr dirty="0" sz="185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be</a:t>
            </a:r>
            <a:r>
              <a:rPr dirty="0" sz="18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closed</a:t>
            </a:r>
            <a:r>
              <a:rPr dirty="0" sz="185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dirty="0" sz="185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>
                <a:solidFill>
                  <a:srgbClr val="FFFFFF"/>
                </a:solidFill>
                <a:latin typeface="Microsoft Sans Serif"/>
                <a:cs typeface="Microsoft Sans Serif"/>
              </a:rPr>
              <a:t>routine</a:t>
            </a:r>
            <a:r>
              <a:rPr dirty="0" sz="185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FFFFFF"/>
                </a:solidFill>
                <a:latin typeface="Microsoft Sans Serif"/>
                <a:cs typeface="Microsoft Sans Serif"/>
              </a:rPr>
              <a:t>immunization alone</a:t>
            </a:r>
            <a:endParaRPr sz="1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5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399" y="514344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635"/>
              <a:t>R</a:t>
            </a:r>
            <a:r>
              <a:rPr dirty="0" spc="-395"/>
              <a:t>e</a:t>
            </a:r>
            <a:r>
              <a:rPr dirty="0" spc="-390"/>
              <a:t>c</a:t>
            </a:r>
            <a:r>
              <a:rPr dirty="0" spc="-405"/>
              <a:t>o</a:t>
            </a:r>
            <a:r>
              <a:rPr dirty="0" spc="-420"/>
              <a:t>mm</a:t>
            </a:r>
            <a:r>
              <a:rPr dirty="0" spc="-395"/>
              <a:t>e</a:t>
            </a:r>
            <a:r>
              <a:rPr dirty="0" spc="-254"/>
              <a:t>n</a:t>
            </a:r>
            <a:r>
              <a:rPr dirty="0" spc="-270"/>
              <a:t>d</a:t>
            </a:r>
            <a:r>
              <a:rPr dirty="0" spc="-245"/>
              <a:t>a</a:t>
            </a:r>
            <a:r>
              <a:rPr dirty="0" spc="-400"/>
              <a:t>t</a:t>
            </a:r>
            <a:r>
              <a:rPr dirty="0" spc="-105"/>
              <a:t>i</a:t>
            </a:r>
            <a:r>
              <a:rPr dirty="0" spc="-405"/>
              <a:t>o</a:t>
            </a:r>
            <a:r>
              <a:rPr dirty="0" spc="-254"/>
              <a:t>n</a:t>
            </a:r>
            <a:r>
              <a:rPr dirty="0" spc="-204"/>
              <a:t>s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Priority</a:t>
            </a:r>
            <a:r>
              <a:rPr dirty="0" sz="2300" spc="-5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public</a:t>
            </a:r>
            <a:r>
              <a:rPr dirty="0" sz="2300" spc="1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health</a:t>
            </a:r>
            <a:r>
              <a:rPr dirty="0" sz="2300" spc="8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actions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across</a:t>
            </a:r>
            <a:r>
              <a:rPr dirty="0" sz="2300" spc="2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three</a:t>
            </a:r>
            <a:r>
              <a:rPr dirty="0" sz="2300" spc="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domains</a:t>
            </a:r>
            <a:endParaRPr sz="23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25167" y="3401059"/>
            <a:ext cx="4721860" cy="6370320"/>
            <a:chOff x="1725167" y="3401059"/>
            <a:chExt cx="4721860" cy="6370320"/>
          </a:xfrm>
        </p:grpSpPr>
        <p:sp>
          <p:nvSpPr>
            <p:cNvPr id="7" name="object 7"/>
            <p:cNvSpPr/>
            <p:nvPr/>
          </p:nvSpPr>
          <p:spPr>
            <a:xfrm>
              <a:off x="1725155" y="3401059"/>
              <a:ext cx="4721860" cy="6370320"/>
            </a:xfrm>
            <a:custGeom>
              <a:avLst/>
              <a:gdLst/>
              <a:ahLst/>
              <a:cxnLst/>
              <a:rect l="l" t="t" r="r" b="b"/>
              <a:pathLst>
                <a:path w="4721860" h="6370320">
                  <a:moveTo>
                    <a:pt x="4721352" y="0"/>
                  </a:moveTo>
                  <a:lnTo>
                    <a:pt x="4618482" y="0"/>
                  </a:lnTo>
                  <a:lnTo>
                    <a:pt x="4618482" y="95250"/>
                  </a:lnTo>
                  <a:lnTo>
                    <a:pt x="4618482" y="6238240"/>
                  </a:lnTo>
                  <a:lnTo>
                    <a:pt x="103632" y="6238240"/>
                  </a:lnTo>
                  <a:lnTo>
                    <a:pt x="103632" y="95250"/>
                  </a:lnTo>
                  <a:lnTo>
                    <a:pt x="4618482" y="95250"/>
                  </a:lnTo>
                  <a:lnTo>
                    <a:pt x="4618482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0" y="6238240"/>
                  </a:lnTo>
                  <a:lnTo>
                    <a:pt x="0" y="6370320"/>
                  </a:lnTo>
                  <a:lnTo>
                    <a:pt x="4721352" y="6370320"/>
                  </a:lnTo>
                  <a:lnTo>
                    <a:pt x="4721352" y="6238240"/>
                  </a:lnTo>
                  <a:lnTo>
                    <a:pt x="4721352" y="95250"/>
                  </a:lnTo>
                  <a:lnTo>
                    <a:pt x="4721352" y="94627"/>
                  </a:lnTo>
                  <a:lnTo>
                    <a:pt x="4721352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828787" y="3486149"/>
              <a:ext cx="4514850" cy="6162675"/>
            </a:xfrm>
            <a:custGeom>
              <a:avLst/>
              <a:gdLst/>
              <a:ahLst/>
              <a:cxnLst/>
              <a:rect l="l" t="t" r="r" b="b"/>
              <a:pathLst>
                <a:path w="4514850" h="6162675">
                  <a:moveTo>
                    <a:pt x="4514850" y="1171575"/>
                  </a:moveTo>
                  <a:lnTo>
                    <a:pt x="0" y="1171575"/>
                  </a:lnTo>
                  <a:lnTo>
                    <a:pt x="0" y="6162675"/>
                  </a:lnTo>
                  <a:lnTo>
                    <a:pt x="4514850" y="6162675"/>
                  </a:lnTo>
                  <a:lnTo>
                    <a:pt x="4514850" y="1171575"/>
                  </a:lnTo>
                  <a:close/>
                </a:path>
                <a:path w="4514850" h="6162675">
                  <a:moveTo>
                    <a:pt x="4514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514850" y="9525"/>
                  </a:lnTo>
                  <a:lnTo>
                    <a:pt x="4514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33562" y="3490906"/>
              <a:ext cx="4505325" cy="6153150"/>
            </a:xfrm>
            <a:custGeom>
              <a:avLst/>
              <a:gdLst/>
              <a:ahLst/>
              <a:cxnLst/>
              <a:rect l="l" t="t" r="r" b="b"/>
              <a:pathLst>
                <a:path w="4505325" h="6153150">
                  <a:moveTo>
                    <a:pt x="0" y="0"/>
                  </a:moveTo>
                  <a:lnTo>
                    <a:pt x="4505324" y="0"/>
                  </a:lnTo>
                  <a:lnTo>
                    <a:pt x="4505324" y="6153149"/>
                  </a:lnTo>
                  <a:lnTo>
                    <a:pt x="0" y="6153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00274" y="4905368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399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52399" y="0"/>
                  </a:lnTo>
                  <a:lnTo>
                    <a:pt x="152399" y="15239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533054" y="4814134"/>
            <a:ext cx="3148965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Strengthen</a:t>
            </a:r>
            <a:r>
              <a:rPr dirty="0" sz="1750" spc="-1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PHC-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level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case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detection</a:t>
            </a:r>
            <a:r>
              <a:rPr dirty="0" sz="1750" spc="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444444"/>
                </a:solidFill>
                <a:latin typeface="Microsoft Sans Serif"/>
                <a:cs typeface="Microsoft Sans Serif"/>
              </a:rPr>
              <a:t>CIF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submission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within</a:t>
            </a:r>
            <a:r>
              <a:rPr dirty="0" sz="1750" spc="9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24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hours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44444"/>
                </a:solidFill>
                <a:latin typeface="Microsoft Sans Serif"/>
                <a:cs typeface="Microsoft Sans Serif"/>
              </a:rPr>
              <a:t>of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identification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00262" y="6010274"/>
            <a:ext cx="152400" cy="2343150"/>
          </a:xfrm>
          <a:custGeom>
            <a:avLst/>
            <a:gdLst/>
            <a:ahLst/>
            <a:cxnLst/>
            <a:rect l="l" t="t" r="r" b="b"/>
            <a:pathLst>
              <a:path w="152400" h="2343150">
                <a:moveTo>
                  <a:pt x="152400" y="2200275"/>
                </a:moveTo>
                <a:lnTo>
                  <a:pt x="0" y="2200275"/>
                </a:lnTo>
                <a:lnTo>
                  <a:pt x="0" y="2343150"/>
                </a:lnTo>
                <a:lnTo>
                  <a:pt x="152400" y="2343150"/>
                </a:lnTo>
                <a:lnTo>
                  <a:pt x="152400" y="2200275"/>
                </a:lnTo>
                <a:close/>
              </a:path>
              <a:path w="152400" h="2343150">
                <a:moveTo>
                  <a:pt x="152400" y="1095375"/>
                </a:moveTo>
                <a:lnTo>
                  <a:pt x="0" y="1095375"/>
                </a:lnTo>
                <a:lnTo>
                  <a:pt x="0" y="1247775"/>
                </a:lnTo>
                <a:lnTo>
                  <a:pt x="152400" y="1247775"/>
                </a:lnTo>
                <a:lnTo>
                  <a:pt x="152400" y="1095375"/>
                </a:lnTo>
                <a:close/>
              </a:path>
              <a:path w="152400" h="2343150">
                <a:moveTo>
                  <a:pt x="152400" y="0"/>
                </a:moveTo>
                <a:lnTo>
                  <a:pt x="0" y="0"/>
                </a:lnTo>
                <a:lnTo>
                  <a:pt x="0" y="142875"/>
                </a:lnTo>
                <a:lnTo>
                  <a:pt x="152400" y="142875"/>
                </a:lnTo>
                <a:lnTo>
                  <a:pt x="152400" y="0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533054" y="5919034"/>
            <a:ext cx="341249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Collect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blood</a:t>
            </a:r>
            <a:r>
              <a:rPr dirty="0" sz="1750" spc="1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samples</a:t>
            </a:r>
            <a:r>
              <a:rPr dirty="0" sz="1750" spc="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IgM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serology</a:t>
            </a:r>
            <a:r>
              <a:rPr dirty="0" sz="175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all</a:t>
            </a:r>
            <a:r>
              <a:rPr dirty="0" sz="1750" spc="17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suspected</a:t>
            </a:r>
            <a:r>
              <a:rPr dirty="0" sz="1750" spc="1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cases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1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confirm</a:t>
            </a:r>
            <a:r>
              <a:rPr dirty="0" sz="1750" spc="1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diagnosis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3054" y="7014409"/>
            <a:ext cx="3386454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Enhance</a:t>
            </a:r>
            <a:r>
              <a:rPr dirty="0" sz="1750" spc="8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weekly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reporting</a:t>
            </a:r>
            <a:r>
              <a:rPr dirty="0" sz="1750" spc="1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9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45">
                <a:solidFill>
                  <a:srgbClr val="444444"/>
                </a:solidFill>
                <a:latin typeface="Microsoft Sans Serif"/>
                <a:cs typeface="Microsoft Sans Serif"/>
              </a:rPr>
              <a:t>all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35 </a:t>
            </a:r>
            <a:r>
              <a:rPr dirty="0" sz="1750" spc="-50">
                <a:solidFill>
                  <a:srgbClr val="444444"/>
                </a:solidFill>
                <a:latin typeface="Microsoft Sans Serif"/>
                <a:cs typeface="Microsoft Sans Serif"/>
              </a:rPr>
              <a:t>PHC</a:t>
            </a:r>
            <a:r>
              <a:rPr dirty="0" sz="175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14">
                <a:solidFill>
                  <a:srgbClr val="444444"/>
                </a:solidFill>
                <a:latin typeface="Microsoft Sans Serif"/>
                <a:cs typeface="Microsoft Sans Serif"/>
              </a:rPr>
              <a:t>/</a:t>
            </a:r>
            <a:r>
              <a:rPr dirty="0" sz="175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444444"/>
                </a:solidFill>
                <a:latin typeface="Microsoft Sans Serif"/>
                <a:cs typeface="Microsoft Sans Serif"/>
              </a:rPr>
              <a:t>UPHC</a:t>
            </a:r>
            <a:r>
              <a:rPr dirty="0" sz="175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areas</a:t>
            </a:r>
            <a:r>
              <a:rPr dirty="0" sz="1750" spc="-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-1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detect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clusters</a:t>
            </a:r>
            <a:r>
              <a:rPr dirty="0" sz="1750" spc="10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early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33054" y="8119309"/>
            <a:ext cx="329057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Conduct</a:t>
            </a:r>
            <a:r>
              <a:rPr dirty="0" sz="1750" spc="114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contact</a:t>
            </a:r>
            <a:r>
              <a:rPr dirty="0" sz="1750" spc="1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tracing</a:t>
            </a:r>
            <a:r>
              <a:rPr dirty="0" sz="1750" spc="204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1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each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confirmed</a:t>
            </a:r>
            <a:r>
              <a:rPr dirty="0" sz="1750" spc="1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case,</a:t>
            </a:r>
            <a:r>
              <a:rPr dirty="0" sz="1750" spc="20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especially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in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urban</a:t>
            </a:r>
            <a:r>
              <a:rPr dirty="0" sz="1750" spc="8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clusters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781800" y="3401059"/>
            <a:ext cx="4724400" cy="6370320"/>
            <a:chOff x="6781800" y="3401059"/>
            <a:chExt cx="4724400" cy="6370320"/>
          </a:xfrm>
        </p:grpSpPr>
        <p:sp>
          <p:nvSpPr>
            <p:cNvPr id="17" name="object 17"/>
            <p:cNvSpPr/>
            <p:nvPr/>
          </p:nvSpPr>
          <p:spPr>
            <a:xfrm>
              <a:off x="6781787" y="3401059"/>
              <a:ext cx="4724400" cy="6370320"/>
            </a:xfrm>
            <a:custGeom>
              <a:avLst/>
              <a:gdLst/>
              <a:ahLst/>
              <a:cxnLst/>
              <a:rect l="l" t="t" r="r" b="b"/>
              <a:pathLst>
                <a:path w="4724400" h="6370320">
                  <a:moveTo>
                    <a:pt x="4724400" y="0"/>
                  </a:moveTo>
                  <a:lnTo>
                    <a:pt x="4619625" y="0"/>
                  </a:lnTo>
                  <a:lnTo>
                    <a:pt x="4619625" y="95250"/>
                  </a:lnTo>
                  <a:lnTo>
                    <a:pt x="4619625" y="6238240"/>
                  </a:lnTo>
                  <a:lnTo>
                    <a:pt x="104775" y="6238240"/>
                  </a:lnTo>
                  <a:lnTo>
                    <a:pt x="104775" y="95250"/>
                  </a:lnTo>
                  <a:lnTo>
                    <a:pt x="4619625" y="95250"/>
                  </a:lnTo>
                  <a:lnTo>
                    <a:pt x="4619625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0" y="6238240"/>
                  </a:lnTo>
                  <a:lnTo>
                    <a:pt x="0" y="6370320"/>
                  </a:lnTo>
                  <a:lnTo>
                    <a:pt x="4724400" y="6370320"/>
                  </a:lnTo>
                  <a:lnTo>
                    <a:pt x="4724400" y="6238240"/>
                  </a:lnTo>
                  <a:lnTo>
                    <a:pt x="4724400" y="95250"/>
                  </a:lnTo>
                  <a:lnTo>
                    <a:pt x="4724400" y="94627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886562" y="3486149"/>
              <a:ext cx="4514850" cy="6162675"/>
            </a:xfrm>
            <a:custGeom>
              <a:avLst/>
              <a:gdLst/>
              <a:ahLst/>
              <a:cxnLst/>
              <a:rect l="l" t="t" r="r" b="b"/>
              <a:pathLst>
                <a:path w="4514850" h="6162675">
                  <a:moveTo>
                    <a:pt x="4514850" y="1171575"/>
                  </a:moveTo>
                  <a:lnTo>
                    <a:pt x="0" y="1171575"/>
                  </a:lnTo>
                  <a:lnTo>
                    <a:pt x="0" y="6162675"/>
                  </a:lnTo>
                  <a:lnTo>
                    <a:pt x="4514850" y="6162675"/>
                  </a:lnTo>
                  <a:lnTo>
                    <a:pt x="4514850" y="1171575"/>
                  </a:lnTo>
                  <a:close/>
                </a:path>
                <a:path w="4514850" h="6162675">
                  <a:moveTo>
                    <a:pt x="4514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514850" y="9525"/>
                  </a:lnTo>
                  <a:lnTo>
                    <a:pt x="4514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91337" y="3490906"/>
              <a:ext cx="4505325" cy="6153150"/>
            </a:xfrm>
            <a:custGeom>
              <a:avLst/>
              <a:gdLst/>
              <a:ahLst/>
              <a:cxnLst/>
              <a:rect l="l" t="t" r="r" b="b"/>
              <a:pathLst>
                <a:path w="4505325" h="6153150">
                  <a:moveTo>
                    <a:pt x="0" y="0"/>
                  </a:moveTo>
                  <a:lnTo>
                    <a:pt x="4505324" y="0"/>
                  </a:lnTo>
                  <a:lnTo>
                    <a:pt x="4505324" y="6153149"/>
                  </a:lnTo>
                  <a:lnTo>
                    <a:pt x="0" y="6153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267574" y="4905368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4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42874" y="0"/>
                  </a:lnTo>
                  <a:lnTo>
                    <a:pt x="142874" y="15239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592763" y="4814134"/>
            <a:ext cx="340741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Review</a:t>
            </a:r>
            <a:r>
              <a:rPr dirty="0" sz="1750" spc="-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cold</a:t>
            </a:r>
            <a:r>
              <a:rPr dirty="0" sz="1750" spc="7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chain</a:t>
            </a:r>
            <a:r>
              <a:rPr dirty="0" sz="1750" spc="8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logs</a:t>
            </a:r>
            <a:r>
              <a:rPr dirty="0" sz="1750" spc="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at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Kaspa,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Sathuvachari,</a:t>
            </a:r>
            <a:r>
              <a:rPr dirty="0" sz="1750" spc="-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Lakshmipuram </a:t>
            </a:r>
            <a:r>
              <a:rPr dirty="0" sz="1750" spc="-45">
                <a:solidFill>
                  <a:srgbClr val="444444"/>
                </a:solidFill>
                <a:latin typeface="Microsoft Sans Serif"/>
                <a:cs typeface="Microsoft Sans Serif"/>
              </a:rPr>
              <a:t>UPHCs</a:t>
            </a:r>
            <a:r>
              <a:rPr dirty="0" sz="1750" spc="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95">
                <a:solidFill>
                  <a:srgbClr val="444444"/>
                </a:solidFill>
                <a:latin typeface="Microsoft Sans Serif"/>
                <a:cs typeface="Microsoft Sans Serif"/>
              </a:rPr>
              <a:t>—</a:t>
            </a:r>
            <a:r>
              <a:rPr dirty="0" sz="1750" spc="-1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highest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case</a:t>
            </a:r>
            <a:r>
              <a:rPr dirty="0" sz="1750" spc="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load</a:t>
            </a:r>
            <a:r>
              <a:rPr dirty="0" sz="1750" spc="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areas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67562" y="6010274"/>
            <a:ext cx="142875" cy="2343150"/>
          </a:xfrm>
          <a:custGeom>
            <a:avLst/>
            <a:gdLst/>
            <a:ahLst/>
            <a:cxnLst/>
            <a:rect l="l" t="t" r="r" b="b"/>
            <a:pathLst>
              <a:path w="142875" h="2343150">
                <a:moveTo>
                  <a:pt x="142875" y="2200275"/>
                </a:moveTo>
                <a:lnTo>
                  <a:pt x="0" y="2200275"/>
                </a:lnTo>
                <a:lnTo>
                  <a:pt x="0" y="2343150"/>
                </a:lnTo>
                <a:lnTo>
                  <a:pt x="142875" y="2343150"/>
                </a:lnTo>
                <a:lnTo>
                  <a:pt x="142875" y="2200275"/>
                </a:lnTo>
                <a:close/>
              </a:path>
              <a:path w="142875" h="2343150">
                <a:moveTo>
                  <a:pt x="142875" y="1095375"/>
                </a:moveTo>
                <a:lnTo>
                  <a:pt x="0" y="1095375"/>
                </a:lnTo>
                <a:lnTo>
                  <a:pt x="0" y="1247775"/>
                </a:lnTo>
                <a:lnTo>
                  <a:pt x="142875" y="1247775"/>
                </a:lnTo>
                <a:lnTo>
                  <a:pt x="142875" y="1095375"/>
                </a:lnTo>
                <a:close/>
              </a:path>
              <a:path w="142875" h="2343150">
                <a:moveTo>
                  <a:pt x="142875" y="0"/>
                </a:moveTo>
                <a:lnTo>
                  <a:pt x="0" y="0"/>
                </a:lnTo>
                <a:lnTo>
                  <a:pt x="0" y="142875"/>
                </a:lnTo>
                <a:lnTo>
                  <a:pt x="142875" y="142875"/>
                </a:lnTo>
                <a:lnTo>
                  <a:pt x="142875" y="0"/>
                </a:lnTo>
                <a:close/>
              </a:path>
            </a:pathLst>
          </a:custGeom>
          <a:solidFill>
            <a:srgbClr val="98C1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592763" y="5919034"/>
            <a:ext cx="3348354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Conduct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targeted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MR-II</a:t>
            </a:r>
            <a:r>
              <a:rPr dirty="0" sz="1750" spc="1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45">
                <a:solidFill>
                  <a:srgbClr val="444444"/>
                </a:solidFill>
                <a:latin typeface="Microsoft Sans Serif"/>
                <a:cs typeface="Microsoft Sans Serif"/>
              </a:rPr>
              <a:t>follow-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up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campaigns</a:t>
            </a:r>
            <a:r>
              <a:rPr dirty="0" sz="1750" spc="6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45">
                <a:solidFill>
                  <a:srgbClr val="444444"/>
                </a:solidFill>
                <a:latin typeface="Microsoft Sans Serif"/>
                <a:cs typeface="Microsoft Sans Serif"/>
              </a:rPr>
              <a:t>R.N.Palayam</a:t>
            </a:r>
            <a:r>
              <a:rPr dirty="0" sz="1750" spc="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(+8)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6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Vallalar</a:t>
            </a:r>
            <a:r>
              <a:rPr dirty="0" sz="1750" spc="1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(+6)</a:t>
            </a:r>
            <a:r>
              <a:rPr dirty="0" sz="1750" spc="16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dropout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sectors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92763" y="7014409"/>
            <a:ext cx="3416935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Ensure</a:t>
            </a:r>
            <a:r>
              <a:rPr dirty="0" sz="1750" spc="-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50" spc="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444444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-6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all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children</a:t>
            </a:r>
            <a:r>
              <a:rPr dirty="0" sz="1750" spc="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175">
                <a:solidFill>
                  <a:srgbClr val="444444"/>
                </a:solidFill>
                <a:latin typeface="Microsoft Sans Serif"/>
                <a:cs typeface="Microsoft Sans Serif"/>
              </a:rPr>
              <a:t>9–</a:t>
            </a:r>
            <a:r>
              <a:rPr dirty="0" sz="1750" spc="-150">
                <a:solidFill>
                  <a:srgbClr val="444444"/>
                </a:solidFill>
                <a:latin typeface="Microsoft Sans Serif"/>
                <a:cs typeface="Microsoft Sans Serif"/>
              </a:rPr>
              <a:t>12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months</a:t>
            </a:r>
            <a:r>
              <a:rPr dirty="0" sz="1750" spc="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MR-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I</a:t>
            </a:r>
            <a:r>
              <a:rPr dirty="0" sz="1750" spc="1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as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per</a:t>
            </a:r>
            <a:r>
              <a:rPr dirty="0" sz="1750" spc="114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schedule</a:t>
            </a:r>
            <a:r>
              <a:rPr dirty="0" sz="1750" spc="1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without</a:t>
            </a:r>
            <a:r>
              <a:rPr dirty="0" sz="1750" spc="10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delay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92763" y="8119309"/>
            <a:ext cx="298577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Address</a:t>
            </a:r>
            <a:r>
              <a:rPr dirty="0" sz="1750" spc="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"Not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 Known"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50" spc="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status</a:t>
            </a:r>
            <a:r>
              <a:rPr dirty="0" sz="175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(32.9%)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through</a:t>
            </a:r>
            <a:r>
              <a:rPr dirty="0" sz="1750" spc="7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50" spc="7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register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841479" y="3401059"/>
            <a:ext cx="4721860" cy="6370320"/>
            <a:chOff x="11841479" y="3401059"/>
            <a:chExt cx="4721860" cy="6370320"/>
          </a:xfrm>
        </p:grpSpPr>
        <p:sp>
          <p:nvSpPr>
            <p:cNvPr id="27" name="object 27"/>
            <p:cNvSpPr/>
            <p:nvPr/>
          </p:nvSpPr>
          <p:spPr>
            <a:xfrm>
              <a:off x="11841467" y="3401059"/>
              <a:ext cx="4721860" cy="6370320"/>
            </a:xfrm>
            <a:custGeom>
              <a:avLst/>
              <a:gdLst/>
              <a:ahLst/>
              <a:cxnLst/>
              <a:rect l="l" t="t" r="r" b="b"/>
              <a:pathLst>
                <a:path w="4721859" h="6370320">
                  <a:moveTo>
                    <a:pt x="4721352" y="0"/>
                  </a:moveTo>
                  <a:lnTo>
                    <a:pt x="4617720" y="0"/>
                  </a:lnTo>
                  <a:lnTo>
                    <a:pt x="4617720" y="95250"/>
                  </a:lnTo>
                  <a:lnTo>
                    <a:pt x="4617720" y="6238240"/>
                  </a:lnTo>
                  <a:lnTo>
                    <a:pt x="102870" y="6238240"/>
                  </a:lnTo>
                  <a:lnTo>
                    <a:pt x="102870" y="95250"/>
                  </a:lnTo>
                  <a:lnTo>
                    <a:pt x="4617720" y="95250"/>
                  </a:lnTo>
                  <a:lnTo>
                    <a:pt x="461772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0" y="6238240"/>
                  </a:lnTo>
                  <a:lnTo>
                    <a:pt x="0" y="6370320"/>
                  </a:lnTo>
                  <a:lnTo>
                    <a:pt x="4721352" y="6370320"/>
                  </a:lnTo>
                  <a:lnTo>
                    <a:pt x="4721352" y="6238240"/>
                  </a:lnTo>
                  <a:lnTo>
                    <a:pt x="4721352" y="95250"/>
                  </a:lnTo>
                  <a:lnTo>
                    <a:pt x="4721352" y="94627"/>
                  </a:lnTo>
                  <a:lnTo>
                    <a:pt x="4721352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1944337" y="3486149"/>
              <a:ext cx="4514850" cy="6162675"/>
            </a:xfrm>
            <a:custGeom>
              <a:avLst/>
              <a:gdLst/>
              <a:ahLst/>
              <a:cxnLst/>
              <a:rect l="l" t="t" r="r" b="b"/>
              <a:pathLst>
                <a:path w="4514850" h="6162675">
                  <a:moveTo>
                    <a:pt x="4514850" y="1171575"/>
                  </a:moveTo>
                  <a:lnTo>
                    <a:pt x="0" y="1171575"/>
                  </a:lnTo>
                  <a:lnTo>
                    <a:pt x="0" y="6162675"/>
                  </a:lnTo>
                  <a:lnTo>
                    <a:pt x="4514850" y="6162675"/>
                  </a:lnTo>
                  <a:lnTo>
                    <a:pt x="4514850" y="1171575"/>
                  </a:lnTo>
                  <a:close/>
                </a:path>
                <a:path w="4514850" h="6162675">
                  <a:moveTo>
                    <a:pt x="45148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4514850" y="9525"/>
                  </a:lnTo>
                  <a:lnTo>
                    <a:pt x="4514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1949111" y="3490906"/>
              <a:ext cx="4505325" cy="6153150"/>
            </a:xfrm>
            <a:custGeom>
              <a:avLst/>
              <a:gdLst/>
              <a:ahLst/>
              <a:cxnLst/>
              <a:rect l="l" t="t" r="r" b="b"/>
              <a:pathLst>
                <a:path w="4505325" h="6153150">
                  <a:moveTo>
                    <a:pt x="0" y="0"/>
                  </a:moveTo>
                  <a:lnTo>
                    <a:pt x="4505324" y="0"/>
                  </a:lnTo>
                  <a:lnTo>
                    <a:pt x="4505324" y="6153149"/>
                  </a:lnTo>
                  <a:lnTo>
                    <a:pt x="0" y="6153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FDF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2325348" y="4905368"/>
              <a:ext cx="142875" cy="152400"/>
            </a:xfrm>
            <a:custGeom>
              <a:avLst/>
              <a:gdLst/>
              <a:ahLst/>
              <a:cxnLst/>
              <a:rect l="l" t="t" r="r" b="b"/>
              <a:pathLst>
                <a:path w="142875" h="152400">
                  <a:moveTo>
                    <a:pt x="142874" y="152399"/>
                  </a:moveTo>
                  <a:lnTo>
                    <a:pt x="0" y="152399"/>
                  </a:lnTo>
                  <a:lnTo>
                    <a:pt x="0" y="0"/>
                  </a:lnTo>
                  <a:lnTo>
                    <a:pt x="142874" y="0"/>
                  </a:lnTo>
                  <a:lnTo>
                    <a:pt x="142874" y="152399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2652474" y="4814134"/>
            <a:ext cx="342265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Conduct</a:t>
            </a:r>
            <a:r>
              <a:rPr dirty="0" sz="1750" spc="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rapid</a:t>
            </a:r>
            <a:r>
              <a:rPr dirty="0" sz="1750" spc="10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risk</a:t>
            </a:r>
            <a:r>
              <a:rPr dirty="0" sz="1750" spc="-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assessment</a:t>
            </a:r>
            <a:r>
              <a:rPr dirty="0" sz="1750" spc="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for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Kaspa</a:t>
            </a:r>
            <a:r>
              <a:rPr dirty="0" sz="1750" spc="-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-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Sathuvachari</a:t>
            </a:r>
            <a:r>
              <a:rPr dirty="0" sz="175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UPHCs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given</a:t>
            </a:r>
            <a:r>
              <a:rPr dirty="0" sz="1750" spc="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sustained</a:t>
            </a:r>
            <a:r>
              <a:rPr dirty="0" sz="1750" spc="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case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reporting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325337" y="6010274"/>
            <a:ext cx="142875" cy="2343150"/>
          </a:xfrm>
          <a:custGeom>
            <a:avLst/>
            <a:gdLst/>
            <a:ahLst/>
            <a:cxnLst/>
            <a:rect l="l" t="t" r="r" b="b"/>
            <a:pathLst>
              <a:path w="142875" h="2343150">
                <a:moveTo>
                  <a:pt x="142875" y="2200275"/>
                </a:moveTo>
                <a:lnTo>
                  <a:pt x="0" y="2200275"/>
                </a:lnTo>
                <a:lnTo>
                  <a:pt x="0" y="2343150"/>
                </a:lnTo>
                <a:lnTo>
                  <a:pt x="142875" y="2343150"/>
                </a:lnTo>
                <a:lnTo>
                  <a:pt x="142875" y="2200275"/>
                </a:lnTo>
                <a:close/>
              </a:path>
              <a:path w="142875" h="2343150">
                <a:moveTo>
                  <a:pt x="142875" y="1095375"/>
                </a:moveTo>
                <a:lnTo>
                  <a:pt x="0" y="1095375"/>
                </a:lnTo>
                <a:lnTo>
                  <a:pt x="0" y="1247775"/>
                </a:lnTo>
                <a:lnTo>
                  <a:pt x="142875" y="1247775"/>
                </a:lnTo>
                <a:lnTo>
                  <a:pt x="142875" y="1095375"/>
                </a:lnTo>
                <a:close/>
              </a:path>
              <a:path w="142875" h="2343150">
                <a:moveTo>
                  <a:pt x="142875" y="0"/>
                </a:moveTo>
                <a:lnTo>
                  <a:pt x="0" y="0"/>
                </a:lnTo>
                <a:lnTo>
                  <a:pt x="0" y="142875"/>
                </a:lnTo>
                <a:lnTo>
                  <a:pt x="142875" y="142875"/>
                </a:lnTo>
                <a:lnTo>
                  <a:pt x="142875" y="0"/>
                </a:lnTo>
                <a:close/>
              </a:path>
            </a:pathLst>
          </a:custGeom>
          <a:solidFill>
            <a:srgbClr val="ED6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12652474" y="5919034"/>
            <a:ext cx="3151505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Declare</a:t>
            </a:r>
            <a:r>
              <a:rPr dirty="0" sz="1750" spc="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outbreak</a:t>
            </a:r>
            <a:r>
              <a:rPr dirty="0" sz="1750" spc="-1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response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protocol</a:t>
            </a:r>
            <a:r>
              <a:rPr dirty="0" sz="1750" spc="1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5">
                <a:solidFill>
                  <a:srgbClr val="444444"/>
                </a:solidFill>
                <a:latin typeface="Microsoft Sans Serif"/>
                <a:cs typeface="Microsoft Sans Serif"/>
              </a:rPr>
              <a:t>if</a:t>
            </a:r>
            <a:r>
              <a:rPr dirty="0" sz="175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3+</a:t>
            </a:r>
            <a:r>
              <a:rPr dirty="0" sz="1750" spc="13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cases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same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school</a:t>
            </a:r>
            <a:r>
              <a:rPr dirty="0" sz="1750" spc="17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or</a:t>
            </a:r>
            <a:r>
              <a:rPr dirty="0" sz="1750" spc="4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locality</a:t>
            </a:r>
            <a:r>
              <a:rPr dirty="0" sz="1750" spc="1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are</a:t>
            </a:r>
            <a:r>
              <a:rPr dirty="0" sz="1750" spc="5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confirmed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80063" y="9157478"/>
            <a:ext cx="1126490" cy="230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verification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545"/>
              </a:lnSpc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34" name="object 34"/>
          <p:cNvSpPr txBox="1"/>
          <p:nvPr/>
        </p:nvSpPr>
        <p:spPr>
          <a:xfrm>
            <a:off x="12652474" y="7014409"/>
            <a:ext cx="335026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Submit</a:t>
            </a:r>
            <a:r>
              <a:rPr dirty="0" sz="1750" spc="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representative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viral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isolates</a:t>
            </a:r>
            <a:r>
              <a:rPr dirty="0" sz="1750" spc="10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8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genotyping</a:t>
            </a:r>
            <a:r>
              <a:rPr dirty="0" sz="1750" spc="14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to</a:t>
            </a:r>
            <a:r>
              <a:rPr dirty="0" sz="1750" spc="9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identify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circulating</a:t>
            </a:r>
            <a:r>
              <a:rPr dirty="0" sz="1750" spc="6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measles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strains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652474" y="8119309"/>
            <a:ext cx="3417570" cy="968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>
              <a:lnSpc>
                <a:spcPct val="117900"/>
              </a:lnSpc>
              <a:spcBef>
                <a:spcPts val="90"/>
              </a:spcBef>
            </a:pP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Coordinate</a:t>
            </a:r>
            <a:r>
              <a:rPr dirty="0" sz="1750" spc="-2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CMC</a:t>
            </a:r>
            <a:r>
              <a:rPr dirty="0" sz="1750" spc="-3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444444"/>
                </a:solidFill>
                <a:latin typeface="Microsoft Sans Serif"/>
                <a:cs typeface="Microsoft Sans Serif"/>
              </a:rPr>
              <a:t>GVMCH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10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timely</a:t>
            </a:r>
            <a:r>
              <a:rPr dirty="0" sz="1750" spc="7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case</a:t>
            </a:r>
            <a:r>
              <a:rPr dirty="0" sz="1750" spc="125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notification</a:t>
            </a:r>
            <a:r>
              <a:rPr dirty="0" sz="1750" spc="19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5">
                <a:solidFill>
                  <a:srgbClr val="444444"/>
                </a:solidFill>
                <a:latin typeface="Microsoft Sans Serif"/>
                <a:cs typeface="Microsoft Sans Serif"/>
              </a:rPr>
              <a:t>and </a:t>
            </a:r>
            <a:r>
              <a:rPr dirty="0" sz="1750">
                <a:solidFill>
                  <a:srgbClr val="444444"/>
                </a:solidFill>
                <a:latin typeface="Microsoft Sans Serif"/>
                <a:cs typeface="Microsoft Sans Serif"/>
              </a:rPr>
              <a:t>specimen</a:t>
            </a:r>
            <a:r>
              <a:rPr dirty="0" sz="1750" spc="50">
                <a:solidFill>
                  <a:srgbClr val="444444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444444"/>
                </a:solidFill>
                <a:latin typeface="Microsoft Sans Serif"/>
                <a:cs typeface="Microsoft Sans Serif"/>
              </a:rPr>
              <a:t>referral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38324" y="3495668"/>
            <a:ext cx="4495800" cy="1162050"/>
          </a:xfrm>
          <a:prstGeom prst="rect">
            <a:avLst/>
          </a:prstGeom>
          <a:solidFill>
            <a:srgbClr val="3C5980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dirty="0" sz="1450" spc="65" b="1">
                <a:solidFill>
                  <a:srgbClr val="FEFEFE"/>
                </a:solidFill>
                <a:latin typeface="Arial"/>
                <a:cs typeface="Arial"/>
              </a:rPr>
              <a:t>DOMAI</a:t>
            </a:r>
            <a:r>
              <a:rPr dirty="0" sz="1450" spc="-20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FEFEFE"/>
                </a:solidFill>
                <a:latin typeface="Arial"/>
                <a:cs typeface="Arial"/>
              </a:rPr>
              <a:t>N</a:t>
            </a:r>
            <a:r>
              <a:rPr dirty="0" sz="1450" spc="20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spc="-25" b="1">
                <a:solidFill>
                  <a:srgbClr val="FEFEFE"/>
                </a:solidFill>
                <a:latin typeface="Arial"/>
                <a:cs typeface="Arial"/>
              </a:rPr>
              <a:t>01</a:t>
            </a:r>
            <a:endParaRPr sz="1450">
              <a:latin typeface="Arial"/>
              <a:cs typeface="Arial"/>
            </a:endParaRPr>
          </a:p>
          <a:p>
            <a:pPr marL="365125">
              <a:lnSpc>
                <a:spcPct val="100000"/>
              </a:lnSpc>
              <a:spcBef>
                <a:spcPts val="735"/>
              </a:spcBef>
            </a:pPr>
            <a:r>
              <a:rPr dirty="0" sz="2500" spc="-10" b="1">
                <a:solidFill>
                  <a:srgbClr val="FFFFFF"/>
                </a:solidFill>
                <a:latin typeface="Arial"/>
                <a:cs typeface="Arial"/>
              </a:rPr>
              <a:t>Surveillance</a:t>
            </a:r>
            <a:endParaRPr sz="25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96099" y="3495668"/>
            <a:ext cx="4495800" cy="1162050"/>
          </a:xfrm>
          <a:prstGeom prst="rect">
            <a:avLst/>
          </a:prstGeom>
          <a:solidFill>
            <a:srgbClr val="98C1D9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imes New Roman"/>
              <a:cs typeface="Times New Roman"/>
            </a:endParaRPr>
          </a:p>
          <a:p>
            <a:pPr marL="367030">
              <a:lnSpc>
                <a:spcPct val="100000"/>
              </a:lnSpc>
            </a:pPr>
            <a:r>
              <a:rPr dirty="0" sz="1450" spc="65" b="1">
                <a:solidFill>
                  <a:srgbClr val="FEFEFE"/>
                </a:solidFill>
                <a:latin typeface="Arial"/>
                <a:cs typeface="Arial"/>
              </a:rPr>
              <a:t>DOMAI</a:t>
            </a:r>
            <a:r>
              <a:rPr dirty="0" sz="1450" spc="-20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FEFEFE"/>
                </a:solidFill>
                <a:latin typeface="Arial"/>
                <a:cs typeface="Arial"/>
              </a:rPr>
              <a:t>N</a:t>
            </a:r>
            <a:r>
              <a:rPr dirty="0" sz="1450" spc="20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spc="120" b="1">
                <a:solidFill>
                  <a:srgbClr val="FEFEFE"/>
                </a:solidFill>
                <a:latin typeface="Arial"/>
                <a:cs typeface="Arial"/>
              </a:rPr>
              <a:t>02</a:t>
            </a:r>
            <a:endParaRPr sz="1450">
              <a:latin typeface="Arial"/>
              <a:cs typeface="Arial"/>
            </a:endParaRPr>
          </a:p>
          <a:p>
            <a:pPr marL="367030">
              <a:lnSpc>
                <a:spcPct val="100000"/>
              </a:lnSpc>
              <a:spcBef>
                <a:spcPts val="735"/>
              </a:spcBef>
            </a:pPr>
            <a:r>
              <a:rPr dirty="0" sz="2500" spc="-10" b="1">
                <a:solidFill>
                  <a:srgbClr val="FFFFFF"/>
                </a:solidFill>
                <a:latin typeface="Arial"/>
                <a:cs typeface="Arial"/>
              </a:rPr>
              <a:t>Immunization</a:t>
            </a:r>
            <a:endParaRPr sz="2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953874" y="3495668"/>
            <a:ext cx="4495800" cy="1162050"/>
          </a:xfrm>
          <a:prstGeom prst="rect">
            <a:avLst/>
          </a:prstGeom>
          <a:solidFill>
            <a:srgbClr val="ED6B4D"/>
          </a:solidFill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imes New Roman"/>
              <a:cs typeface="Times New Roman"/>
            </a:endParaRPr>
          </a:p>
          <a:p>
            <a:pPr marL="368935">
              <a:lnSpc>
                <a:spcPct val="100000"/>
              </a:lnSpc>
            </a:pPr>
            <a:r>
              <a:rPr dirty="0" sz="1450" spc="65" b="1">
                <a:solidFill>
                  <a:srgbClr val="FEFEFE"/>
                </a:solidFill>
                <a:latin typeface="Arial"/>
                <a:cs typeface="Arial"/>
              </a:rPr>
              <a:t>DOMAI</a:t>
            </a:r>
            <a:r>
              <a:rPr dirty="0" sz="1450" spc="-200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FEFEFE"/>
                </a:solidFill>
                <a:latin typeface="Arial"/>
                <a:cs typeface="Arial"/>
              </a:rPr>
              <a:t>N</a:t>
            </a:r>
            <a:r>
              <a:rPr dirty="0" sz="1450" spc="204" b="1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dirty="0" sz="1450" spc="140" b="1">
                <a:solidFill>
                  <a:srgbClr val="FEFEFE"/>
                </a:solidFill>
                <a:latin typeface="Arial"/>
                <a:cs typeface="Arial"/>
              </a:rPr>
              <a:t>03</a:t>
            </a:r>
            <a:endParaRPr sz="1450">
              <a:latin typeface="Arial"/>
              <a:cs typeface="Arial"/>
            </a:endParaRPr>
          </a:p>
          <a:p>
            <a:pPr marL="368935">
              <a:lnSpc>
                <a:spcPct val="100000"/>
              </a:lnSpc>
              <a:spcBef>
                <a:spcPts val="735"/>
              </a:spcBef>
            </a:pPr>
            <a:r>
              <a:rPr dirty="0" sz="2500" spc="-65" b="1">
                <a:solidFill>
                  <a:srgbClr val="FFFFFF"/>
                </a:solidFill>
                <a:latin typeface="Arial"/>
                <a:cs typeface="Arial"/>
              </a:rPr>
              <a:t>Outbreak</a:t>
            </a:r>
            <a:r>
              <a:rPr dirty="0" sz="2500" spc="-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Arial"/>
                <a:cs typeface="Arial"/>
              </a:rPr>
              <a:t>Response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6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8020043"/>
            <a:ext cx="18288000" cy="2266950"/>
          </a:xfrm>
          <a:custGeom>
            <a:avLst/>
            <a:gdLst/>
            <a:ahLst/>
            <a:cxnLst/>
            <a:rect l="l" t="t" r="r" b="b"/>
            <a:pathLst>
              <a:path w="18288000" h="2266950">
                <a:moveTo>
                  <a:pt x="18287998" y="2266949"/>
                </a:moveTo>
                <a:lnTo>
                  <a:pt x="0" y="22669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22669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399" y="514343"/>
            <a:ext cx="552450" cy="552450"/>
          </a:xfrm>
          <a:custGeom>
            <a:avLst/>
            <a:gdLst/>
            <a:ahLst/>
            <a:cxnLst/>
            <a:rect l="l" t="t" r="r" b="b"/>
            <a:pathLst>
              <a:path w="552450" h="552450">
                <a:moveTo>
                  <a:pt x="552449" y="552449"/>
                </a:moveTo>
                <a:lnTo>
                  <a:pt x="0" y="552449"/>
                </a:lnTo>
                <a:lnTo>
                  <a:pt x="0" y="0"/>
                </a:lnTo>
                <a:lnTo>
                  <a:pt x="552449" y="0"/>
                </a:lnTo>
                <a:lnTo>
                  <a:pt x="552449" y="552449"/>
                </a:lnTo>
                <a:close/>
              </a:path>
            </a:pathLst>
          </a:custGeom>
          <a:solidFill>
            <a:srgbClr val="3C59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457136" y="383339"/>
            <a:ext cx="3913504" cy="632460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VELLORE</a:t>
            </a:r>
            <a:r>
              <a:rPr dirty="0" sz="1350" spc="29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DI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STRI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CT</a:t>
            </a:r>
            <a:r>
              <a:rPr dirty="0" sz="1350" spc="254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3C5980"/>
                </a:solidFill>
                <a:latin typeface="Arial Black"/>
                <a:cs typeface="Arial Black"/>
              </a:rPr>
              <a:t>|</a:t>
            </a:r>
            <a:r>
              <a:rPr dirty="0" sz="1550" spc="305">
                <a:solidFill>
                  <a:srgbClr val="3C5980"/>
                </a:solidFill>
                <a:latin typeface="Arial Black"/>
                <a:cs typeface="Arial Black"/>
              </a:rPr>
              <a:t> </a:t>
            </a:r>
            <a:r>
              <a:rPr dirty="0" sz="1350" spc="80" b="1">
                <a:solidFill>
                  <a:srgbClr val="3C5980"/>
                </a:solidFill>
                <a:latin typeface="Arial"/>
                <a:cs typeface="Arial"/>
              </a:rPr>
              <a:t>VPD</a:t>
            </a:r>
            <a:r>
              <a:rPr dirty="0" sz="1350" spc="270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3C5980"/>
                </a:solidFill>
                <a:latin typeface="Arial"/>
                <a:cs typeface="Arial"/>
              </a:rPr>
              <a:t>SURVEI</a:t>
            </a:r>
            <a:r>
              <a:rPr dirty="0" sz="1350" spc="-145" b="1">
                <a:solidFill>
                  <a:srgbClr val="3C5980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3C5980"/>
                </a:solidFill>
                <a:latin typeface="Arial"/>
                <a:cs typeface="Arial"/>
              </a:rPr>
              <a:t>LLANCE</a:t>
            </a:r>
            <a:endParaRPr sz="1350">
              <a:latin typeface="Arial"/>
              <a:cs typeface="Arial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250" spc="24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OF</a:t>
            </a:r>
            <a:r>
              <a:rPr dirty="0" sz="1250" spc="275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TAMI</a:t>
            </a:r>
            <a:r>
              <a:rPr dirty="0" sz="1250" spc="-12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L</a:t>
            </a:r>
            <a:r>
              <a:rPr dirty="0" sz="1250" spc="26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50">
                <a:solidFill>
                  <a:srgbClr val="999999"/>
                </a:solidFill>
                <a:latin typeface="Microsoft Sans Serif"/>
                <a:cs typeface="Microsoft Sans Serif"/>
              </a:rPr>
              <a:t>NADU</a:t>
            </a:r>
            <a:r>
              <a:rPr dirty="0" sz="1250" spc="290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80">
                <a:solidFill>
                  <a:srgbClr val="999999"/>
                </a:solidFill>
                <a:latin typeface="Microsoft Sans Serif"/>
                <a:cs typeface="Microsoft Sans Serif"/>
              </a:rPr>
              <a:t>/</a:t>
            </a:r>
            <a:r>
              <a:rPr dirty="0" sz="1200" spc="254">
                <a:solidFill>
                  <a:srgbClr val="999999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100">
                <a:solidFill>
                  <a:srgbClr val="999999"/>
                </a:solidFill>
                <a:latin typeface="Microsoft Sans Serif"/>
                <a:cs typeface="Microsoft Sans Serif"/>
              </a:rPr>
              <a:t>2026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dirty="0" spc="-355"/>
              <a:t>Conclusion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Summary</a:t>
            </a:r>
            <a:r>
              <a:rPr dirty="0" sz="2300" spc="-4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2300" spc="8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way</a:t>
            </a:r>
            <a:r>
              <a:rPr dirty="0" sz="2300" spc="-3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forward</a:t>
            </a:r>
            <a:r>
              <a:rPr dirty="0" sz="2300" spc="8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2300" spc="15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20" b="0">
                <a:solidFill>
                  <a:srgbClr val="666666"/>
                </a:solidFill>
                <a:latin typeface="Microsoft Sans Serif"/>
                <a:cs typeface="Microsoft Sans Serif"/>
              </a:rPr>
              <a:t>Vellore</a:t>
            </a:r>
            <a:r>
              <a:rPr dirty="0" sz="2300" spc="2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b="0">
                <a:solidFill>
                  <a:srgbClr val="666666"/>
                </a:solidFill>
                <a:latin typeface="Microsoft Sans Serif"/>
                <a:cs typeface="Microsoft Sans Serif"/>
              </a:rPr>
              <a:t>District </a:t>
            </a:r>
            <a:r>
              <a:rPr dirty="0" sz="2300" spc="-100" b="0">
                <a:solidFill>
                  <a:srgbClr val="666666"/>
                </a:solidFill>
                <a:latin typeface="Microsoft Sans Serif"/>
                <a:cs typeface="Microsoft Sans Serif"/>
              </a:rPr>
              <a:t>VPD</a:t>
            </a:r>
            <a:r>
              <a:rPr dirty="0" sz="2300" spc="30" b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2300" spc="-10" b="0">
                <a:solidFill>
                  <a:srgbClr val="666666"/>
                </a:solidFill>
                <a:latin typeface="Microsoft Sans Serif"/>
                <a:cs typeface="Microsoft Sans Serif"/>
              </a:rPr>
              <a:t>surveillance</a:t>
            </a:r>
            <a:endParaRPr sz="23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828799" y="3486143"/>
            <a:ext cx="7858125" cy="1485900"/>
            <a:chOff x="1828799" y="3486143"/>
            <a:chExt cx="7858125" cy="1485900"/>
          </a:xfrm>
        </p:grpSpPr>
        <p:sp>
          <p:nvSpPr>
            <p:cNvPr id="8" name="object 8"/>
            <p:cNvSpPr/>
            <p:nvPr/>
          </p:nvSpPr>
          <p:spPr>
            <a:xfrm>
              <a:off x="1828799" y="3486143"/>
              <a:ext cx="7858125" cy="1485900"/>
            </a:xfrm>
            <a:custGeom>
              <a:avLst/>
              <a:gdLst/>
              <a:ahLst/>
              <a:cxnLst/>
              <a:rect l="l" t="t" r="r" b="b"/>
              <a:pathLst>
                <a:path w="7858125" h="1485900">
                  <a:moveTo>
                    <a:pt x="7858124" y="1485899"/>
                  </a:moveTo>
                  <a:lnTo>
                    <a:pt x="0" y="1485899"/>
                  </a:lnTo>
                  <a:lnTo>
                    <a:pt x="0" y="0"/>
                  </a:lnTo>
                  <a:lnTo>
                    <a:pt x="7858124" y="0"/>
                  </a:lnTo>
                  <a:lnTo>
                    <a:pt x="7858124" y="1485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828787" y="3486149"/>
              <a:ext cx="7858125" cy="1485900"/>
            </a:xfrm>
            <a:custGeom>
              <a:avLst/>
              <a:gdLst/>
              <a:ahLst/>
              <a:cxnLst/>
              <a:rect l="l" t="t" r="r" b="b"/>
              <a:pathLst>
                <a:path w="7858125" h="1485900">
                  <a:moveTo>
                    <a:pt x="7858125" y="0"/>
                  </a:moveTo>
                  <a:lnTo>
                    <a:pt x="78486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7848600" y="9525"/>
                  </a:lnTo>
                  <a:lnTo>
                    <a:pt x="7848600" y="1476375"/>
                  </a:lnTo>
                  <a:lnTo>
                    <a:pt x="0" y="1476375"/>
                  </a:lnTo>
                  <a:lnTo>
                    <a:pt x="0" y="1485900"/>
                  </a:lnTo>
                  <a:lnTo>
                    <a:pt x="7848600" y="1485900"/>
                  </a:lnTo>
                  <a:lnTo>
                    <a:pt x="7858125" y="1485900"/>
                  </a:lnTo>
                  <a:lnTo>
                    <a:pt x="7858125" y="1476375"/>
                  </a:lnTo>
                  <a:lnTo>
                    <a:pt x="7858125" y="9525"/>
                  </a:lnTo>
                  <a:lnTo>
                    <a:pt x="78581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828799" y="3486143"/>
              <a:ext cx="38100" cy="1485900"/>
            </a:xfrm>
            <a:custGeom>
              <a:avLst/>
              <a:gdLst/>
              <a:ahLst/>
              <a:cxnLst/>
              <a:rect l="l" t="t" r="r" b="b"/>
              <a:pathLst>
                <a:path w="38100" h="1485900">
                  <a:moveTo>
                    <a:pt x="0" y="148589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76374"/>
                  </a:lnTo>
                  <a:lnTo>
                    <a:pt x="0" y="1485899"/>
                  </a:lnTo>
                  <a:close/>
                </a:path>
              </a:pathLst>
            </a:custGeom>
            <a:solidFill>
              <a:srgbClr val="3C59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866899" y="3560769"/>
            <a:ext cx="7810500" cy="116459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110"/>
              </a:spcBef>
            </a:pPr>
            <a:r>
              <a:rPr dirty="0" sz="1950" spc="55" b="1">
                <a:solidFill>
                  <a:srgbClr val="111111"/>
                </a:solidFill>
                <a:latin typeface="Arial"/>
                <a:cs typeface="Arial"/>
              </a:rPr>
              <a:t>73</a:t>
            </a:r>
            <a:r>
              <a:rPr dirty="0" sz="1950" spc="-10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5" b="1">
                <a:solidFill>
                  <a:srgbClr val="111111"/>
                </a:solidFill>
                <a:latin typeface="Arial"/>
                <a:cs typeface="Arial"/>
              </a:rPr>
              <a:t>suspected</a:t>
            </a:r>
            <a:r>
              <a:rPr dirty="0" sz="2050" spc="-8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0" b="1">
                <a:solidFill>
                  <a:srgbClr val="111111"/>
                </a:solidFill>
                <a:latin typeface="Arial"/>
                <a:cs typeface="Arial"/>
              </a:rPr>
              <a:t>cases</a:t>
            </a:r>
            <a:r>
              <a:rPr dirty="0" sz="2050" spc="-13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80" b="1">
                <a:solidFill>
                  <a:srgbClr val="111111"/>
                </a:solidFill>
                <a:latin typeface="Arial"/>
                <a:cs typeface="Arial"/>
              </a:rPr>
              <a:t>across</a:t>
            </a:r>
            <a:r>
              <a:rPr dirty="0" sz="2050" spc="-13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105" b="1">
                <a:solidFill>
                  <a:srgbClr val="111111"/>
                </a:solidFill>
                <a:latin typeface="Arial"/>
                <a:cs typeface="Arial"/>
              </a:rPr>
              <a:t>35</a:t>
            </a:r>
            <a:r>
              <a:rPr dirty="0" sz="1950" spc="-9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14" b="1">
                <a:solidFill>
                  <a:srgbClr val="111111"/>
                </a:solidFill>
                <a:latin typeface="Arial"/>
                <a:cs typeface="Arial"/>
              </a:rPr>
              <a:t>PHC</a:t>
            </a:r>
            <a:r>
              <a:rPr dirty="0" sz="2050" spc="-1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950" spc="225" b="1">
                <a:solidFill>
                  <a:srgbClr val="111111"/>
                </a:solidFill>
                <a:latin typeface="Arial"/>
                <a:cs typeface="Arial"/>
              </a:rPr>
              <a:t>/</a:t>
            </a:r>
            <a:r>
              <a:rPr dirty="0" sz="1950" spc="-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20" b="1">
                <a:solidFill>
                  <a:srgbClr val="111111"/>
                </a:solidFill>
                <a:latin typeface="Arial"/>
                <a:cs typeface="Arial"/>
              </a:rPr>
              <a:t>UPHC</a:t>
            </a:r>
            <a:r>
              <a:rPr dirty="0" sz="2050" spc="-15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areas</a:t>
            </a:r>
            <a:endParaRPr sz="2050">
              <a:latin typeface="Arial"/>
              <a:cs typeface="Arial"/>
            </a:endParaRPr>
          </a:p>
          <a:p>
            <a:pPr marL="365125" marR="604520">
              <a:lnSpc>
                <a:spcPct val="117900"/>
              </a:lnSpc>
              <a:spcBef>
                <a:spcPts val="540"/>
              </a:spcBef>
            </a:pP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Sustained</a:t>
            </a:r>
            <a:r>
              <a:rPr dirty="0" sz="1750" spc="10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transmission</a:t>
            </a:r>
            <a:r>
              <a:rPr dirty="0" sz="1750" spc="1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from</a:t>
            </a:r>
            <a:r>
              <a:rPr dirty="0" sz="1750" spc="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January</a:t>
            </a:r>
            <a:r>
              <a:rPr dirty="0" sz="175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through</a:t>
            </a:r>
            <a:r>
              <a:rPr dirty="0" sz="1750" spc="114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July</a:t>
            </a:r>
            <a:r>
              <a:rPr dirty="0" sz="1750" spc="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2026,</a:t>
            </a:r>
            <a:r>
              <a:rPr dirty="0" sz="1750" spc="17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1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March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June</a:t>
            </a:r>
            <a:r>
              <a:rPr dirty="0" sz="17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as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peak</a:t>
            </a:r>
            <a:r>
              <a:rPr dirty="0" sz="1750" spc="-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months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95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1750" spc="-16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both</a:t>
            </a:r>
            <a:r>
              <a:rPr dirty="0" sz="1750" spc="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666666"/>
                </a:solidFill>
                <a:latin typeface="Microsoft Sans Serif"/>
                <a:cs typeface="Microsoft Sans Serif"/>
              </a:rPr>
              <a:t>PHC</a:t>
            </a:r>
            <a:r>
              <a:rPr dirty="0" sz="175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50">
                <a:solidFill>
                  <a:srgbClr val="666666"/>
                </a:solidFill>
                <a:latin typeface="Microsoft Sans Serif"/>
                <a:cs typeface="Microsoft Sans Serif"/>
              </a:rPr>
              <a:t>UPHC</a:t>
            </a:r>
            <a:r>
              <a:rPr dirty="0" sz="1750" spc="-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areas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are</a:t>
            </a:r>
            <a:r>
              <a:rPr dirty="0" sz="17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affected.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28799" y="5172068"/>
            <a:ext cx="7858125" cy="1485900"/>
            <a:chOff x="1828799" y="5172068"/>
            <a:chExt cx="7858125" cy="1485900"/>
          </a:xfrm>
        </p:grpSpPr>
        <p:sp>
          <p:nvSpPr>
            <p:cNvPr id="13" name="object 13"/>
            <p:cNvSpPr/>
            <p:nvPr/>
          </p:nvSpPr>
          <p:spPr>
            <a:xfrm>
              <a:off x="1828799" y="5172068"/>
              <a:ext cx="7858125" cy="1485900"/>
            </a:xfrm>
            <a:custGeom>
              <a:avLst/>
              <a:gdLst/>
              <a:ahLst/>
              <a:cxnLst/>
              <a:rect l="l" t="t" r="r" b="b"/>
              <a:pathLst>
                <a:path w="7858125" h="1485900">
                  <a:moveTo>
                    <a:pt x="7858124" y="1485899"/>
                  </a:moveTo>
                  <a:lnTo>
                    <a:pt x="0" y="1485899"/>
                  </a:lnTo>
                  <a:lnTo>
                    <a:pt x="0" y="0"/>
                  </a:lnTo>
                  <a:lnTo>
                    <a:pt x="7858124" y="0"/>
                  </a:lnTo>
                  <a:lnTo>
                    <a:pt x="7858124" y="1485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28787" y="5172074"/>
              <a:ext cx="7858125" cy="1485900"/>
            </a:xfrm>
            <a:custGeom>
              <a:avLst/>
              <a:gdLst/>
              <a:ahLst/>
              <a:cxnLst/>
              <a:rect l="l" t="t" r="r" b="b"/>
              <a:pathLst>
                <a:path w="7858125" h="1485900">
                  <a:moveTo>
                    <a:pt x="7858125" y="0"/>
                  </a:moveTo>
                  <a:lnTo>
                    <a:pt x="78486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7848600" y="9525"/>
                  </a:lnTo>
                  <a:lnTo>
                    <a:pt x="7848600" y="1476375"/>
                  </a:lnTo>
                  <a:lnTo>
                    <a:pt x="0" y="1476375"/>
                  </a:lnTo>
                  <a:lnTo>
                    <a:pt x="0" y="1485900"/>
                  </a:lnTo>
                  <a:lnTo>
                    <a:pt x="7848600" y="1485900"/>
                  </a:lnTo>
                  <a:lnTo>
                    <a:pt x="7858125" y="1485900"/>
                  </a:lnTo>
                  <a:lnTo>
                    <a:pt x="7858125" y="1476375"/>
                  </a:lnTo>
                  <a:lnTo>
                    <a:pt x="7858125" y="9525"/>
                  </a:lnTo>
                  <a:lnTo>
                    <a:pt x="78581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28799" y="5172068"/>
              <a:ext cx="38100" cy="1485900"/>
            </a:xfrm>
            <a:custGeom>
              <a:avLst/>
              <a:gdLst/>
              <a:ahLst/>
              <a:cxnLst/>
              <a:rect l="l" t="t" r="r" b="b"/>
              <a:pathLst>
                <a:path w="38100" h="1485900">
                  <a:moveTo>
                    <a:pt x="0" y="1485899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476374"/>
                  </a:lnTo>
                  <a:lnTo>
                    <a:pt x="0" y="1485899"/>
                  </a:lnTo>
                  <a:close/>
                </a:path>
              </a:pathLst>
            </a:custGeom>
            <a:solidFill>
              <a:srgbClr val="98C1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866899" y="5246693"/>
            <a:ext cx="7810500" cy="116459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110"/>
              </a:spcBef>
            </a:pPr>
            <a:r>
              <a:rPr dirty="0" sz="2050" spc="-95" b="1">
                <a:solidFill>
                  <a:srgbClr val="111111"/>
                </a:solidFill>
                <a:latin typeface="Arial"/>
                <a:cs typeface="Arial"/>
              </a:rPr>
              <a:t>High</a:t>
            </a: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50" b="1">
                <a:solidFill>
                  <a:srgbClr val="111111"/>
                </a:solidFill>
                <a:latin typeface="Arial"/>
                <a:cs typeface="Arial"/>
              </a:rPr>
              <a:t>infant</a:t>
            </a:r>
            <a:r>
              <a:rPr dirty="0" sz="2050" spc="-12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55" b="1">
                <a:solidFill>
                  <a:srgbClr val="111111"/>
                </a:solidFill>
                <a:latin typeface="Arial"/>
                <a:cs typeface="Arial"/>
              </a:rPr>
              <a:t>vulnerability</a:t>
            </a:r>
            <a:r>
              <a:rPr dirty="0" sz="2050" spc="-17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requires</a:t>
            </a:r>
            <a:r>
              <a:rPr dirty="0" sz="205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0" b="1">
                <a:solidFill>
                  <a:srgbClr val="111111"/>
                </a:solidFill>
                <a:latin typeface="Arial"/>
                <a:cs typeface="Arial"/>
              </a:rPr>
              <a:t>structural</a:t>
            </a:r>
            <a:r>
              <a:rPr dirty="0" sz="2050" spc="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response</a:t>
            </a:r>
            <a:endParaRPr sz="2050">
              <a:latin typeface="Arial"/>
              <a:cs typeface="Arial"/>
            </a:endParaRPr>
          </a:p>
          <a:p>
            <a:pPr marL="365125" marR="406400">
              <a:lnSpc>
                <a:spcPct val="117900"/>
              </a:lnSpc>
              <a:spcBef>
                <a:spcPts val="540"/>
              </a:spcBef>
            </a:pP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38.4%</a:t>
            </a:r>
            <a:r>
              <a:rPr dirty="0" sz="1750" spc="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1750" spc="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are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under</a:t>
            </a:r>
            <a:r>
              <a:rPr dirty="0" sz="1750" spc="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400">
                <a:solidFill>
                  <a:srgbClr val="666666"/>
                </a:solidFill>
                <a:latin typeface="Microsoft Sans Serif"/>
                <a:cs typeface="Microsoft Sans Serif"/>
              </a:rPr>
              <a:t>1</a:t>
            </a:r>
            <a:r>
              <a:rPr dirty="0" sz="1750" spc="1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year</a:t>
            </a:r>
            <a:r>
              <a:rPr dirty="0" sz="175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795">
                <a:solidFill>
                  <a:srgbClr val="666666"/>
                </a:solidFill>
                <a:latin typeface="Microsoft Sans Serif"/>
                <a:cs typeface="Microsoft Sans Serif"/>
              </a:rPr>
              <a:t>—</a:t>
            </a:r>
            <a:r>
              <a:rPr dirty="0" sz="1750" spc="-1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ineligible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for</a:t>
            </a:r>
            <a:r>
              <a:rPr dirty="0" sz="1750" spc="2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routine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MR-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I.</a:t>
            </a:r>
            <a:r>
              <a:rPr dirty="0" sz="1750" spc="1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Antenatal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care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linkage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maternal</a:t>
            </a:r>
            <a:r>
              <a:rPr dirty="0" sz="1750" spc="1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immunity</a:t>
            </a:r>
            <a:r>
              <a:rPr dirty="0" sz="1750" spc="-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assessment</a:t>
            </a:r>
            <a:r>
              <a:rPr dirty="0" sz="1750" spc="-2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should</a:t>
            </a:r>
            <a:r>
              <a:rPr dirty="0" sz="1750" spc="4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be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considered.</a:t>
            </a:r>
            <a:endParaRPr sz="175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28799" y="6857993"/>
            <a:ext cx="7858125" cy="1800225"/>
            <a:chOff x="1828799" y="6857993"/>
            <a:chExt cx="7858125" cy="1800225"/>
          </a:xfrm>
        </p:grpSpPr>
        <p:sp>
          <p:nvSpPr>
            <p:cNvPr id="18" name="object 18"/>
            <p:cNvSpPr/>
            <p:nvPr/>
          </p:nvSpPr>
          <p:spPr>
            <a:xfrm>
              <a:off x="1828799" y="6857993"/>
              <a:ext cx="7858125" cy="1800225"/>
            </a:xfrm>
            <a:custGeom>
              <a:avLst/>
              <a:gdLst/>
              <a:ahLst/>
              <a:cxnLst/>
              <a:rect l="l" t="t" r="r" b="b"/>
              <a:pathLst>
                <a:path w="7858125" h="1800225">
                  <a:moveTo>
                    <a:pt x="7858124" y="1800224"/>
                  </a:moveTo>
                  <a:lnTo>
                    <a:pt x="0" y="1800224"/>
                  </a:lnTo>
                  <a:lnTo>
                    <a:pt x="0" y="0"/>
                  </a:lnTo>
                  <a:lnTo>
                    <a:pt x="7858124" y="0"/>
                  </a:lnTo>
                  <a:lnTo>
                    <a:pt x="7858124" y="1800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28787" y="6857999"/>
              <a:ext cx="7858125" cy="1800225"/>
            </a:xfrm>
            <a:custGeom>
              <a:avLst/>
              <a:gdLst/>
              <a:ahLst/>
              <a:cxnLst/>
              <a:rect l="l" t="t" r="r" b="b"/>
              <a:pathLst>
                <a:path w="7858125" h="1800225">
                  <a:moveTo>
                    <a:pt x="7858125" y="0"/>
                  </a:moveTo>
                  <a:lnTo>
                    <a:pt x="784860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7848600" y="9525"/>
                  </a:lnTo>
                  <a:lnTo>
                    <a:pt x="7848600" y="1790700"/>
                  </a:lnTo>
                  <a:lnTo>
                    <a:pt x="0" y="1790700"/>
                  </a:lnTo>
                  <a:lnTo>
                    <a:pt x="0" y="1800225"/>
                  </a:lnTo>
                  <a:lnTo>
                    <a:pt x="7848600" y="1800225"/>
                  </a:lnTo>
                  <a:lnTo>
                    <a:pt x="7858125" y="1800225"/>
                  </a:lnTo>
                  <a:lnTo>
                    <a:pt x="7858125" y="1790700"/>
                  </a:lnTo>
                  <a:lnTo>
                    <a:pt x="7858125" y="9525"/>
                  </a:lnTo>
                  <a:lnTo>
                    <a:pt x="785812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828799" y="6857993"/>
              <a:ext cx="38100" cy="1800225"/>
            </a:xfrm>
            <a:custGeom>
              <a:avLst/>
              <a:gdLst/>
              <a:ahLst/>
              <a:cxnLst/>
              <a:rect l="l" t="t" r="r" b="b"/>
              <a:pathLst>
                <a:path w="38100" h="1800225">
                  <a:moveTo>
                    <a:pt x="0" y="1800224"/>
                  </a:moveTo>
                  <a:lnTo>
                    <a:pt x="0" y="0"/>
                  </a:lnTo>
                  <a:lnTo>
                    <a:pt x="38099" y="9524"/>
                  </a:lnTo>
                  <a:lnTo>
                    <a:pt x="38099" y="1790699"/>
                  </a:lnTo>
                  <a:lnTo>
                    <a:pt x="0" y="1800224"/>
                  </a:lnTo>
                  <a:close/>
                </a:path>
              </a:pathLst>
            </a:custGeom>
            <a:solidFill>
              <a:srgbClr val="ED6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866899" y="6932618"/>
            <a:ext cx="7810500" cy="147891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110"/>
              </a:spcBef>
            </a:pP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Immunization</a:t>
            </a:r>
            <a:r>
              <a:rPr dirty="0" sz="2050" spc="-4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65" b="1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r>
              <a:rPr dirty="0" sz="205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40" b="1">
                <a:solidFill>
                  <a:srgbClr val="111111"/>
                </a:solidFill>
                <a:latin typeface="Arial"/>
                <a:cs typeface="Arial"/>
              </a:rPr>
              <a:t>review</a:t>
            </a:r>
            <a:r>
              <a:rPr dirty="0" sz="2050" spc="-2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75" b="1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dirty="0" sz="2050" spc="-9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2050" spc="-25" b="1">
                <a:solidFill>
                  <a:srgbClr val="111111"/>
                </a:solidFill>
                <a:latin typeface="Arial"/>
                <a:cs typeface="Arial"/>
              </a:rPr>
              <a:t>non</a:t>
            </a:r>
            <a:r>
              <a:rPr dirty="0" sz="1950" spc="-25" b="1">
                <a:solidFill>
                  <a:srgbClr val="111111"/>
                </a:solidFill>
                <a:latin typeface="Arial"/>
                <a:cs typeface="Arial"/>
              </a:rPr>
              <a:t>-</a:t>
            </a:r>
            <a:r>
              <a:rPr dirty="0" sz="2050" spc="-10" b="1">
                <a:solidFill>
                  <a:srgbClr val="111111"/>
                </a:solidFill>
                <a:latin typeface="Arial"/>
                <a:cs typeface="Arial"/>
              </a:rPr>
              <a:t>negotiable</a:t>
            </a:r>
            <a:endParaRPr sz="2050">
              <a:latin typeface="Arial"/>
              <a:cs typeface="Arial"/>
            </a:endParaRPr>
          </a:p>
          <a:p>
            <a:pPr marL="365125" marR="528955">
              <a:lnSpc>
                <a:spcPct val="117900"/>
              </a:lnSpc>
              <a:spcBef>
                <a:spcPts val="540"/>
              </a:spcBef>
            </a:pP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With</a:t>
            </a:r>
            <a:r>
              <a:rPr dirty="0" sz="1750" spc="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20">
                <a:solidFill>
                  <a:srgbClr val="666666"/>
                </a:solidFill>
                <a:latin typeface="Microsoft Sans Serif"/>
                <a:cs typeface="Microsoft Sans Serif"/>
              </a:rPr>
              <a:t>61.6%</a:t>
            </a:r>
            <a:r>
              <a:rPr dirty="0" sz="1750" spc="4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85">
                <a:solidFill>
                  <a:srgbClr val="666666"/>
                </a:solidFill>
                <a:latin typeface="Microsoft Sans Serif"/>
                <a:cs typeface="Microsoft Sans Serif"/>
              </a:rPr>
              <a:t>of</a:t>
            </a:r>
            <a:r>
              <a:rPr dirty="0" sz="1750" spc="-5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cases</a:t>
            </a:r>
            <a:r>
              <a:rPr dirty="0" sz="1750" spc="-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having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complete</a:t>
            </a:r>
            <a:r>
              <a:rPr dirty="0" sz="1750" spc="-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immunization</a:t>
            </a:r>
            <a:r>
              <a:rPr dirty="0" sz="1750" spc="3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status,</a:t>
            </a:r>
            <a:r>
              <a:rPr dirty="0" sz="1750" spc="9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cold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chain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integrity</a:t>
            </a:r>
            <a:r>
              <a:rPr dirty="0" sz="1750" spc="1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and</a:t>
            </a:r>
            <a:r>
              <a:rPr dirty="0" sz="1750" spc="10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programme</a:t>
            </a:r>
            <a:r>
              <a:rPr dirty="0" sz="1750" spc="5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fidelity</a:t>
            </a:r>
            <a:r>
              <a:rPr dirty="0" sz="1750" spc="1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must</a:t>
            </a:r>
            <a:r>
              <a:rPr dirty="0" sz="1750" spc="3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be</a:t>
            </a:r>
            <a:r>
              <a:rPr dirty="0" sz="1750" spc="6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audited</a:t>
            </a:r>
            <a:r>
              <a:rPr dirty="0" sz="1750" spc="105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across</a:t>
            </a:r>
            <a:r>
              <a:rPr dirty="0" sz="1750" spc="7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>
                <a:solidFill>
                  <a:srgbClr val="666666"/>
                </a:solidFill>
                <a:latin typeface="Microsoft Sans Serif"/>
                <a:cs typeface="Microsoft Sans Serif"/>
              </a:rPr>
              <a:t>all</a:t>
            </a:r>
            <a:r>
              <a:rPr dirty="0" sz="1750" spc="18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affected </a:t>
            </a:r>
            <a:r>
              <a:rPr dirty="0" sz="1750" spc="-50">
                <a:solidFill>
                  <a:srgbClr val="666666"/>
                </a:solidFill>
                <a:latin typeface="Microsoft Sans Serif"/>
                <a:cs typeface="Microsoft Sans Serif"/>
              </a:rPr>
              <a:t>HSC</a:t>
            </a:r>
            <a:r>
              <a:rPr dirty="0" sz="1750" spc="-7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dirty="0" sz="1750" spc="-10">
                <a:solidFill>
                  <a:srgbClr val="666666"/>
                </a:solidFill>
                <a:latin typeface="Microsoft Sans Serif"/>
                <a:cs typeface="Microsoft Sans Serif"/>
              </a:rPr>
              <a:t>sectors.</a:t>
            </a:r>
            <a:endParaRPr sz="17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420349" y="3486143"/>
            <a:ext cx="6038850" cy="3657600"/>
          </a:xfrm>
          <a:custGeom>
            <a:avLst/>
            <a:gdLst/>
            <a:ahLst/>
            <a:cxnLst/>
            <a:rect l="l" t="t" r="r" b="b"/>
            <a:pathLst>
              <a:path w="6038850" h="3657600">
                <a:moveTo>
                  <a:pt x="6038849" y="3657599"/>
                </a:moveTo>
                <a:lnTo>
                  <a:pt x="0" y="3657599"/>
                </a:lnTo>
                <a:lnTo>
                  <a:pt x="0" y="0"/>
                </a:lnTo>
                <a:lnTo>
                  <a:pt x="6038849" y="0"/>
                </a:lnTo>
                <a:lnTo>
                  <a:pt x="6038849" y="3657599"/>
                </a:lnTo>
                <a:close/>
              </a:path>
            </a:pathLst>
          </a:custGeom>
          <a:solidFill>
            <a:srgbClr val="F1F4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873382" y="3936632"/>
            <a:ext cx="117221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500" spc="80" b="1">
                <a:solidFill>
                  <a:srgbClr val="3C5980"/>
                </a:solidFill>
                <a:latin typeface="Arial"/>
                <a:cs typeface="Arial"/>
              </a:rPr>
              <a:t>SNAPSHOT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73382" y="4418280"/>
            <a:ext cx="118872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50" spc="-25">
                <a:solidFill>
                  <a:srgbClr val="545454"/>
                </a:solidFill>
                <a:latin typeface="Microsoft Sans Serif"/>
                <a:cs typeface="Microsoft Sans Serif"/>
              </a:rPr>
              <a:t>Total</a:t>
            </a:r>
            <a:r>
              <a:rPr dirty="0" sz="1850" spc="-7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736340" y="4421227"/>
            <a:ext cx="28067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spc="-25" b="1">
                <a:solidFill>
                  <a:srgbClr val="111111"/>
                </a:solidFill>
                <a:latin typeface="Arial"/>
                <a:cs typeface="Arial"/>
              </a:rPr>
              <a:t>73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73382" y="4904055"/>
            <a:ext cx="131953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Under</a:t>
            </a:r>
            <a:r>
              <a:rPr dirty="0" sz="1850" spc="-65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00" spc="-409">
                <a:solidFill>
                  <a:srgbClr val="545454"/>
                </a:solidFill>
                <a:latin typeface="Microsoft Sans Serif"/>
                <a:cs typeface="Microsoft Sans Serif"/>
              </a:rPr>
              <a:t>1</a:t>
            </a:r>
            <a:r>
              <a:rPr dirty="0" sz="1800" spc="11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year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779375" y="4907002"/>
            <a:ext cx="122301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spc="100" b="1">
                <a:solidFill>
                  <a:srgbClr val="111111"/>
                </a:solidFill>
                <a:latin typeface="Arial"/>
                <a:cs typeface="Arial"/>
              </a:rPr>
              <a:t>28</a:t>
            </a:r>
            <a:r>
              <a:rPr dirty="0" sz="1800" spc="-11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65" b="1">
                <a:solidFill>
                  <a:srgbClr val="111111"/>
                </a:solidFill>
                <a:latin typeface="Arial"/>
                <a:cs typeface="Arial"/>
              </a:rPr>
              <a:t>(38.4%)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73382" y="5380305"/>
            <a:ext cx="181927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Immunized</a:t>
            </a:r>
            <a:r>
              <a:rPr dirty="0" sz="1850" spc="-114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cases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830572" y="5383252"/>
            <a:ext cx="117221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spc="114" b="1">
                <a:solidFill>
                  <a:srgbClr val="111111"/>
                </a:solidFill>
                <a:latin typeface="Arial"/>
                <a:cs typeface="Arial"/>
              </a:rPr>
              <a:t>45</a:t>
            </a:r>
            <a:r>
              <a:rPr dirty="0" sz="1800" spc="-10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11111"/>
                </a:solidFill>
                <a:latin typeface="Arial"/>
                <a:cs typeface="Arial"/>
              </a:rPr>
              <a:t>(61.6%)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873382" y="5866080"/>
            <a:ext cx="178498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50">
                <a:solidFill>
                  <a:srgbClr val="545454"/>
                </a:solidFill>
                <a:latin typeface="Microsoft Sans Serif"/>
                <a:cs typeface="Microsoft Sans Serif"/>
              </a:rPr>
              <a:t>Tertiary</a:t>
            </a:r>
            <a:r>
              <a:rPr dirty="0" sz="1800">
                <a:solidFill>
                  <a:srgbClr val="545454"/>
                </a:solidFill>
                <a:latin typeface="Microsoft Sans Serif"/>
                <a:cs typeface="Microsoft Sans Serif"/>
              </a:rPr>
              <a:t>-</a:t>
            </a:r>
            <a:r>
              <a:rPr dirty="0" sz="1850" spc="-10">
                <a:solidFill>
                  <a:srgbClr val="545454"/>
                </a:solidFill>
                <a:latin typeface="Microsoft Sans Serif"/>
                <a:cs typeface="Microsoft Sans Serif"/>
              </a:rPr>
              <a:t>reported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780863" y="5869027"/>
            <a:ext cx="122174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spc="85" b="1">
                <a:solidFill>
                  <a:srgbClr val="111111"/>
                </a:solidFill>
                <a:latin typeface="Arial"/>
                <a:cs typeface="Arial"/>
              </a:rPr>
              <a:t>47</a:t>
            </a:r>
            <a:r>
              <a:rPr dirty="0" sz="180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70" b="1">
                <a:solidFill>
                  <a:srgbClr val="111111"/>
                </a:solidFill>
                <a:latin typeface="Arial"/>
                <a:cs typeface="Arial"/>
              </a:rPr>
              <a:t>(64.4%)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73382" y="6351855"/>
            <a:ext cx="123507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50" spc="-45">
                <a:solidFill>
                  <a:srgbClr val="545454"/>
                </a:solidFill>
                <a:latin typeface="Microsoft Sans Serif"/>
                <a:cs typeface="Microsoft Sans Serif"/>
              </a:rPr>
              <a:t>Peak</a:t>
            </a:r>
            <a:r>
              <a:rPr dirty="0" sz="1850" spc="-50">
                <a:solidFill>
                  <a:srgbClr val="545454"/>
                </a:solidFill>
                <a:latin typeface="Microsoft Sans Serif"/>
                <a:cs typeface="Microsoft Sans Serif"/>
              </a:rPr>
              <a:t> </a:t>
            </a:r>
            <a:r>
              <a:rPr dirty="0" sz="1850" spc="-20">
                <a:solidFill>
                  <a:srgbClr val="545454"/>
                </a:solidFill>
                <a:latin typeface="Microsoft Sans Serif"/>
                <a:cs typeface="Microsoft Sans Serif"/>
              </a:rPr>
              <a:t>month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194183" y="6354802"/>
            <a:ext cx="1808480" cy="3054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800" b="1">
                <a:solidFill>
                  <a:srgbClr val="111111"/>
                </a:solidFill>
                <a:latin typeface="Arial"/>
                <a:cs typeface="Arial"/>
              </a:rPr>
              <a:t>March</a:t>
            </a:r>
            <a:r>
              <a:rPr dirty="0" sz="1800" spc="-6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111111"/>
                </a:solidFill>
                <a:latin typeface="Arial"/>
                <a:cs typeface="Arial"/>
              </a:rPr>
              <a:t>(17</a:t>
            </a:r>
            <a:r>
              <a:rPr dirty="0" sz="1800" spc="-114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111111"/>
                </a:solidFill>
                <a:latin typeface="Arial"/>
                <a:cs typeface="Arial"/>
              </a:rPr>
              <a:t>cases)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16099" y="8871084"/>
            <a:ext cx="7963534" cy="871855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350" spc="-80" b="1">
                <a:solidFill>
                  <a:srgbClr val="FFFFFF"/>
                </a:solidFill>
                <a:latin typeface="Arial"/>
                <a:cs typeface="Arial"/>
              </a:rPr>
              <a:t>Vellore</a:t>
            </a:r>
            <a:r>
              <a:rPr dirty="0" sz="23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60" b="1">
                <a:solidFill>
                  <a:srgbClr val="FFFFFF"/>
                </a:solidFill>
                <a:latin typeface="Arial"/>
                <a:cs typeface="Arial"/>
              </a:rPr>
              <a:t>District</a:t>
            </a:r>
            <a:r>
              <a:rPr dirty="0" sz="23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95" b="1">
                <a:solidFill>
                  <a:srgbClr val="FFFFFF"/>
                </a:solidFill>
                <a:latin typeface="Arial"/>
                <a:cs typeface="Arial"/>
              </a:rPr>
              <a:t>VPD</a:t>
            </a:r>
            <a:r>
              <a:rPr dirty="0" sz="235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75" b="1">
                <a:solidFill>
                  <a:srgbClr val="FFFFFF"/>
                </a:solidFill>
                <a:latin typeface="Arial"/>
                <a:cs typeface="Arial"/>
              </a:rPr>
              <a:t>Surveillance</a:t>
            </a:r>
            <a:r>
              <a:rPr dirty="0" sz="235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0" b="1">
                <a:solidFill>
                  <a:srgbClr val="FFFFFF"/>
                </a:solidFill>
                <a:latin typeface="Arial"/>
                <a:cs typeface="Arial"/>
              </a:rPr>
              <a:t>Unit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 spc="-20">
                <a:solidFill>
                  <a:srgbClr val="FEFEFE"/>
                </a:solidFill>
                <a:latin typeface="Microsoft Sans Serif"/>
                <a:cs typeface="Microsoft Sans Serif"/>
              </a:rPr>
              <a:t>Government</a:t>
            </a:r>
            <a:r>
              <a:rPr dirty="0" sz="1700" spc="-9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FEFEFE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11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40">
                <a:solidFill>
                  <a:srgbClr val="FEFEFE"/>
                </a:solidFill>
                <a:latin typeface="Microsoft Sans Serif"/>
                <a:cs typeface="Microsoft Sans Serif"/>
              </a:rPr>
              <a:t>Tamil</a:t>
            </a:r>
            <a:r>
              <a:rPr dirty="0" sz="1700" spc="-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FEFEFE"/>
                </a:solidFill>
                <a:latin typeface="Microsoft Sans Serif"/>
                <a:cs typeface="Microsoft Sans Serif"/>
              </a:rPr>
              <a:t>Nadu</a:t>
            </a:r>
            <a:r>
              <a:rPr dirty="0" sz="1700" spc="-3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650" spc="760">
                <a:solidFill>
                  <a:srgbClr val="FEFEFE"/>
                </a:solidFill>
                <a:latin typeface="Microsoft Sans Serif"/>
                <a:cs typeface="Microsoft Sans Serif"/>
              </a:rPr>
              <a:t>—</a:t>
            </a:r>
            <a:r>
              <a:rPr dirty="0" sz="1650" spc="-15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FEFEFE"/>
                </a:solidFill>
                <a:latin typeface="Microsoft Sans Serif"/>
                <a:cs typeface="Microsoft Sans Serif"/>
              </a:rPr>
              <a:t>Department</a:t>
            </a:r>
            <a:r>
              <a:rPr dirty="0" sz="1700" spc="-8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75">
                <a:solidFill>
                  <a:srgbClr val="FEFEFE"/>
                </a:solidFill>
                <a:latin typeface="Microsoft Sans Serif"/>
                <a:cs typeface="Microsoft Sans Serif"/>
              </a:rPr>
              <a:t>of</a:t>
            </a:r>
            <a:r>
              <a:rPr dirty="0" sz="1700" spc="-10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FEFEFE"/>
                </a:solidFill>
                <a:latin typeface="Microsoft Sans Serif"/>
                <a:cs typeface="Microsoft Sans Serif"/>
              </a:rPr>
              <a:t>Public</a:t>
            </a:r>
            <a:r>
              <a:rPr dirty="0" sz="1700" spc="-7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FEFEFE"/>
                </a:solidFill>
                <a:latin typeface="Microsoft Sans Serif"/>
                <a:cs typeface="Microsoft Sans Serif"/>
              </a:rPr>
              <a:t>Health</a:t>
            </a:r>
            <a:r>
              <a:rPr dirty="0" sz="1700" spc="-3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>
                <a:solidFill>
                  <a:srgbClr val="FEFEFE"/>
                </a:solidFill>
                <a:latin typeface="Microsoft Sans Serif"/>
                <a:cs typeface="Microsoft Sans Serif"/>
              </a:rPr>
              <a:t>and</a:t>
            </a:r>
            <a:r>
              <a:rPr dirty="0" sz="1700" spc="-3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20">
                <a:solidFill>
                  <a:srgbClr val="FEFEFE"/>
                </a:solidFill>
                <a:latin typeface="Microsoft Sans Serif"/>
                <a:cs typeface="Microsoft Sans Serif"/>
              </a:rPr>
              <a:t>Preventive</a:t>
            </a:r>
            <a:r>
              <a:rPr dirty="0" sz="1700" spc="-75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dirty="0" sz="1700" spc="-10">
                <a:solidFill>
                  <a:srgbClr val="FEFEFE"/>
                </a:solidFill>
                <a:latin typeface="Microsoft Sans Serif"/>
                <a:cs typeface="Microsoft Sans Serif"/>
              </a:rPr>
              <a:t>Medicine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194210" y="9263229"/>
            <a:ext cx="194945" cy="2330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350" spc="-65" b="1">
                <a:solidFill>
                  <a:srgbClr val="FEFEFE"/>
                </a:solidFill>
                <a:latin typeface="Arial"/>
                <a:cs typeface="Arial"/>
              </a:rPr>
              <a:t>17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Vellore District Measles Analysis 2026</dc:title>
  <dcterms:created xsi:type="dcterms:W3CDTF">2026-07-25T06:14:58Z</dcterms:created>
  <dcterms:modified xsi:type="dcterms:W3CDTF">2026-07-25T06:14:58Z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2026-07-24T00:00:00Z</vt:filetime>
  </property>
  <property fmtid="{D5CDD505-2E9C-101B-9397-08002B2CF9AE}" pid="4" name="Creator">
    <vt:lpwstr>Mozilla/5.0 (X11; Linux x86_64) AppleWebKit/537.36 (KHTML, like Gecko) HeadlessChrome/140.0.0.0 Safari/537.36</vt:lpwstr>
  </property>
  <property fmtid="{D5CDD505-2E9C-101B-9397-08002B2CF9AE}" pid="5" name="LastSaved">
    <vt:filetime>2026-07-25T00:00:00Z</vt:filetime>
  </property>
  <property fmtid="{D5CDD505-2E9C-101B-9397-08002B2CF9AE}" pid="6" name="Producer">
    <vt:lpwstr>Skia/PDF m140</vt:lpwstr>
  </property>
</Properties>
</file>