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Credits vs Debits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Flow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5A1"/>
              </a:solidFill>
              <a:effectLst/>
            </c:spPr>
          </c:dPt>
          <c:dPt>
            <c:idx val="1"/>
            <c:bubble3D val="0"/>
            <c:spPr>
              <a:solidFill>
                <a:srgbClr val="E8454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Total Credits</c:v>
                </c:pt>
                <c:pt idx="1">
                  <c:v>Total Debits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14451.01</c:v>
                </c:pt>
                <c:pt idx="1">
                  <c:v>14450.42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Credits (INR)</c:v>
                </c:pt>
              </c:strCache>
            </c:strRef>
          </c:tx>
          <c:spPr>
            <a:solidFill>
              <a:srgbClr val="00C5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27-Jun</c:v>
                  </c:pt>
                  <c:pt idx="1">
                    <c:v>28-Jun</c:v>
                  </c:pt>
                  <c:pt idx="2">
                    <c:v>29-Jun</c:v>
                  </c:pt>
                  <c:pt idx="3">
                    <c:v>30-Jun</c:v>
                  </c:pt>
                  <c:pt idx="4">
                    <c:v>01-Jul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2779</c:v>
                </c:pt>
                <c:pt idx="2">
                  <c:v>11621.01</c:v>
                </c:pt>
                <c:pt idx="3">
                  <c:v>4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Debits (INR)</c:v>
                </c:pt>
              </c:strCache>
            </c:strRef>
          </c:tx>
          <c:spPr>
            <a:solidFill>
              <a:srgbClr val="E8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27-Jun</c:v>
                  </c:pt>
                  <c:pt idx="1">
                    <c:v>28-Jun</c:v>
                  </c:pt>
                  <c:pt idx="2">
                    <c:v>29-Jun</c:v>
                  </c:pt>
                  <c:pt idx="3">
                    <c:v>30-Jun</c:v>
                  </c:pt>
                  <c:pt idx="4">
                    <c:v>01-Jul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580.6</c:v>
                </c:pt>
                <c:pt idx="2">
                  <c:v>13815.82</c:v>
                </c:pt>
                <c:pt idx="3">
                  <c:v>0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4545"/>
              </a:solidFill>
              <a:effectLst/>
            </c:spPr>
          </c:dPt>
          <c:dPt>
            <c:idx val="1"/>
            <c:bubble3D val="0"/>
            <c:spPr>
              <a:solidFill>
                <a:srgbClr val="F4A236"/>
              </a:solidFill>
              <a:effectLst/>
            </c:spPr>
          </c:dPt>
          <c:dPt>
            <c:idx val="2"/>
            <c:bubble3D val="0"/>
            <c:spPr>
              <a:solidFill>
                <a:srgbClr val="9B59B6"/>
              </a:solidFill>
              <a:effectLst/>
            </c:spPr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bubble3D val="0"/>
            <c:spPr>
              <a:solidFill>
                <a:srgbClr val="7F8C8D"/>
              </a:solidFill>
              <a:effectLst/>
            </c:spPr>
          </c:dPt>
          <c:dPt>
            <c:idx val="5"/>
            <c:bubble3D val="0"/>
            <c:spPr>
              <a:solidFill>
                <a:srgbClr val="1ABC9C"/>
              </a:solidFill>
              <a:effectLst/>
            </c:spPr>
          </c:dPt>
          <c:dPt>
            <c:idx val="6"/>
            <c:bubble3D val="0"/>
            <c:spPr>
              <a:solidFill>
                <a:srgbClr val="95A5A6"/>
              </a:solidFill>
              <a:effectLst/>
            </c:spPr>
          </c:dPt>
          <c:dPt>
            <c:idx val="7"/>
            <c:bubble3D val="0"/>
            <c:spPr>
              <a:solidFill>
                <a:srgbClr val="E67E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Transfers Out (Personal)</c:v>
                </c:pt>
                <c:pt idx="1">
                  <c:v>Loan / Debt Repayment</c:v>
                </c:pt>
                <c:pt idx="2">
                  <c:v>Entertainment / TASMAC</c:v>
                </c:pt>
                <c:pt idx="3">
                  <c:v>Food &amp; Merchant (UPI)</c:v>
                </c:pt>
                <c:pt idx="4">
                  <c:v>Bank Charges</c:v>
                </c:pt>
                <c:pt idx="5">
                  <c:v>JIO Recharge</c:v>
                </c:pt>
                <c:pt idx="6">
                  <c:v>PoloApp / Misc</c:v>
                </c:pt>
                <c:pt idx="7">
                  <c:v>Peer Transfers (KVBL/PPIW)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7566</c:v>
                </c:pt>
                <c:pt idx="1">
                  <c:v>2000</c:v>
                </c:pt>
                <c:pt idx="2">
                  <c:v>270</c:v>
                </c:pt>
                <c:pt idx="3">
                  <c:v>1648</c:v>
                </c:pt>
                <c:pt idx="4">
                  <c:v>40.6</c:v>
                </c:pt>
                <c:pt idx="5">
                  <c:v>588.82</c:v>
                </c:pt>
                <c:pt idx="6">
                  <c:v>1</c:v>
                </c:pt>
                <c:pt idx="7">
                  <c:v>2366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 (INR)</c:v>
                </c:pt>
              </c:strCache>
            </c:strRef>
          </c:tx>
          <c:spPr>
            <a:solidFill>
              <a:srgbClr val="00C5A1"/>
            </a:solidFill>
            <a:ln w="25400" cap="flat">
              <a:solidFill>
                <a:srgbClr val="00C5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5A1"/>
              </a:solidFill>
              <a:ln w="9525" cap="flat">
                <a:solidFill>
                  <a:srgbClr val="00C5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  <c:pt idx="12">
                    <c:v>T13</c:v>
                  </c:pt>
                  <c:pt idx="13">
                    <c:v>T14</c:v>
                  </c:pt>
                  <c:pt idx="14">
                    <c:v>T15</c:v>
                  </c:pt>
                  <c:pt idx="15">
                    <c:v>T16</c:v>
                  </c:pt>
                  <c:pt idx="16">
                    <c:v>T17</c:v>
                  </c:pt>
                  <c:pt idx="17">
                    <c:v>T18</c:v>
                  </c:pt>
                  <c:pt idx="18">
                    <c:v>T19</c:v>
                  </c:pt>
                  <c:pt idx="19">
                    <c:v>T20</c:v>
                  </c:pt>
                  <c:pt idx="20">
                    <c:v>T21</c:v>
                  </c:pt>
                  <c:pt idx="21">
                    <c:v>T22</c:v>
                  </c:pt>
                  <c:pt idx="22">
                    <c:v>T23</c:v>
                  </c:pt>
                  <c:pt idx="23">
                    <c:v>T24</c:v>
                  </c:pt>
                  <c:pt idx="24">
                    <c:v>T25</c:v>
                  </c:pt>
                  <c:pt idx="25">
                    <c:v>T26</c:v>
                  </c:pt>
                  <c:pt idx="26">
                    <c:v>T27</c:v>
                  </c:pt>
                  <c:pt idx="27">
                    <c:v>T28</c:v>
                  </c:pt>
                  <c:pt idx="28">
                    <c:v>T29</c:v>
                  </c:pt>
                  <c:pt idx="29">
                    <c:v>T30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50</c:v>
                </c:pt>
                <c:pt idx="1">
                  <c:v>0</c:v>
                </c:pt>
                <c:pt idx="2">
                  <c:v>2779</c:v>
                </c:pt>
                <c:pt idx="3">
                  <c:v>2738.4</c:v>
                </c:pt>
                <c:pt idx="4">
                  <c:v>2468.4</c:v>
                </c:pt>
                <c:pt idx="5">
                  <c:v>2278.4</c:v>
                </c:pt>
                <c:pt idx="6">
                  <c:v>2208.4</c:v>
                </c:pt>
                <c:pt idx="7">
                  <c:v>2048.4</c:v>
                </c:pt>
                <c:pt idx="8">
                  <c:v>2034.4</c:v>
                </c:pt>
                <c:pt idx="9">
                  <c:v>1534.4</c:v>
                </c:pt>
                <c:pt idx="10">
                  <c:v>3387.4</c:v>
                </c:pt>
                <c:pt idx="11">
                  <c:v>5387.4</c:v>
                </c:pt>
                <c:pt idx="12">
                  <c:v>387.4</c:v>
                </c:pt>
                <c:pt idx="13">
                  <c:v>388.4</c:v>
                </c:pt>
                <c:pt idx="14">
                  <c:v>308.4</c:v>
                </c:pt>
                <c:pt idx="15">
                  <c:v>300.4</c:v>
                </c:pt>
                <c:pt idx="16">
                  <c:v>302.4</c:v>
                </c:pt>
                <c:pt idx="17">
                  <c:v>301.4</c:v>
                </c:pt>
                <c:pt idx="18">
                  <c:v>2113.4</c:v>
                </c:pt>
                <c:pt idx="19">
                  <c:v>2113.41</c:v>
                </c:pt>
                <c:pt idx="20">
                  <c:v>113.41</c:v>
                </c:pt>
                <c:pt idx="21">
                  <c:v>5113.41</c:v>
                </c:pt>
                <c:pt idx="22">
                  <c:v>5105.41</c:v>
                </c:pt>
                <c:pt idx="23">
                  <c:v>4605.41</c:v>
                </c:pt>
                <c:pt idx="24">
                  <c:v>5.41</c:v>
                </c:pt>
                <c:pt idx="25">
                  <c:v>955.41</c:v>
                </c:pt>
                <c:pt idx="26">
                  <c:v>366.59</c:v>
                </c:pt>
                <c:pt idx="27">
                  <c:v>0.59</c:v>
                </c:pt>
                <c:pt idx="28">
                  <c:v>0.59</c:v>
                </c:pt>
                <c:pt idx="29">
                  <c:v>4.59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Transactions Per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Count</c:v>
                </c:pt>
              </c:strCache>
            </c:strRef>
          </c:tx>
          <c:spPr>
            <a:solidFill>
              <a:srgbClr val="00C5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27-Jun</c:v>
                  </c:pt>
                  <c:pt idx="1">
                    <c:v>28-Jun</c:v>
                  </c:pt>
                  <c:pt idx="2">
                    <c:v>29-Jun</c:v>
                  </c:pt>
                  <c:pt idx="3">
                    <c:v>30-Jun</c:v>
                  </c:pt>
                  <c:pt idx="4">
                    <c:v>01-Jul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7</c:v>
                </c:pt>
                <c:pt idx="2">
                  <c:v>19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showing account holder, KPIs and period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summary with key details and a donut chart comparing total credits vs debits.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Clustered bar chart of daily credits vs debits.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 chart and table showing spending categories derived from transaction 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table of all credit sources with amounts and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chart showing running balance after each transaction, revealing volatility.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analyst observations and risk flags derived from transaction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 frequency by day showing 29 Jun as peak activity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transfer network showing all counterparties with net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actionable recommendations for the account holder based on transaction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transaction log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5A1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463040"/>
            <a:ext cx="5029200" cy="36576"/>
          </a:xfrm>
          <a:prstGeom prst="rect">
            <a:avLst/>
          </a:prstGeom>
          <a:solidFill>
            <a:srgbClr val="F4A23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Report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Bank · Logeshwaran Velmurugan · Account 7543837531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011680" cy="1280160"/>
          </a:xfrm>
          <a:prstGeom prst="rect">
            <a:avLst/>
          </a:prstGeom>
          <a:solidFill>
            <a:srgbClr val="142038"/>
          </a:solidFill>
          <a:ln w="19050">
            <a:solidFill>
              <a:srgbClr val="00C5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84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₹14,451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587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62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+INR received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011680"/>
            <a:ext cx="2011680" cy="1280160"/>
          </a:xfrm>
          <a:prstGeom prst="rect">
            <a:avLst/>
          </a:prstGeom>
          <a:solidFill>
            <a:srgbClr val="142038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084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₹14,450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587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862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-INR spent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2011680"/>
            <a:ext cx="2011680" cy="1280160"/>
          </a:xfrm>
          <a:prstGeom prst="rect">
            <a:avLst/>
          </a:prstGeom>
          <a:solidFill>
            <a:srgbClr val="142038"/>
          </a:solidFill>
          <a:ln w="19050">
            <a:solidFill>
              <a:srgbClr val="F4A2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84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₹4.59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2587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862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95160" y="2011680"/>
            <a:ext cx="2011680" cy="1280160"/>
          </a:xfrm>
          <a:prstGeom prst="rect">
            <a:avLst/>
          </a:prstGeom>
          <a:solidFill>
            <a:srgbClr val="142038"/>
          </a:solidFill>
          <a:ln w="19050">
            <a:solidFill>
              <a:srgbClr val="889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084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2587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862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period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27 Jun – 01 Jul 2026  |  Branch: SIDDHAPUDUR  |  IFSC: IDIB000R048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5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 was ₹0.00 — all activity occurred within the statement window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4754880" cy="393192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Logeshwaran Velmurugan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7543837531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SIDDHAPUDUR — IDIB000R048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 Thiyagikumaran Street, Peelamedu, Coimbatore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Credits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INR 14,451.01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INR 14,450.42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4.59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394960" y="86868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394960" y="4160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 utilization — near-zero net balance after all activity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3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CASH FLOW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Debits by Date  |  27 Jun – 01 Jul 2026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14400"/>
          <a:ext cx="8321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CATEGORY BREAKDOWN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went — categorized from transaction descriptions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1440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14400"/>
          <a:ext cx="4114800" cy="39319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 Out (Personal)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₹7,566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/ Debt Repayment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 / TASMAC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Merchant (UPI)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Recharge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₹588.82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PoloApp / Misc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Transfers (KVBL/PPIW)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5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CREDIT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inflows to the account across the statement period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393192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  <a:gridCol w="2080260"/>
                <a:gridCol w="20802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Mpokket (NEFT/YESB)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₹2,779.00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Loan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Mpokket (NEFT/YESB)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₹1,853.00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Loan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Speel Finance (IDFB)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₹1,812.00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Loan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SANJAI RAJESHKUMAR (KVBL UPI)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DINESHL (CNRB UPI)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 Revathi Velmurugan (UPI)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A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 Revathi Velmurugan (UPI)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₹950.00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A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Decfin Tech Pvt Ltd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India Digital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Validation (IMPS)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Interest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3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 after each transaction — high volatility observed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14400"/>
          <a:ext cx="8321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&amp; RISK FLAGS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insights derived from transaction pattern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1188720"/>
          </a:xfrm>
          <a:prstGeom prst="rect">
            <a:avLst/>
          </a:prstGeom>
          <a:solidFill>
            <a:srgbClr val="142038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VELOCITY ACCOUNT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14,450+ spent across just 5 days — avg spend of ~₹2,890/day despite modest inflows.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4069080" cy="1188720"/>
          </a:xfrm>
          <a:prstGeom prst="rect">
            <a:avLst/>
          </a:prstGeom>
          <a:solidFill>
            <a:srgbClr val="142038"/>
          </a:solidFill>
          <a:ln w="19050">
            <a:solidFill>
              <a:srgbClr val="F4A2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FINTECH LOAN DEPENDENCY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Mpokket &amp; Speel Finance contributed ₹6,444 (44.6% of credits) — reliance on short-term lending services.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611880"/>
            <a:ext cx="4069080" cy="1188720"/>
          </a:xfrm>
          <a:prstGeom prst="rect">
            <a:avLst/>
          </a:prstGeom>
          <a:solidFill>
            <a:srgbClr val="142038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ENDING 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5935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₹14,451 in credits, account ends at ₹4.59 — indicating fund pass-through or debt servicing behavior.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069080" cy="1188720"/>
          </a:xfrm>
          <a:prstGeom prst="rect">
            <a:avLst/>
          </a:prstGeom>
          <a:solidFill>
            <a:srgbClr val="142038"/>
          </a:solidFill>
          <a:ln w="19050">
            <a:solidFill>
              <a:srgbClr val="F4A2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33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TASMAC (ALCOHOL) SPENDING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3075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₹270 at TASMAC Shop No 1587 via Paytm on 28 Jun — discretionary spend flagged for lifestyle pattern.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4069080" cy="1188720"/>
          </a:xfrm>
          <a:prstGeom prst="rect">
            <a:avLst/>
          </a:prstGeom>
          <a:solidFill>
            <a:srgbClr val="142038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359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INTEREST EARNED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6334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₹4.00 credit interest on 30 Jun — account is interest-bearing, reflecting active savings account usage.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069080" cy="1188720"/>
          </a:xfrm>
          <a:prstGeom prst="rect">
            <a:avLst/>
          </a:prstGeom>
          <a:solidFill>
            <a:srgbClr val="142038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685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SINGLE-DAY DEBIT (29 JUN)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95935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₹13,815.82 debited on 29 Jun alone — includes ₹5,000 + ₹2,000 transfers, ₹4,600 family transfer, and loan payments.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5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FREQUENCY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count of transactions per day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914400"/>
            <a:ext cx="3017520" cy="749808"/>
          </a:xfrm>
          <a:prstGeom prst="rect">
            <a:avLst/>
          </a:prstGeom>
          <a:solidFill>
            <a:srgbClr val="1420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960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15000" y="129844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0" y="146304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transactions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1783080"/>
            <a:ext cx="3017520" cy="749808"/>
          </a:xfrm>
          <a:prstGeom prst="rect">
            <a:avLst/>
          </a:prstGeom>
          <a:solidFill>
            <a:srgbClr val="1420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828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15000" y="2167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Txns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33172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days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651760"/>
            <a:ext cx="3017520" cy="749808"/>
          </a:xfrm>
          <a:prstGeom prst="rect">
            <a:avLst/>
          </a:prstGeom>
          <a:solidFill>
            <a:srgbClr val="1420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15000" y="303580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Day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15000" y="320040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transactions/day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23560" y="3520440"/>
            <a:ext cx="3017520" cy="749808"/>
          </a:xfrm>
          <a:prstGeom prst="rect">
            <a:avLst/>
          </a:prstGeom>
          <a:solidFill>
            <a:srgbClr val="1420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15000" y="39044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Channel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15000" y="406908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UPI txns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11480" y="4297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 was by far the most active day — 63% of all transactions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TRANSFER NETWORK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and entities that transferred funds to/from this account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393192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/ 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 Revathi Velmurugan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(Mother?)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-₹4,600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Sanjai Rajeshkumar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(UPI/PhonePe)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Dineshl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(Canara Bank)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Surya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(Union Bank)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Logeshwaran Velmurugan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(PPIW)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-₹866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₹-866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Sivakumar Manickam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Merchant/Peer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Manumon A 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(Paytm)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3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for account holder and advisory review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6908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"/>
            <a:ext cx="457200" cy="118872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33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Fintech Loan Reliance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 of inflows came from Mpokket &amp; Speel Finance. These are high-interest short-term lenders. Build an emergency fund to reduce dependency.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406908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F4A2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86000"/>
            <a:ext cx="457200" cy="1188720"/>
          </a:xfrm>
          <a:prstGeom prst="rect">
            <a:avLst/>
          </a:prstGeom>
          <a:solidFill>
            <a:srgbClr val="F4A23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51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Daily Spend Velocity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debit of ₹2,890 is unsustainable vs income. Set a daily UPI spend limit and track via budget apps.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406908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5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11880"/>
            <a:ext cx="457200" cy="1188720"/>
          </a:xfrm>
          <a:prstGeom prst="rect">
            <a:avLst/>
          </a:prstGeom>
          <a:solidFill>
            <a:srgbClr val="00C5A1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977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Buffer Balance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9776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reached ₹0.00 multiple times. Maintain a minimum balance of ₹1,000–₹2,000 to avoid UNCOLL CHRG and service disruptions.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06908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60120"/>
            <a:ext cx="457200" cy="1188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033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Recurring Transfers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132588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transfers to Surya M (₹5,000) and Sanjai Rajeshkumar (₹4,000) need documentation — are these verified, legitimate obligations?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286000"/>
            <a:ext cx="406908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286000"/>
            <a:ext cx="457200" cy="1188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651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Income Sources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6517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credits are dominated by loans and peer transfers. Explore salary credit, freelance, or SIP returns for more stable inflows.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406908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8899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611880"/>
            <a:ext cx="457200" cy="11887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977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3685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Bank Charges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39776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UNCOLL CHRG of ₹40.60 observed. Review the bank's minimum balance and transaction fee policy to avoid recurring penalties.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5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TRANSACTION 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transactions — Statement Period 27 Jun – 01 Jul 2026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8321040" cy="411480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4A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 Revathi Velmurugan (UPI)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Manumon A V (Paytm/UPI)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Mpokket NEFT/IDFB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2779.00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2779.00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UNCOLL CHRG Bank Fee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2738.40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TASMAC Shop 1587 (Paytm)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2468.40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Sivakumar Manickam (x3 Paytm)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Manoranji Tham N (GPay)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2034.40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Getyoukris@okicici (BARB)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1534.40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Mpokket NEFT/YESB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1853.00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3387.40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Sanjai Rajeshkumar (PhonePe)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5387.40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Surya M (Union Bank 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Accountvalid IMPS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Manumon A V (Paytm)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Geetha S (Paytm)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India Digital (Axis)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PoloApp (Airtel 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Speel Finance (IDFB 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1812.00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2113.40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Decfin Tech Pvt Ltd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2113.41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Sanjai Rajeshkumar (KVBL)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Dineshl (Canara/OkiCici)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5113.41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Karpagam (Paytm)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5105.41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— PPIW UPI Transfer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4605.41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 Revathi Velmurugan (UPI)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 Revathi Velmurugan (UPI)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955.41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Recharge (Kotak UPI)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588.82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— PPIW UPI Transfer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Ganesan (Paytm)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8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Interest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C5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2026-07-25T06:19:32Z</dcterms:created>
  <dcterms:modified xsi:type="dcterms:W3CDTF">2026-07-25T06:19:32Z</dcterms:modified>
</cp:coreProperties>
</file>